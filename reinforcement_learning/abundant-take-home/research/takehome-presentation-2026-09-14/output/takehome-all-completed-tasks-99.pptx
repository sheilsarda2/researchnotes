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4a66ad57e6645fa" /><Relationship Type="http://schemas.openxmlformats.org/officeDocument/2006/relationships/extended-properties" Target="/docProps/app.xml" Id="R90bc5686e7074188" /><Relationship Type="http://schemas.openxmlformats.org/officeDocument/2006/relationships/officeDocument" Target="/ppt/presentation.xml" Id="R08fb6237d2e64584" /></Relationships>
</file>

<file path=ppt/presentation.xml><?xml version="1.0" encoding="utf-8"?>
<p:presentation xmlns:p="http://schemas.openxmlformats.org/presentationml/2006/main">
  <p:sldMasterIdLst>
    <p:sldMasterId xmlns:r="http://schemas.openxmlformats.org/officeDocument/2006/relationships" id="2147483648" r:id="R223d601fb2e74748"/>
  </p:sldMasterIdLst>
  <p:notesMasterIdLst>
    <p:notesMasterId xmlns:r="http://schemas.openxmlformats.org/officeDocument/2006/relationships" r:id="R042dcf6332c949db"/>
  </p:notesMasterIdLst>
  <p:sldIdLst>
    <p:sldId xmlns:r="http://schemas.openxmlformats.org/officeDocument/2006/relationships" id="256" r:id="Rd8e42653044e4327"/>
    <p:sldId xmlns:r="http://schemas.openxmlformats.org/officeDocument/2006/relationships" id="257" r:id="R4be37994d6984f28"/>
    <p:sldId xmlns:r="http://schemas.openxmlformats.org/officeDocument/2006/relationships" id="258" r:id="R4599b7908d6c45b9"/>
    <p:sldId xmlns:r="http://schemas.openxmlformats.org/officeDocument/2006/relationships" id="259" r:id="Reb4a6abb1ce241bf"/>
    <p:sldId xmlns:r="http://schemas.openxmlformats.org/officeDocument/2006/relationships" id="260" r:id="Red0e6a70cbcf4a8d"/>
    <p:sldId xmlns:r="http://schemas.openxmlformats.org/officeDocument/2006/relationships" id="261" r:id="R88c725b1d4134987"/>
    <p:sldId xmlns:r="http://schemas.openxmlformats.org/officeDocument/2006/relationships" id="262" r:id="Rca7a8af424eb418d"/>
    <p:sldId xmlns:r="http://schemas.openxmlformats.org/officeDocument/2006/relationships" id="263" r:id="R8001dcdca12d4a8c"/>
    <p:sldId xmlns:r="http://schemas.openxmlformats.org/officeDocument/2006/relationships" id="264" r:id="R2a4ab0c90609431d"/>
    <p:sldId xmlns:r="http://schemas.openxmlformats.org/officeDocument/2006/relationships" id="265" r:id="R6f287e8bf74a4843"/>
    <p:sldId xmlns:r="http://schemas.openxmlformats.org/officeDocument/2006/relationships" id="266" r:id="Re79b48fe7a1b4fc2"/>
    <p:sldId xmlns:r="http://schemas.openxmlformats.org/officeDocument/2006/relationships" id="267" r:id="R99b12b2134f44f64"/>
    <p:sldId xmlns:r="http://schemas.openxmlformats.org/officeDocument/2006/relationships" id="268" r:id="Rbf9e8dbcaa9f4577"/>
    <p:sldId xmlns:r="http://schemas.openxmlformats.org/officeDocument/2006/relationships" id="269" r:id="Reddeecc267ba4883"/>
    <p:sldId xmlns:r="http://schemas.openxmlformats.org/officeDocument/2006/relationships" id="270" r:id="Re69c910eb2914251"/>
    <p:sldId xmlns:r="http://schemas.openxmlformats.org/officeDocument/2006/relationships" id="271" r:id="R2f00758324ec40f7"/>
    <p:sldId xmlns:r="http://schemas.openxmlformats.org/officeDocument/2006/relationships" id="272" r:id="Rd04c78e520024cda"/>
    <p:sldId xmlns:r="http://schemas.openxmlformats.org/officeDocument/2006/relationships" id="273" r:id="R64c9dae0575f4df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acef53803b49d5" /><Relationship Type="http://schemas.openxmlformats.org/officeDocument/2006/relationships/slideMaster" Target="/ppt/slideMasters/slideMaster1.xml" Id="R223d601fb2e74748" /><Relationship Type="http://schemas.openxmlformats.org/officeDocument/2006/relationships/notesMaster" Target="/ppt/notesMasters/notesMaster1.xml" Id="R042dcf6332c949db" /><Relationship Type="http://schemas.openxmlformats.org/officeDocument/2006/relationships/presProps" Target="/ppt/presProps.xml" Id="R7cbc293384434b92" /><Relationship Type="http://schemas.openxmlformats.org/officeDocument/2006/relationships/tableStyles" Target="/ppt/tableStyles.xml" Id="Rbcbf37b0ed44427a" /><Relationship Type="http://schemas.openxmlformats.org/officeDocument/2006/relationships/slide" Target="/ppt/slides/slide1.xml" Id="Rd8e42653044e4327" /><Relationship Type="http://schemas.openxmlformats.org/officeDocument/2006/relationships/slide" Target="/ppt/slides/slide2.xml" Id="R4be37994d6984f28" /><Relationship Type="http://schemas.openxmlformats.org/officeDocument/2006/relationships/slide" Target="/ppt/slides/slide3.xml" Id="R4599b7908d6c45b9" /><Relationship Type="http://schemas.openxmlformats.org/officeDocument/2006/relationships/slide" Target="/ppt/slides/slide4.xml" Id="Reb4a6abb1ce241bf" /><Relationship Type="http://schemas.openxmlformats.org/officeDocument/2006/relationships/slide" Target="/ppt/slides/slide5.xml" Id="Red0e6a70cbcf4a8d" /><Relationship Type="http://schemas.openxmlformats.org/officeDocument/2006/relationships/slide" Target="/ppt/slides/slide6.xml" Id="R88c725b1d4134987" /><Relationship Type="http://schemas.openxmlformats.org/officeDocument/2006/relationships/slide" Target="/ppt/slides/slide7.xml" Id="Rca7a8af424eb418d" /><Relationship Type="http://schemas.openxmlformats.org/officeDocument/2006/relationships/slide" Target="/ppt/slides/slide8.xml" Id="R8001dcdca12d4a8c" /><Relationship Type="http://schemas.openxmlformats.org/officeDocument/2006/relationships/slide" Target="/ppt/slides/slide9.xml" Id="R2a4ab0c90609431d" /><Relationship Type="http://schemas.openxmlformats.org/officeDocument/2006/relationships/slide" Target="/ppt/slides/slide10.xml" Id="R6f287e8bf74a4843" /><Relationship Type="http://schemas.openxmlformats.org/officeDocument/2006/relationships/slide" Target="/ppt/slides/slide11.xml" Id="Re79b48fe7a1b4fc2" /><Relationship Type="http://schemas.openxmlformats.org/officeDocument/2006/relationships/slide" Target="/ppt/slides/slide12.xml" Id="R99b12b2134f44f64" /><Relationship Type="http://schemas.openxmlformats.org/officeDocument/2006/relationships/slide" Target="/ppt/slides/slide13.xml" Id="Rbf9e8dbcaa9f4577" /><Relationship Type="http://schemas.openxmlformats.org/officeDocument/2006/relationships/slide" Target="/ppt/slides/slide14.xml" Id="Reddeecc267ba4883" /><Relationship Type="http://schemas.openxmlformats.org/officeDocument/2006/relationships/slide" Target="/ppt/slides/slide15.xml" Id="Re69c910eb2914251" /><Relationship Type="http://schemas.openxmlformats.org/officeDocument/2006/relationships/slide" Target="/ppt/slides/slide16.xml" Id="R2f00758324ec40f7" /><Relationship Type="http://schemas.openxmlformats.org/officeDocument/2006/relationships/slide" Target="/ppt/slides/slide17.xml" Id="Rd04c78e520024cda" /><Relationship Type="http://schemas.openxmlformats.org/officeDocument/2006/relationships/slide" Target="/ppt/slides/slide18.xml" Id="R64c9dae0575f4d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045d96997d40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33cc6f7cb94138" /><Relationship Type="http://schemas.openxmlformats.org/officeDocument/2006/relationships/notesMaster" Target="/ppt/notesMasters/notesMaster1.xml" Id="R0cca8ef5f8084b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7c58cc367746f8" /><Relationship Type="http://schemas.openxmlformats.org/officeDocument/2006/relationships/notesMaster" Target="/ppt/notesMasters/notesMaster1.xml" Id="R2cef35f611634f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8e9574e6174ace" /><Relationship Type="http://schemas.openxmlformats.org/officeDocument/2006/relationships/notesMaster" Target="/ppt/notesMasters/notesMaster1.xml" Id="Rbcc27ed9436948c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db494388a342f8" /><Relationship Type="http://schemas.openxmlformats.org/officeDocument/2006/relationships/notesMaster" Target="/ppt/notesMasters/notesMaster1.xml" Id="R2ed32a1a4f0e49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c19d09d0ed402b" /><Relationship Type="http://schemas.openxmlformats.org/officeDocument/2006/relationships/notesMaster" Target="/ppt/notesMasters/notesMaster1.xml" Id="R510933be632f433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f5f7f5d85e48ca" /><Relationship Type="http://schemas.openxmlformats.org/officeDocument/2006/relationships/notesMaster" Target="/ppt/notesMasters/notesMaster1.xml" Id="Rcd44ef20f9da4df7"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2b6af2630c46bd" /><Relationship Type="http://schemas.openxmlformats.org/officeDocument/2006/relationships/notesMaster" Target="/ppt/notesMasters/notesMaster1.xml" Id="R8f6ebe000f8d40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eeadfa8c682d42ce" /><Relationship Type="http://schemas.openxmlformats.org/officeDocument/2006/relationships/notesMaster" Target="/ppt/notesMasters/notesMaster1.xml" Id="Raada02cba26646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53802cf0fa9847ec" /><Relationship Type="http://schemas.openxmlformats.org/officeDocument/2006/relationships/notesMaster" Target="/ppt/notesMasters/notesMaster1.xml" Id="Rcf21939f9608425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9e9e9b6c9e44677" /><Relationship Type="http://schemas.openxmlformats.org/officeDocument/2006/relationships/notesMaster" Target="/ppt/notesMasters/notesMaster1.xml" Id="R874ac1577b7040d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590a6a22bff4785" /><Relationship Type="http://schemas.openxmlformats.org/officeDocument/2006/relationships/notesMaster" Target="/ppt/notesMasters/notesMaster1.xml" Id="Rc71df170611443b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743b97e60e14707" /><Relationship Type="http://schemas.openxmlformats.org/officeDocument/2006/relationships/notesMaster" Target="/ppt/notesMasters/notesMaster1.xml" Id="R4a50dff23b2c482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d1f10889c194d6b" /><Relationship Type="http://schemas.openxmlformats.org/officeDocument/2006/relationships/notesMaster" Target="/ppt/notesMasters/notesMaster1.xml" Id="R1e03701f8d5841b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ccea3393570406b" /><Relationship Type="http://schemas.openxmlformats.org/officeDocument/2006/relationships/notesMaster" Target="/ppt/notesMasters/notesMaster1.xml" Id="Rd363143017f1435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ffb990fae7c4510" /><Relationship Type="http://schemas.openxmlformats.org/officeDocument/2006/relationships/notesMaster" Target="/ppt/notesMasters/notesMaster1.xml" Id="Ra75518b891f2487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2b96bfe082044ce" /><Relationship Type="http://schemas.openxmlformats.org/officeDocument/2006/relationships/notesMaster" Target="/ppt/notesMasters/notesMaster1.xml" Id="Rd55f3c7611774f2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280d0f8276a4bbe" /><Relationship Type="http://schemas.openxmlformats.org/officeDocument/2006/relationships/notesMaster" Target="/ppt/notesMasters/notesMaster1.xml" Id="Rbf2c88073a614dc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6c4c8a745094e37" /><Relationship Type="http://schemas.openxmlformats.org/officeDocument/2006/relationships/notesMaster" Target="/ppt/notesMasters/notesMaster1.xml" Id="R83ac6f9444874d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report covers all 11 tasks with a completed first-result sweep: one counted outcome in each of three models by three effort levels, for nine cells per task. A completed sweep here does not mean 20 repeated trials per cell. Three Rust tasks remain detailed case studies and recommended Harbor samples. The final corrected Zenoh verifier also completed all nine saved-submission regrades: eight passes and one unchanged failure. These regrades add no model calls or counted sweep trials. The 99-cell snapshot includes Diskcache Fable/max uuqa2f6, interrupted after 24 assistant turns by a provider API usage-limit rejection, and Luigi Fable/max 6ooqjT5, a 7200-second timeout affected by repeated gateway failures. Existing policy counts their completed verifier outcomes as failures. These outcomes do not establish performance under healthy service. Raw outcomes and the first-result selection remain unchanged. Completed-response costs omit any unreported charges. See the separate provider-quota and Luigi timeout evidence reviews.</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and task-level evidence: report-support-all-completed-tasks.md and evidence/completed-task-report-scope-001.json. Three detailed task sources: candidates_v2/rs-rerun-chunk-optimizer/instruction.md; research/task-revisions/rs-zenoh-timestamp-instrumentation-v3/instruction.md; research/task-revisions/rs-burn-store-pytorch-reader-v4/instruction.md. The full population contains three C++ tasks, four Python tasks and four Rust tasks. Each has nine counted first-result cells. The three detailed Rust cases cover data representations, streaming or deferred materialization, public interfaces and independent observable behavior.</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Frozen scope: coverage-scope.json (11 tasks × 3 models × 3 efforts). Each number is passes / first counted results, pooled across effort for description only. Outcomes classified as infrastructure do not count. Budgeted timeouts and validated abnormal exits follow the existing counting policy. Repeat trials and superseded revisions are separate. No model ranking or estimated win rate is asserted. The 99-cell snapshot includes Diskcache Fable/max uuqa2f6, interrupted after 24 assistant turns by a provider API usage-limit rejection, and Luigi Fable/max 6ooqjT5, a 7200-second timeout affected by repeated gateway failures. Existing policy counts their completed verifier outcomes as failures. These outcomes do not establish performance under healthy service. Raw outcomes and the first-result selection remain unchanged. Completed-response costs omit any unreported charges. See the separate provider-quota and Luigi timeout evidence reviews.</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cell is the exact first counted result from the frozen99 snapshot, displayed as pass/fail and assistant turns. The population is 11 tasks × three models × three effort levels. Model aliases are fable-5-1, opus-5 and sonnet-5. Medium/high/max are configured effort levels. Counted failures include policy-counted agent timeouts, a verifier timeout, and validated abnormal exits. They are not all ordinary assertion failures. Diskcache Sonnet/high is a verifier timeout; Diskcache Sonnet/max, Luigi Sonnet/max and Luigi Fable/max are agent timeouts. Historical Zenoh v3 is the agent-run cohort. Corrected saved-submission regrades add no new model trials. The 99-cell snapshot includes Diskcache Fable/max uuqa2f6, interrupted after 24 assistant turns by a provider API usage-limit rejection, and Luigi Fable/max 6ooqjT5, a 7200-second timeout affected by repeated gateway failures. Existing policy counts their completed verifier outcomes as failures. These outcomes do not establish performance under healthy service. Raw outcomes and the first-result selection remain unchanged. Completed-response costs omit any unreported charges. See the separate provider-quota and Luigi timeout evidence reviews.</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cell is the exact first counted result from the frozen99 snapshot, displayed as pass/fail and assistant turns. The population is 11 tasks × three models × three effort levels. Model aliases are fable-5-1, opus-5 and sonnet-5. Medium/high/max are configured effort levels. Counted failures include policy-counted agent timeouts, a verifier timeout, and validated abnormal exits. They are not all ordinary assertion failures. Diskcache Sonnet/high is a verifier timeout; Diskcache Sonnet/max, Luigi Sonnet/max and Luigi Fable/max are agent timeouts. Historical Zenoh v3 is the agent-run cohort. Corrected saved-submission regrades add no new model trials. The 99-cell snapshot includes Diskcache Fable/max uuqa2f6, interrupted after 24 assistant turns by a provider API usage-limit rejection, and Luigi Fable/max 6ooqjT5, a 7200-second timeout affected by repeated gateway failures. Existing policy counts their completed verifier outcomes as failures. These outcomes do not establish performance under healthy service. Raw outcomes and the first-result selection remain unchanged. Completed-response costs omit any unreported charges. See the separate provider-quota and Luigi timeout evidence reviews.</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language-group overview covers every task in the frozen99 population, not only the three recommended sample tasks. Each first-result cohort has exactly nine model/effort cells. Median turns are among successful first results. Interpretations distinguish observed test failures from independently established causes. Sources: report-support-all-completed-tasks.md, evidence/completed-task-report-scope-001.json, evidence/completed-task-profiles-001.json and the task instructions and raw artifacts cited there. cpp-foxglove-sdk-parameter-handler: Expose the existing Rust responder-based parameter API through the C FFI and C++ SDK so WebSocket and remote-access handlers can finish get/set requests later from another thread. Preserve ownership, drop/error behavior, generated-header/build integration and legacy callback behavior. All nine first cells pass, and every success exceeds 75 assistant turns (median 163, range 79–364). This supports sustained implementation depth across the tested settings; the first grid provides no observed failure headroom. The gateway path is compile/API checked rather than exercised end to end, as the instructions disclose. No failed first-result cell. The Opus/medium result comes from the explicitly adopted Python-startup repair job, not an omitted cell or an extra first result.</a:t>
            </a:r>
          </a:p>
          <a:p xmlns:a="http://schemas.openxmlformats.org/drawingml/2006/main">
            <a:r>
              <a:t/>
            </a:r>
          </a:p>
          <a:p xmlns:a="http://schemas.openxmlformats.org/drawingml/2006/main">
            <a:r>
              <a:t>cpp-rosbag2-mixed-serialization-playback: Read and play bags containing mixed serialization formats, tag messages with delivered formats, identify undeliverable topics, resolve requested/excluded topics before playback, and preserve raw rewrite behavior with equivalent SQLite3 and MCAP results. Seven of nine first cells pass; all nine attempts exceed 75 turns and successful depth is median 154 (112–381). Opus/medium XonizBd fails four CLI warning checks despite passing differential checks: explicitly excluded or unselected incompatible topics are still mentioned. Sonnet/high 8tAPNNm fails only the writer-side converted-format assertion; the existing contract review calls that extension ambiguous. Do not present both zeros as equally established behavioral headroom. C6 explicitly forbids mentioning explicitly excluded topics; its requested/implicit selection distinction supports the warning failures. The Sonnet/high writer-boundary assertion is not an unambiguous reader-contract violation. A later Fable/max repeat uqBGJ4B aborts in a pre-existing action playback fixture; that repeat is outside this first grid and its source/teardown cause is unresolved.</a:t>
            </a:r>
          </a:p>
          <a:p xmlns:a="http://schemas.openxmlformats.org/drawingml/2006/main">
            <a:r>
              <a:t/>
            </a:r>
          </a:p>
          <a:p xmlns:a="http://schemas.openxmlformats.org/drawingml/2006/main">
            <a:r>
              <a:t>cpp-zenoh-cpp-connectivity-api: Wrap transport/link information and connectivity events in the header-only C++ API over zenoh-c and zenoh-pico, including ownership, callback/background listeners, history and undeclare behavior, and repair the specified optional interop helpers. Match Python connectivity reports and preserve both backend regression suites. Eight of nine first cells pass; successful depth is median 106 (62–331), with 7/8 successes above 75 turns. The only first failure is Opus/max 4gQVPQy: an existing zenoh-pico advanced pub/sub test segfaults after 13.36s, leaving31/32 CTests passing. Both new connectivity tests and the Python parity group pass. This establishes observed depth but not a diagnosed connectivity implementation defect. Existing upstream regressions are explicitly required, so the failing suite is in scope. A segfault without an assertion/stack or replay does not distinguish a submitted-source regression from a pre-existing or timing-dependent problem. No hidden-test/spec mismatch is established by this inspection.</a:t>
            </a:r>
          </a:p>
          <a:p xmlns:a="http://schemas.openxmlformats.org/drawingml/2006/main">
            <a:r>
              <a:t/>
            </a:r>
          </a:p>
          <a:p xmlns:a="http://schemas.openxmlformats.org/drawingml/2006/main">
            <a:r>
              <a:t>The 99-cell snapshot includes Diskcache Fable/max uuqa2f6, interrupted after 24 assistant turns by a provider API usage-limit rejection, and Luigi Fable/max 6ooqjT5, a 7200-second timeout affected by repeated gateway failures. Existing policy counts their completed verifier outcomes as failures. These outcomes do not establish performance under healthy service. Raw outcomes and the first-result selection remain unchanged. Completed-response costs omit any unreported charges. See the separate provider-quota and Luigi timeout evidence reviews.</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language-group overview covers every task in the frozen99 population, not only the three recommended sample tasks. Each first-result cohort has exactly nine model/effort cells. Median turns are among successful first results. Interpretations distinguish observed test failures from independently established causes. Sources: report-support-all-completed-tasks.md, evidence/completed-task-report-scope-001.json, evidence/completed-task-profiles-001.json and the task instructions and raw artifacts cited there. diskcache-online-reshard-v2: Add a managed FanoutCache that persists topology and incrementally copies/reconciles data to a new shard count while reads and writes continue. Use epoch fencing, nonblocking process leases, atomic topology publication, crash recovery and bounded migration work while preserving TTLs, serialization, native transactions and named stores. Two of nine first cells pass; success median 93.5 (70–117), with only 1/2 successes above 75 turns. The grid contains seven scored outcomes, one agent timeout and one verifier timeout. Its Fable/max uuqa2f6 zero follows a provider usage-limit rejection after 24 accepted turns, not a clean completed model attempt. Some ordinary failures also show stale values resurrecting after clear/cull/migration and configuration/adoption property disagreements. Mutation reconciliation and non-resurrection are explicit requirements. The several size_limit/property assertions have only been observed here, not independently adjudicated against native FanoutCache property semantics; do not count each as proven contract-grounded headroom. The quota-interrupted and timeout cells remain policy-counted with their confounds visible.</a:t>
            </a:r>
          </a:p>
          <a:p xmlns:a="http://schemas.openxmlformats.org/drawingml/2006/main">
            <a:r>
              <a:t/>
            </a:r>
          </a:p>
          <a:p xmlns:a="http://schemas.openxmlformats.org/drawingml/2006/main">
            <a:r>
              <a:t>luigi-generation-target: Add LocalGenerationTarget for atomically publishing a complete collection of local output files. Support compare-and-swap writers, integrity manifests, stable pinned snapshots, interprocess locks, pruning and crash-safe CURRENT publication while working with ordinary Luigi task/worker scheduling. Four of nine first cells pass; successful depth is median 52 (41–110), with 1/4 successes above 75 turns. Three scored zeros concern observed retention, absent-read side effects, unclosed writer streams and symlink handling; two other cells time out. Fable/max 6ooqjT5 timed out after 20 accepted turns amid repeated gateway failures, so the policy zero is service/budget confounded. No-store creation on absent reads, closing owned streams after failure and rejecting symlink corruption are explicit. Not every lifecycle exception-type or retention assertion has received an independent contract/source audit; do not label all remaining checks proven defects. Preserve the first timeout separately from excluded transport attempts and the standalone streaming canary.</a:t>
            </a:r>
          </a:p>
          <a:p xmlns:a="http://schemas.openxmlformats.org/drawingml/2006/main">
            <a:r>
              <a:t/>
            </a:r>
          </a:p>
          <a:p xmlns:a="http://schemas.openxmlformats.org/drawingml/2006/main">
            <a:r>
              <a:t>py-rosbags-rosbag2-storage-writers: Implement the missing storage writer backends beneath the existing rosbags Writer. Produce genuine rosbag2 SQLite schema-v4 and indexed/chunked MCAP files, preserving metadata, opaque payloads, timestamps, compression modes and round trips through independent readers and recorded ROS2 bags. All nine first cells pass. Successful depth is median 44 (20–173); only 3/9 exceed 75 turns. The task demonstrates broad interoperability work, but this first grid supplies neither observed failures nor consistent long-solution depth at the tested settings. No failed first-result cell. Passing groups cover upstream tests and independent SQLite/MCAP checks as specified; this is not a claim that every possible file or compression corner case is proved.</a:t>
            </a:r>
          </a:p>
          <a:p xmlns:a="http://schemas.openxmlformats.org/drawingml/2006/main">
            <a:r>
              <a:t/>
            </a:r>
          </a:p>
          <a:p xmlns:a="http://schemas.openxmlformats.org/drawingml/2006/main">
            <a:r>
              <a:t>py-zarr-python-cast-value-scale-offset: Implement composable Zarr v3 array-to-array numeric conversion and affine scale/offset codecs, including exact JSON metadata, scalar maps, rounding and range policies, validation and dtype preservation. Match an independent Rust cast-value implementation byte for byte and exact integer scale/offset arithmetic. Six of nine first cells pass; success median 100.5 (88–335), and all6 successes exceed 75 turns. All three failed first runs still pass 3790 cast-value comparisons,12 foreign-metadata checks and505 upstream tests. Fable/medium and Sonnet/medium fail specified validation/error-contract checks (and Sonnet/medium JSON form); Sonnet/high q7MZcL8 additionally fails integer scale/offset paths with int.astype errors and passes only 32/100 exact-reference cases. CV-4 explicitly fixes normalized JSON form; CV-6 and SO-4 require ValueError messages for unsupported/unrepresentable inputs; SO-5 requires working exact integer arithmetic and dtype preservation. These observed failure classes map to the written contract, but no exhaustive submitted-source/root-cause audit or replay was performed. Do not treat all numeric conversion as broken when its differential matrix passes.</a:t>
            </a:r>
          </a:p>
          <a:p xmlns:a="http://schemas.openxmlformats.org/drawingml/2006/main">
            <a:r>
              <a:t/>
            </a:r>
          </a:p>
          <a:p xmlns:a="http://schemas.openxmlformats.org/drawingml/2006/main">
            <a:r>
              <a:t>The 99-cell snapshot includes Diskcache Fable/max uuqa2f6, interrupted after 24 assistant turns by a provider API usage-limit rejection, and Luigi Fable/max 6ooqjT5, a 7200-second timeout affected by repeated gateway failures. Existing policy counts their completed verifier outcomes as failures. These outcomes do not establish performance under healthy service. Raw outcomes and the first-result selection remain unchanged. Completed-response costs omit any unreported charges. See the separate provider-quota and Luigi timeout evidence reviews.</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language-group overview covers every task in the frozen99 population, not only the three recommended sample tasks. Each first-result cohort has exactly nine model/effort cells. Median turns are among successful first results. Interpretations distinguish observed test failures from independently established causes. Sources: report-support-all-completed-tasks.md, evidence/completed-task-report-scope-001.json, evidence/completed-task-profiles-001.json and the task instructions and raw artifacts cited there. rs-burn-onnx-rnn-runtime-weights: Make generated GRU/LSTM/RNN models consume runtime W/R/B inputs rather than uninitialized module parameters, repair batch-first layout axes and direction/output-subset handling, reject unsupported or mixed weight configurations, and preserve initializer and upstream regression behavior. Eight of nine first cells pass; success median 225 (134–446), and all8 successes exceed 75 turns. This is the strongest already-built depth alternative by this descriptive median. The sole first failure, Sonnet/medium FT2MwFs at217 turns, passes runtime/numerical groups but fails nine opset snapshots after adding runtime_weights:false to the rendered IR. These are one observed snapshot regression cluster, not nine independent runtime defects. Preserving the existing onnx-ir integration/snapshot regressions is explicit. The prior review does not dismiss that zero as an invalid hidden test, while distinguishing it from numerical correctness. Greater median depth alone does not establish that this is a stronger final task than the reader task.</a:t>
            </a:r>
          </a:p>
          <a:p xmlns:a="http://schemas.openxmlformats.org/drawingml/2006/main">
            <a:r>
              <a:t/>
            </a:r>
          </a:p>
          <a:p xmlns:a="http://schemas.openxmlformats.org/drawingml/2006/main">
            <a:r>
              <a:t>rs-burn-store-pytorch-reader-v4: Read checkpoints lazily, reject unsafe input and honor source constraints. One functional failure and one source-constraint zero. Sonnet max passes.</a:t>
            </a:r>
          </a:p>
          <a:p xmlns:a="http://schemas.openxmlformats.org/drawingml/2006/main">
            <a:r>
              <a:t/>
            </a:r>
          </a:p>
          <a:p xmlns:a="http://schemas.openxmlformats.org/drawingml/2006/main">
            <a:r>
              <a:t>rs-rerun-chunk-optimizer: Stream and repack chunks while preserving cells, memory bounds and layout. One required layout failure. Sonnet max passes after a longer trajectory.</a:t>
            </a:r>
          </a:p>
          <a:p xmlns:a="http://schemas.openxmlformats.org/drawingml/2006/main">
            <a:r>
              <a:t/>
            </a:r>
          </a:p>
          <a:p xmlns:a="http://schemas.openxmlformats.org/drawingml/2006/main">
            <a:r>
              <a:t>rs-zenoh-timestamp-instrumentation-v3: Carry timestamps through public APIs, wire encoding and receive paths. The same public-type failure persists. All eight other saved regrades pass.</a:t>
            </a:r>
          </a:p>
          <a:p xmlns:a="http://schemas.openxmlformats.org/drawingml/2006/main">
            <a:r>
              <a:t/>
            </a:r>
          </a:p>
          <a:p xmlns:a="http://schemas.openxmlformats.org/drawingml/2006/main">
            <a:r>
              <a:t>The 99-cell snapshot includes Diskcache Fable/max uuqa2f6, interrupted after 24 assistant turns by a provider API usage-limit rejection, and Luigi Fable/max 6ooqjT5, a 7200-second timeout affected by repeated gateway failures. Existing policy counts their completed verifier outcomes as failures. These outcomes do not establish performance under healthy service. Raw outcomes and the first-result selection remain unchanged. Completed-response costs omit any unreported charges. See the separate provider-quota and Luigi timeout evidence reviews.</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step is one assistant turn in the saved ATIF trajectory. Tool calls and elapsed time are separate measurements. Median is across successful first counted results for each task. Failures, including the service-interrupted Luigi and Diskcache outcomes, are excluded from this chart. These descriptive turn counts do not establish a causal effect of effort or a human completion-time estimate.</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11 completed tasks remain in the reported population. These three Rust tasks are the detailed case studies and recommended Harbor samples, based on task coherence, reproducibility, observed work and audited contract failures. Raw pass counts do not by themselves establish learning headroom. In these three original first-result cohorts, Fable and Opus pass all 18 settings combined; Sonnet passes five of nine. This supports a pilot focused on Sonnet, not demonstrated headroom for every evaluated model. Zenoh v3 outcomes remain historical. All nine corrected-grader replays are complete, with eight passes and the same explicit public-type failure. These saved-submission regrades are separate and add no model trials. The packaged Zenoh sample uses the final corrected validation revision. Its exact mapping is research/zenoh-coverage-followup-2026-09-14/final-revision-mapping-001.json. All three have successful model completions. Steps on success are median assistant turns among successful first results. Exact controls and failure artifacts are described in evidence/shortlist-cases.json.</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Audited trial EeEppp5: Sonnet/medium, 138 assistant steps, reward 0. The diagram shows actual rows-per-output-chunk [6,2] versus expected [4,4] in chunks_that_do_not_fit_together_emit_alone_in_order (optimizer_contract.rs:410). This is not evidence of data loss. Existing regression suites pass; five feature/contract tests fail. Quote: native assistant turn138 / ATIF step140. Compare Sonnet/max iUZ6GKK (383 steps, reward 1). Full hashes and instruction/test links: evidence/shortlist-cases.json. Separate repeat YSSc6xQ (Sonnet/medium) takes 124 turns and fails nine of 96 tests. It measures Arc&lt;Chunk&gt;, whose attributed size varies with reference count, instead of the specified decoded Chunk. This is consistent with the packing and splitting failures; no replay proves it is the sole cause. Opus/max YSPYcnB passes in 132 turns with 148 tool calls. See evidence/repeat-case-audit-20260914T1018.json and evidence/repeat-case-root-review-20260914T1033.json. These repeats do not replace the first-result cohort.</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Audited Sonnet/medium YtCswNv uses ZenohIdProto in TimestampContext.zid; instruction explicitly requires ZenohId. This is distinct from the old hidden-import test mismatch corrected in revision v3. Sonnet/max gSYDMEG passes the historical v3 verifier in 626 steps. The separate revised validation task adds direct malformed/boundary-stack and admin-space Receive tests, plus a reference fix preserving the received timestamp stack in replies. Its confirmed controls are oracle 1 and no-op 0. The completed quality002 review passes all 11 criteria in the officially collected report; this is an automated review judgment, not proof of exhaustive boundary coverage. All eight focused diagnostics are complete: six targeted omissions fail their intended assertions, and both exact saved submissions pass all seven new tests. These checks used the cached build image. All nine saved-source regrades on the normal verifier image are complete: eight pass all 11 verifier groups, and YtCswNv retains reward 0 because of the same explicit public-type mismatch. That failing invocation records a build failure and skips the remaining nine groups. It does not execute all runtime behaviors. The regrades make zero model calls and add zero counted sweep trials. Exact source, tests, normal image, limits, deadline and cleanup checks passed. Controls remain oracle 1 and no-op 0. The final task checksum is 67f1fdca75fd66f4cbdd6e4729a582c9fbbdac428a0299eefc74104dffa59fab. See research/zenoh-coverage-followup-2026-09-14/paired-regrades/run-002/summary.json, final-revision-mapping-001.json (SHA-256 5b6696bec407839159522168904ec22ad393a75058d79522d86a7b4565f45608) and final-revision-mapping-review-001/review.json. The new boundary tests cover Receive/admin-space and malformed protocol cases. They do not establish exhaustive Send/Route cap coverage. See evidence/zenoh-eight-focused-root-review-20260914T0948.json. Original v3 scores remain unchanged. See evidence/zenoh-quality-final-root-review-20260914T0841.json, evidence/zenoh-continuation004-root-review-20260914T0852.json, and research/zenoh-coverage-followup-2026-09-14/reviews-final-002/summary.json. A separate Sonnet/max repeat, 6nTASYR, passes the historical v3 verifier in 621 turns. This is not a corrected-v4 grade. See evidence/repeat-case-audit-20260914T1018.json and evidence/repeat-case-root-review-20260914T1033.json.</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v4. Sonnet/medium vXNtQ5E failed FRAME/TAR/storage-bounds functionality in 42 steps. Sonnet/high BrRKozk completed in 251 steps and passed the functional groups, but retained a prohibited fixture path in baseline-derived inline test code. Raw reward remains 0; this outcome is not a functional failure or evidence of cheating. Sonnet/max X6pyirF passed all eight verifier groups in 323 steps, including 62 matrix cases and 32 rejection cases. Fable/max and Opus/max both pass in 158 steps. See evidence/burn-v4-sonnet-max.json and evidence/shortlist-cases.json. Separate repeat UDNoWje takes 191 turns and passes 217 Rust tests and the 62-case fixture matrix, but an allocation abort on a 125-byte doubling-bomb fixture violates the explicit R12 requirement to return an error. Exact allocation origin was not traced. Sonnet/max kYchPug and Fable/max RBjsods later pass all eight groups in 274 and 171 turns. These repeats remain separate from the first-result cohort. See evidence/repeat-case-audit-20260914T0923.json, evidence/repeat-case-root-review-20260914T0929.json, evidence/repeat-case-audit-20260914T1018.json and evidence/repeat-case-root-review-20260914T1033.json.</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SQLite NUL audit: research/sqlite-nul-validity-audit-2026-09-14/{README.md,results.json,sqlite-default-proof.json}. 30 counted attempts span nine cells in two campaigns; all fail NUL, only three exclusively. NUL is valid under the all-strings contract and SQLite supports embedded NUL: https://www.sqlite.org/nulinstr.html . Huey/SQLite held revisions are excluded from the 99-cell gate. Burn Debug and Zenoh import fixes had separate validated revisions.</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SWE-Marathon paper, June5 2026, abstract: https://arxiv.org/abs/2606.07682v1 . It reports20tasks and fewer than30% solved by the evaluated frontier coding agents; this is a paper-era result, not a current leaderboard or a result for our three model aliases. Short verbatim quote below is from the abstract. These tasks, budgets and metrics differ from our pilot. Our inference: a narrower task family can test whether agents verify the complete feature contract.</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https://arxiv.org/abs/2509.16941v2 (SWE-Bench Pro, abstract) and https://arxiv.org/abs/2503.14499v4 (METR, abstract). SWE-Bench Pro characterizes complex software tasks involving hours to days of human work. METR defines its horizon using measured human time and a success threshold. This pilot has no human time baseline, so assistant-turn counts cannot be converted into that metric. Public upstream provenance and recent commits do not prove that a model has never seen a task or its implementation. The 99-cell snapshot includes Diskcache Fable/max uuqa2f6, interrupted after 24 assistant turns by a provider API usage-limit rejection, and Luigi Fable/max 6ooqjT5, a 7200-second timeout affected by repeated gateway failures. Existing policy counts their completed verifier outcomes as failures. These outcomes do not establish performance under healthy service. Raw outcomes and the first-result selection remain unchanged. Completed-response costs omit any unreported charges. See the separate provider-quota and Luigi timeout evidence reviews.</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scaling design, not a measured production yield or budget. Source candidates from public C++, Rust and Python data, storage, serialization and protocol repositories. Deduplicate related PR stacks and templates before splitting. Hold out repositories or families to test transfer. A 20% acceptance scenario needs 5,000 mined candidates for 1,000 accepted tasks; actual yield must be measured in a staged pilot.</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covers all 11 completed task cohorts. The three recommended Rust samples have exact-package reference/no-op controls and required task checks. The final Zenoh sample uses the corrected validation revision. All nine saved-submission regrades retain their original outcomes, with eight passes and one explicit public-type failure. The original v3 first-result cohort stays separate. See research/zenoh-coverage-followup-2026-09-14/final-revision-mapping-001.json. Preserve raw Harbor job/trial structure and bytes. Keep discarded candidates in archive. Repeat trials within fixed task/model/effort cells to estimate pass rates, separating infrastructure outcomes and task revisions. The 99-cell snapshot includes Diskcache Fable/max uuqa2f6, interrupted after 24 assistant turns by a provider API usage-limit rejection, and Luigi Fable/max 6ooqjT5, a 7200-second timeout affected by repeated gateway failures. Existing policy counts their completed verifier outcomes as failures. These outcomes do not establish performance under healthy service. Raw outcomes and the first-result selection remain unchanged. Completed-response costs omit any unreported charges. See the separate provider-quota and Luigi timeout evidence reviews.</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41a6c48da249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965ee5aaf44747" /><Relationship Type="http://schemas.openxmlformats.org/officeDocument/2006/relationships/slideLayout" Target="/ppt/slideLayouts/slideLayout1.xml" Id="R8a72cca7bf094a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72cca7bf094a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eb44f319fe949c4" /><Relationship Type="http://schemas.openxmlformats.org/officeDocument/2006/relationships/notesSlide" Target="/ppt/notesSlides/notesSlide1.xml" Id="Ref7cc42e5fb648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c05f46891754a13" /><Relationship Type="http://schemas.openxmlformats.org/officeDocument/2006/relationships/notesSlide" Target="/ppt/notesSlides/notesSlide2.xml" Id="Rab1050939b9648b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6e38024770540b2" /><Relationship Type="http://schemas.openxmlformats.org/officeDocument/2006/relationships/notesSlide" Target="/ppt/notesSlides/notesSlide3.xml" Id="R9cf3b3fa63f2409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0fd5e18cec34919" /><Relationship Type="http://schemas.openxmlformats.org/officeDocument/2006/relationships/notesSlide" Target="/ppt/notesSlides/notesSlide4.xml" Id="R022408131b4847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1ce3152be444cdc" /><Relationship Type="http://schemas.openxmlformats.org/officeDocument/2006/relationships/notesSlide" Target="/ppt/notesSlides/notesSlide5.xml" Id="R323573ce13b840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c674b9b795741bf" /><Relationship Type="http://schemas.openxmlformats.org/officeDocument/2006/relationships/notesSlide" Target="/ppt/notesSlides/notesSlide6.xml" Id="R63fae88b9abd426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1a13fdfd41b4e69" /><Relationship Type="http://schemas.openxmlformats.org/officeDocument/2006/relationships/notesSlide" Target="/ppt/notesSlides/notesSlide7.xml" Id="Raf1a661ad02c46e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e7d748c635247c5" /><Relationship Type="http://schemas.openxmlformats.org/officeDocument/2006/relationships/notesSlide" Target="/ppt/notesSlides/notesSlide8.xml" Id="R3387e4c1348d476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41d035dd2694e06" /><Relationship Type="http://schemas.openxmlformats.org/officeDocument/2006/relationships/chart" Target="/ppt/slides/charts/chart1.xml" Id="R0164bd099780417d" /><Relationship Type="http://schemas.openxmlformats.org/officeDocument/2006/relationships/notesSlide" Target="/ppt/notesSlides/notesSlide9.xml" Id="Rccf7c86235044c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491546fcae34b6c" /><Relationship Type="http://schemas.openxmlformats.org/officeDocument/2006/relationships/notesSlide" Target="/ppt/notesSlides/notesSlide10.xml" Id="R899b6a38e03442e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8755c37c7d74030" /><Relationship Type="http://schemas.openxmlformats.org/officeDocument/2006/relationships/notesSlide" Target="/ppt/notesSlides/notesSlide11.xml" Id="Rc8ddc7ab91ae40b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0927fe42094428b" /><Relationship Type="http://schemas.openxmlformats.org/officeDocument/2006/relationships/notesSlide" Target="/ppt/notesSlides/notesSlide12.xml" Id="Rcdfd39576ca140c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4af9584112b467c" /><Relationship Type="http://schemas.openxmlformats.org/officeDocument/2006/relationships/notesSlide" Target="/ppt/notesSlides/notesSlide13.xml" Id="R81857d8e29de442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a0e56fa5e474eda" /><Relationship Type="http://schemas.openxmlformats.org/officeDocument/2006/relationships/notesSlide" Target="/ppt/notesSlides/notesSlide14.xml" Id="Rdd86c174bed942b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19c8d014217414c" /><Relationship Type="http://schemas.openxmlformats.org/officeDocument/2006/relationships/notesSlide" Target="/ppt/notesSlides/notesSlide15.xml" Id="R942213838a90487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c0f6c39b35a47dc" /><Relationship Type="http://schemas.openxmlformats.org/officeDocument/2006/relationships/notesSlide" Target="/ppt/notesSlides/notesSlide16.xml" Id="R5225bfa26b164ca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5ccb0d3afee4530" /><Relationship Type="http://schemas.openxmlformats.org/officeDocument/2006/relationships/notesSlide" Target="/ppt/notesSlides/notesSlide17.xml" Id="R4c63f9cad9db457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213349dd2964b9d" /><Relationship Type="http://schemas.openxmlformats.org/officeDocument/2006/relationships/notesSlide" Target="/ppt/notesSlides/notesSlide18.xml" Id="Rd1a3945d8574403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Median assistant turns</c:v>
          </c:tx>
          <c:spPr>
            <a:solidFill xmlns:a="http://schemas.openxmlformats.org/drawingml/2006/main">
              <a:srgbClr val="007B78"/>
            </a:solidFill>
          </c:spPr>
          <c:cat>
            <c:strRef>
              <c:f>'Chart Data'!$A$2:$A$12</c:f>
              <c:strCache>
                <c:ptCount val="11"/>
                <c:pt idx="0">
                  <c:v>Burn ONNX runtime weights</c:v>
                </c:pt>
                <c:pt idx="1">
                  <c:v>Zenoh timestamps v3</c:v>
                </c:pt>
                <c:pt idx="2">
                  <c:v>Foxglove parameter handler</c:v>
                </c:pt>
                <c:pt idx="3">
                  <c:v>rosbag2 mixed playback</c:v>
                </c:pt>
                <c:pt idx="4">
                  <c:v>Burn checkpoint reader v4</c:v>
                </c:pt>
                <c:pt idx="5">
                  <c:v>Rerun chunk optimizer</c:v>
                </c:pt>
                <c:pt idx="6">
                  <c:v>Zenoh C++ connectivity</c:v>
                </c:pt>
                <c:pt idx="7">
                  <c:v>Zarr value codecs</c:v>
                </c:pt>
                <c:pt idx="8">
                  <c:v>Diskcache resharding v2</c:v>
                </c:pt>
                <c:pt idx="9">
                  <c:v>Luigi generation target</c:v>
                </c:pt>
                <c:pt idx="10">
                  <c:v>Rosbags storage writers</c:v>
                </c:pt>
              </c:strCache>
            </c:strRef>
          </c:cat>
          <c:val>
            <c:numRef>
              <c:f>'Chart Data'!$B$2:$B$12</c:f>
              <c:numCache>
                <c:formatCode>General</c:formatCode>
                <c:ptCount val="11"/>
                <c:pt idx="0">
                  <c:v>225</c:v>
                </c:pt>
                <c:pt idx="1">
                  <c:v>216.5</c:v>
                </c:pt>
                <c:pt idx="2">
                  <c:v>163</c:v>
                </c:pt>
                <c:pt idx="3">
                  <c:v>154</c:v>
                </c:pt>
                <c:pt idx="4">
                  <c:v>144</c:v>
                </c:pt>
                <c:pt idx="5">
                  <c:v>119</c:v>
                </c:pt>
                <c:pt idx="6">
                  <c:v>106</c:v>
                </c:pt>
                <c:pt idx="7">
                  <c:v>100.5</c:v>
                </c:pt>
                <c:pt idx="8">
                  <c:v>93.5</c:v>
                </c:pt>
                <c:pt idx="9">
                  <c:v>52</c:v>
                </c:pt>
                <c:pt idx="10">
                  <c:v>44</c:v>
                </c:pt>
              </c:numCache>
            </c:numRef>
          </c:val>
        </c:ser>
        <c:dLbls>
          <c:txPr>
            <a:bodyPr xmlns:a="http://schemas.openxmlformats.org/drawingml/2006/main" anchorCtr="1"/>
            <a:lstStyle xmlns:a="http://schemas.openxmlformats.org/drawingml/2006/main"/>
            <a:p xmlns:a="http://schemas.openxmlformats.org/drawingml/2006/main">
              <a:pPr>
                <a:defRPr sz="1350">
                  <a:solidFill>
                    <a:srgbClr val="142F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F3A"/>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AD9DC"/>
            </a:solidFill>
          </a:ln>
        </c:spPr>
        <c:txPr>
          <a:bodyPr xmlns:a="http://schemas.openxmlformats.org/drawingml/2006/main" anchorCtr="1"/>
          <a:lstStyle xmlns:a="http://schemas.openxmlformats.org/drawingml/2006/main"/>
          <a:p xmlns:a="http://schemas.openxmlformats.org/drawingml/2006/main">
            <a:pPr>
              <a:defRPr sz="1350">
                <a:solidFill>
                  <a:srgbClr val="142F3A"/>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24E246C-0677-4ECC-80C2-1DFA51C46A29}"/>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Contract-preserving software tasks</a:t>
            </a:r>
          </a:p>
        </p:txBody>
      </p:sp>
      <p:sp>
        <p:nvSpPr>
          <p:cNvPr id="2" name="">
            <a:extLst xmlns:a="http://schemas.openxmlformats.org/drawingml/2006/main">
              <a:ext uri="{FF2B5EF4-FFF2-40B4-BE49-F238E27FC236}">
                <a16:creationId xmlns:a16="http://schemas.microsoft.com/office/drawing/2014/main" id="{9CCDD385-466B-4F44-BEF3-DC395F1F40E8}"/>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11 completed task cohorts across C++, Rust and Python</a:t>
            </a:r>
          </a:p>
        </p:txBody>
      </p:sp>
      <p:sp>
        <p:nvSpPr>
          <p:cNvPr id="3" name="">
            <a:extLst xmlns:a="http://schemas.openxmlformats.org/drawingml/2006/main">
              <a:ext uri="{FF2B5EF4-FFF2-40B4-BE49-F238E27FC236}">
                <a16:creationId xmlns:a16="http://schemas.microsoft.com/office/drawing/2014/main" id="{C2DAFEB1-F052-4472-86E4-80937B69D809}"/>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FD666BC-C6DE-4E3F-87D1-542891D2F2D0}"/>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5" name="">
            <a:extLst xmlns:a="http://schemas.openxmlformats.org/drawingml/2006/main">
              <a:ext uri="{FF2B5EF4-FFF2-40B4-BE49-F238E27FC236}">
                <a16:creationId xmlns:a16="http://schemas.microsoft.com/office/drawing/2014/main" id="{8765536B-011A-4F78-967B-3E3361EFDA6E}"/>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B3329A9C-3936-4AC2-818E-95C66EC0FFA7}"/>
              </a:ext>
            </a:extLst>
          </p:cNvPr>
          <p:cNvSpPr>
            <a:spLocks xmlns:a="http://schemas.openxmlformats.org/drawingml/2006/main" noGrp="1"/>
          </p:cNvSpPr>
          <p:nvPr/>
        </p:nvSpPr>
        <p:spPr>
          <a:xfrm xmlns:a="http://schemas.openxmlformats.org/drawingml/2006/main">
            <a:off x="647700" y="2152650"/>
            <a:ext cx="105727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F3A"/>
                </a:solidFill>
                <a:latin typeface="Helvetica Neue"/>
                <a:ea typeface="Helvetica Neue"/>
                <a:cs typeface="Helvetica Neue"/>
              </a:defRPr>
            </a:pPr>
            <a:r>
              <a:rPr sz="2850" b="1">
                <a:solidFill>
                  <a:srgbClr val="142F3A"/>
                </a:solidFill>
                <a:latin typeface="Helvetica Neue"/>
                <a:ea typeface="Helvetica Neue"/>
                <a:cs typeface="Helvetica Neue"/>
              </a:rPr>
              <a:t>Can an agent preserve a cross-module contract</a:t>
            </a:r>
          </a:p>
          <a:p xmlns:a="http://schemas.openxmlformats.org/drawingml/2006/main">
            <a:pPr>
              <a:defRPr sz="2850" b="1">
                <a:solidFill>
                  <a:srgbClr val="142F3A"/>
                </a:solidFill>
                <a:latin typeface="Helvetica Neue"/>
                <a:ea typeface="Helvetica Neue"/>
                <a:cs typeface="Helvetica Neue"/>
              </a:defRPr>
            </a:pPr>
            <a:r>
              <a:rPr sz="2850" b="1">
                <a:solidFill>
                  <a:srgbClr val="142F3A"/>
                </a:solidFill>
                <a:latin typeface="Helvetica Neue"/>
                <a:ea typeface="Helvetica Neue"/>
                <a:cs typeface="Helvetica Neue"/>
              </a:rPr>
              <a:t>while implementing a substantial feature?</a:t>
            </a:r>
          </a:p>
        </p:txBody>
      </p:sp>
      <p:sp>
        <p:nvSpPr>
          <p:cNvPr id="7" name="">
            <a:extLst xmlns:a="http://schemas.openxmlformats.org/drawingml/2006/main">
              <a:ext uri="{FF2B5EF4-FFF2-40B4-BE49-F238E27FC236}">
                <a16:creationId xmlns:a16="http://schemas.microsoft.com/office/drawing/2014/main" id="{26DA8054-F204-4DB1-96AE-BDD6C446C29E}"/>
              </a:ext>
            </a:extLst>
          </p:cNvPr>
          <p:cNvSpPr>
            <a:spLocks xmlns:a="http://schemas.openxmlformats.org/drawingml/2006/main" noGrp="1"/>
          </p:cNvSpPr>
          <p:nvPr/>
        </p:nvSpPr>
        <p:spPr>
          <a:xfrm xmlns:a="http://schemas.openxmlformats.org/drawingml/2006/main">
            <a:off x="647700" y="4086225"/>
            <a:ext cx="342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007B78"/>
                </a:solidFill>
                <a:latin typeface="Helvetica Neue"/>
                <a:ea typeface="Helvetica Neue"/>
                <a:cs typeface="Helvetica Neue"/>
              </a:defRPr>
            </a:pPr>
            <a:r>
              <a:rPr sz="4650" b="1">
                <a:solidFill>
                  <a:srgbClr val="007B78"/>
                </a:solidFill>
                <a:latin typeface="Helvetica Neue"/>
                <a:ea typeface="Helvetica Neue"/>
                <a:cs typeface="Helvetica Neue"/>
              </a:rPr>
              <a:t>99/99</a:t>
            </a:r>
          </a:p>
        </p:txBody>
      </p:sp>
      <p:sp>
        <p:nvSpPr>
          <p:cNvPr id="8" name="">
            <a:extLst xmlns:a="http://schemas.openxmlformats.org/drawingml/2006/main">
              <a:ext uri="{FF2B5EF4-FFF2-40B4-BE49-F238E27FC236}">
                <a16:creationId xmlns:a16="http://schemas.microsoft.com/office/drawing/2014/main" id="{02BAD58A-30E9-4091-BC52-F8AF77B6A4C2}"/>
              </a:ext>
            </a:extLst>
          </p:cNvPr>
          <p:cNvSpPr>
            <a:spLocks xmlns:a="http://schemas.openxmlformats.org/drawingml/2006/main" noGrp="1"/>
          </p:cNvSpPr>
          <p:nvPr/>
        </p:nvSpPr>
        <p:spPr>
          <a:xfrm xmlns:a="http://schemas.openxmlformats.org/drawingml/2006/main">
            <a:off x="647700" y="50482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C75"/>
                </a:solidFill>
                <a:latin typeface="Helvetica Neue"/>
                <a:ea typeface="Helvetica Neue"/>
                <a:cs typeface="Helvetica Neue"/>
              </a:defRPr>
            </a:pPr>
            <a:r>
              <a:rPr sz="1800" b="0">
                <a:solidFill>
                  <a:srgbClr val="536C75"/>
                </a:solidFill>
                <a:latin typeface="Helvetica Neue"/>
                <a:ea typeface="Helvetica Neue"/>
                <a:cs typeface="Helvetica Neue"/>
              </a:rPr>
              <a:t>combinations with counted results</a:t>
            </a:r>
          </a:p>
        </p:txBody>
      </p:sp>
      <p:sp>
        <p:nvSpPr>
          <p:cNvPr id="9" name="">
            <a:extLst xmlns:a="http://schemas.openxmlformats.org/drawingml/2006/main">
              <a:ext uri="{FF2B5EF4-FFF2-40B4-BE49-F238E27FC236}">
                <a16:creationId xmlns:a16="http://schemas.microsoft.com/office/drawing/2014/main" id="{32B8E071-C629-4E66-9F28-3EF3D0EEE8BF}"/>
              </a:ext>
            </a:extLst>
          </p:cNvPr>
          <p:cNvSpPr>
            <a:spLocks xmlns:a="http://schemas.openxmlformats.org/drawingml/2006/main" noGrp="1"/>
          </p:cNvSpPr>
          <p:nvPr/>
        </p:nvSpPr>
        <p:spPr>
          <a:xfrm xmlns:a="http://schemas.openxmlformats.org/drawingml/2006/main">
            <a:off x="4362450" y="4086225"/>
            <a:ext cx="342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007B78"/>
                </a:solidFill>
                <a:latin typeface="Helvetica Neue"/>
                <a:ea typeface="Helvetica Neue"/>
                <a:cs typeface="Helvetica Neue"/>
              </a:defRPr>
            </a:pPr>
            <a:r>
              <a:rPr sz="4650" b="1">
                <a:solidFill>
                  <a:srgbClr val="007B78"/>
                </a:solidFill>
                <a:latin typeface="Helvetica Neue"/>
                <a:ea typeface="Helvetica Neue"/>
                <a:cs typeface="Helvetica Neue"/>
              </a:rPr>
              <a:t>64/76</a:t>
            </a:r>
          </a:p>
        </p:txBody>
      </p:sp>
      <p:sp>
        <p:nvSpPr>
          <p:cNvPr id="10" name="">
            <a:extLst xmlns:a="http://schemas.openxmlformats.org/drawingml/2006/main">
              <a:ext uri="{FF2B5EF4-FFF2-40B4-BE49-F238E27FC236}">
                <a16:creationId xmlns:a16="http://schemas.microsoft.com/office/drawing/2014/main" id="{502A94C8-9648-4C3E-8F0C-091AEE35D797}"/>
              </a:ext>
            </a:extLst>
          </p:cNvPr>
          <p:cNvSpPr>
            <a:spLocks xmlns:a="http://schemas.openxmlformats.org/drawingml/2006/main" noGrp="1"/>
          </p:cNvSpPr>
          <p:nvPr/>
        </p:nvSpPr>
        <p:spPr>
          <a:xfrm xmlns:a="http://schemas.openxmlformats.org/drawingml/2006/main">
            <a:off x="4362450" y="50482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C75"/>
                </a:solidFill>
                <a:latin typeface="Helvetica Neue"/>
                <a:ea typeface="Helvetica Neue"/>
                <a:cs typeface="Helvetica Neue"/>
              </a:defRPr>
            </a:pPr>
            <a:r>
              <a:rPr sz="1800" b="0">
                <a:solidFill>
                  <a:srgbClr val="536C75"/>
                </a:solidFill>
                <a:latin typeface="Helvetica Neue"/>
                <a:ea typeface="Helvetica Neue"/>
                <a:cs typeface="Helvetica Neue"/>
              </a:rPr>
              <a:t>successful trials above 75 steps</a:t>
            </a:r>
          </a:p>
        </p:txBody>
      </p:sp>
      <p:sp>
        <p:nvSpPr>
          <p:cNvPr id="11" name="">
            <a:extLst xmlns:a="http://schemas.openxmlformats.org/drawingml/2006/main">
              <a:ext uri="{FF2B5EF4-FFF2-40B4-BE49-F238E27FC236}">
                <a16:creationId xmlns:a16="http://schemas.microsoft.com/office/drawing/2014/main" id="{8DA8F9E5-70CA-41D9-B643-CC7AE5884970}"/>
              </a:ext>
            </a:extLst>
          </p:cNvPr>
          <p:cNvSpPr>
            <a:spLocks xmlns:a="http://schemas.openxmlformats.org/drawingml/2006/main" noGrp="1"/>
          </p:cNvSpPr>
          <p:nvPr/>
        </p:nvSpPr>
        <p:spPr>
          <a:xfrm xmlns:a="http://schemas.openxmlformats.org/drawingml/2006/main">
            <a:off x="8077200" y="4086225"/>
            <a:ext cx="342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007B78"/>
                </a:solidFill>
                <a:latin typeface="Helvetica Neue"/>
                <a:ea typeface="Helvetica Neue"/>
                <a:cs typeface="Helvetica Neue"/>
              </a:defRPr>
            </a:pPr>
            <a:r>
              <a:rPr sz="4650" b="1">
                <a:solidFill>
                  <a:srgbClr val="007B78"/>
                </a:solidFill>
                <a:latin typeface="Helvetica Neue"/>
                <a:ea typeface="Helvetica Neue"/>
                <a:cs typeface="Helvetica Neue"/>
              </a:rPr>
              <a:t>11</a:t>
            </a:r>
          </a:p>
        </p:txBody>
      </p:sp>
      <p:sp>
        <p:nvSpPr>
          <p:cNvPr id="12" name="">
            <a:extLst xmlns:a="http://schemas.openxmlformats.org/drawingml/2006/main">
              <a:ext uri="{FF2B5EF4-FFF2-40B4-BE49-F238E27FC236}">
                <a16:creationId xmlns:a16="http://schemas.microsoft.com/office/drawing/2014/main" id="{B13A71F4-C7E7-4A15-958D-E712B63BD2E5}"/>
              </a:ext>
            </a:extLst>
          </p:cNvPr>
          <p:cNvSpPr>
            <a:spLocks xmlns:a="http://schemas.openxmlformats.org/drawingml/2006/main" noGrp="1"/>
          </p:cNvSpPr>
          <p:nvPr/>
        </p:nvSpPr>
        <p:spPr>
          <a:xfrm xmlns:a="http://schemas.openxmlformats.org/drawingml/2006/main">
            <a:off x="8077200" y="50482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C75"/>
                </a:solidFill>
                <a:latin typeface="Helvetica Neue"/>
                <a:ea typeface="Helvetica Neue"/>
                <a:cs typeface="Helvetica Neue"/>
              </a:defRPr>
            </a:pPr>
            <a:r>
              <a:rPr sz="1800" b="0">
                <a:solidFill>
                  <a:srgbClr val="536C75"/>
                </a:solidFill>
                <a:latin typeface="Helvetica Neue"/>
                <a:ea typeface="Helvetica Neue"/>
                <a:cs typeface="Helvetica Neue"/>
              </a:rPr>
              <a:t>evaluated tasks, with three detailed cases</a:t>
            </a:r>
          </a:p>
        </p:txBody>
      </p:sp>
    </p:spTree>
    <p:extLst>
      <p:ext uri="{BB962C8B-B14F-4D97-AF65-F5344CB8AC3E}">
        <p14:creationId xmlns:p14="http://schemas.microsoft.com/office/powerpoint/2010/main" val="15565642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8EA9958-EBB2-4D0D-824E-AEEBA6F2D344}"/>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The capability is maintaining the whole contract</a:t>
            </a:r>
          </a:p>
        </p:txBody>
      </p:sp>
      <p:sp>
        <p:nvSpPr>
          <p:cNvPr id="2" name="">
            <a:extLst xmlns:a="http://schemas.openxmlformats.org/drawingml/2006/main">
              <a:ext uri="{FF2B5EF4-FFF2-40B4-BE49-F238E27FC236}">
                <a16:creationId xmlns:a16="http://schemas.microsoft.com/office/drawing/2014/main" id="{BD7CDC7A-755C-4A11-B39F-065DD777E82B}"/>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E7E0481-3FE8-4D2C-BC5C-7D378B4EFFC6}"/>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4" name="">
            <a:extLst xmlns:a="http://schemas.openxmlformats.org/drawingml/2006/main">
              <a:ext uri="{FF2B5EF4-FFF2-40B4-BE49-F238E27FC236}">
                <a16:creationId xmlns:a16="http://schemas.microsoft.com/office/drawing/2014/main" id="{CD642158-5C8B-47C5-9482-4F6C904EE388}"/>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2</a:t>
            </a:r>
          </a:p>
        </p:txBody>
      </p:sp>
      <p:sp>
        <p:nvSpPr>
          <p:cNvPr id="5" name="">
            <a:extLst xmlns:a="http://schemas.openxmlformats.org/drawingml/2006/main">
              <a:ext uri="{FF2B5EF4-FFF2-40B4-BE49-F238E27FC236}">
                <a16:creationId xmlns:a16="http://schemas.microsoft.com/office/drawing/2014/main" id="{976F7E47-4EE8-4103-9E37-22116E69D58A}"/>
              </a:ext>
            </a:extLst>
          </p:cNvPr>
          <p:cNvSpPr>
            <a:spLocks xmlns:a="http://schemas.openxmlformats.org/drawingml/2006/main" noGrp="1"/>
          </p:cNvSpPr>
          <p:nvPr/>
        </p:nvSpPr>
        <p:spPr>
          <a:xfrm xmlns:a="http://schemas.openxmlformats.org/drawingml/2006/main">
            <a:off x="647700" y="18669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C++</a:t>
            </a:r>
          </a:p>
        </p:txBody>
      </p:sp>
      <p:sp>
        <p:nvSpPr>
          <p:cNvPr id="6" name="">
            <a:extLst xmlns:a="http://schemas.openxmlformats.org/drawingml/2006/main">
              <a:ext uri="{FF2B5EF4-FFF2-40B4-BE49-F238E27FC236}">
                <a16:creationId xmlns:a16="http://schemas.microsoft.com/office/drawing/2014/main" id="{44652156-CC14-4664-9BC8-7DA69D841507}"/>
              </a:ext>
            </a:extLst>
          </p:cNvPr>
          <p:cNvSpPr>
            <a:spLocks xmlns:a="http://schemas.openxmlformats.org/drawingml/2006/main" noGrp="1"/>
          </p:cNvSpPr>
          <p:nvPr/>
        </p:nvSpPr>
        <p:spPr>
          <a:xfrm xmlns:a="http://schemas.openxmlformats.org/drawingml/2006/main">
            <a:off x="647700" y="2390775"/>
            <a:ext cx="3333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Extend callback, playback and connectivity APIs while preserving compatibility and observable behavior.</a:t>
            </a:r>
          </a:p>
        </p:txBody>
      </p:sp>
      <p:sp>
        <p:nvSpPr>
          <p:cNvPr id="7" name="">
            <a:extLst xmlns:a="http://schemas.openxmlformats.org/drawingml/2006/main">
              <a:ext uri="{FF2B5EF4-FFF2-40B4-BE49-F238E27FC236}">
                <a16:creationId xmlns:a16="http://schemas.microsoft.com/office/drawing/2014/main" id="{108DC64E-4546-4E28-B835-F8D8494F6CA1}"/>
              </a:ext>
            </a:extLst>
          </p:cNvPr>
          <p:cNvSpPr>
            <a:spLocks xmlns:a="http://schemas.openxmlformats.org/drawingml/2006/main" noGrp="1"/>
          </p:cNvSpPr>
          <p:nvPr/>
        </p:nvSpPr>
        <p:spPr>
          <a:xfrm xmlns:a="http://schemas.openxmlformats.org/drawingml/2006/main">
            <a:off x="4429125" y="18669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Python</a:t>
            </a:r>
          </a:p>
        </p:txBody>
      </p:sp>
      <p:sp>
        <p:nvSpPr>
          <p:cNvPr id="8" name="">
            <a:extLst xmlns:a="http://schemas.openxmlformats.org/drawingml/2006/main">
              <a:ext uri="{FF2B5EF4-FFF2-40B4-BE49-F238E27FC236}">
                <a16:creationId xmlns:a16="http://schemas.microsoft.com/office/drawing/2014/main" id="{217D532E-B8DD-45C6-AB95-A6582A2B9B8F}"/>
              </a:ext>
            </a:extLst>
          </p:cNvPr>
          <p:cNvSpPr>
            <a:spLocks xmlns:a="http://schemas.openxmlformats.org/drawingml/2006/main" noGrp="1"/>
          </p:cNvSpPr>
          <p:nvPr/>
        </p:nvSpPr>
        <p:spPr>
          <a:xfrm xmlns:a="http://schemas.openxmlformats.org/drawingml/2006/main">
            <a:off x="4429125" y="2390775"/>
            <a:ext cx="3333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Implement storage writers, codecs and persistence features with explicit recovery and representation contracts.</a:t>
            </a:r>
          </a:p>
        </p:txBody>
      </p:sp>
      <p:sp>
        <p:nvSpPr>
          <p:cNvPr id="9" name="">
            <a:extLst xmlns:a="http://schemas.openxmlformats.org/drawingml/2006/main">
              <a:ext uri="{FF2B5EF4-FFF2-40B4-BE49-F238E27FC236}">
                <a16:creationId xmlns:a16="http://schemas.microsoft.com/office/drawing/2014/main" id="{480ECD20-0979-4792-AFA3-409D350C3B34}"/>
              </a:ext>
            </a:extLst>
          </p:cNvPr>
          <p:cNvSpPr>
            <a:spLocks xmlns:a="http://schemas.openxmlformats.org/drawingml/2006/main" noGrp="1"/>
          </p:cNvSpPr>
          <p:nvPr/>
        </p:nvSpPr>
        <p:spPr>
          <a:xfrm xmlns:a="http://schemas.openxmlformats.org/drawingml/2006/main">
            <a:off x="8220075" y="18669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Rust</a:t>
            </a:r>
          </a:p>
        </p:txBody>
      </p:sp>
      <p:sp>
        <p:nvSpPr>
          <p:cNvPr id="10" name="">
            <a:extLst xmlns:a="http://schemas.openxmlformats.org/drawingml/2006/main">
              <a:ext uri="{FF2B5EF4-FFF2-40B4-BE49-F238E27FC236}">
                <a16:creationId xmlns:a16="http://schemas.microsoft.com/office/drawing/2014/main" id="{A4E3F148-2259-4604-B812-A2868DA04344}"/>
              </a:ext>
            </a:extLst>
          </p:cNvPr>
          <p:cNvSpPr>
            <a:spLocks xmlns:a="http://schemas.openxmlformats.org/drawingml/2006/main" noGrp="1"/>
          </p:cNvSpPr>
          <p:nvPr/>
        </p:nvSpPr>
        <p:spPr>
          <a:xfrm xmlns:a="http://schemas.openxmlformats.org/drawingml/2006/main">
            <a:off x="8220075" y="2390775"/>
            <a:ext cx="3333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Integrate checkpoint readers, runtime weights, streaming layouts and timestamp metadata across modules.</a:t>
            </a:r>
          </a:p>
        </p:txBody>
      </p:sp>
      <p:sp>
        <p:nvSpPr>
          <p:cNvPr id="11" name="">
            <a:extLst xmlns:a="http://schemas.openxmlformats.org/drawingml/2006/main">
              <a:ext uri="{FF2B5EF4-FFF2-40B4-BE49-F238E27FC236}">
                <a16:creationId xmlns:a16="http://schemas.microsoft.com/office/drawing/2014/main" id="{3D78CA5F-CCD6-4702-880B-414C6B4D0CD5}"/>
              </a:ext>
            </a:extLst>
          </p:cNvPr>
          <p:cNvSpPr>
            <a:spLocks xmlns:a="http://schemas.openxmlformats.org/drawingml/2006/main" noGrp="1"/>
          </p:cNvSpPr>
          <p:nvPr/>
        </p:nvSpPr>
        <p:spPr>
          <a:xfrm xmlns:a="http://schemas.openxmlformats.org/drawingml/2006/main">
            <a:off x="647700" y="4743450"/>
            <a:ext cx="10896600" cy="19050"/>
          </a:xfrm>
          <a:prstGeom xmlns:a="http://schemas.openxmlformats.org/drawingml/2006/main" prst="rect">
            <a:avLst/>
          </a:prstGeom>
          <a:solidFill xmlns:a="http://schemas.openxmlformats.org/drawingml/2006/main">
            <a:srgbClr val="007B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87B3D67-3773-41E2-AE83-26E936D04319}"/>
              </a:ext>
            </a:extLst>
          </p:cNvPr>
          <p:cNvSpPr>
            <a:spLocks xmlns:a="http://schemas.openxmlformats.org/drawingml/2006/main" noGrp="1"/>
          </p:cNvSpPr>
          <p:nvPr/>
        </p:nvSpPr>
        <p:spPr>
          <a:xfrm xmlns:a="http://schemas.openxmlformats.org/drawingml/2006/main">
            <a:off x="647700" y="50768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F3A"/>
                </a:solidFill>
                <a:latin typeface="Helvetica Neue"/>
                <a:ea typeface="Helvetica Neue"/>
                <a:cs typeface="Helvetica Neue"/>
              </a:defRPr>
            </a:pPr>
            <a:r>
              <a:rPr sz="2250" b="1">
                <a:solidFill>
                  <a:srgbClr val="142F3A"/>
                </a:solidFill>
                <a:latin typeface="Helvetica Neue"/>
                <a:ea typeface="Helvetica Neue"/>
                <a:cs typeface="Helvetica Neue"/>
              </a:rPr>
              <a:t>The shared demand: implement locally, then verify behavior across module boundaries.</a:t>
            </a:r>
          </a:p>
        </p:txBody>
      </p:sp>
    </p:spTree>
    <p:extLst>
      <p:ext uri="{BB962C8B-B14F-4D97-AF65-F5344CB8AC3E}">
        <p14:creationId xmlns:p14="http://schemas.microsoft.com/office/powerpoint/2010/main" val="8403619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25B3529-516F-488C-869C-FA6911D66885}"/>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First-result coverage and recorded passes</a:t>
            </a:r>
          </a:p>
        </p:txBody>
      </p:sp>
      <p:sp>
        <p:nvSpPr>
          <p:cNvPr id="2" name="">
            <a:extLst xmlns:a="http://schemas.openxmlformats.org/drawingml/2006/main">
              <a:ext uri="{FF2B5EF4-FFF2-40B4-BE49-F238E27FC236}">
                <a16:creationId xmlns:a16="http://schemas.microsoft.com/office/drawing/2014/main" id="{27D2613C-33FE-4908-A976-17F4F523B70B}"/>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Passes / first results. Luigi and Diskcache include service-interrupted failures.</a:t>
            </a:r>
          </a:p>
        </p:txBody>
      </p:sp>
      <p:sp>
        <p:nvSpPr>
          <p:cNvPr id="3" name="">
            <a:extLst xmlns:a="http://schemas.openxmlformats.org/drawingml/2006/main">
              <a:ext uri="{FF2B5EF4-FFF2-40B4-BE49-F238E27FC236}">
                <a16:creationId xmlns:a16="http://schemas.microsoft.com/office/drawing/2014/main" id="{E5CD322E-6C12-46B4-9AED-ACC604C1D59F}"/>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7FBE89C-4F5F-4925-BF8D-370836A30293}"/>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5" name="">
            <a:extLst xmlns:a="http://schemas.openxmlformats.org/drawingml/2006/main">
              <a:ext uri="{FF2B5EF4-FFF2-40B4-BE49-F238E27FC236}">
                <a16:creationId xmlns:a16="http://schemas.microsoft.com/office/drawing/2014/main" id="{1006E873-AE0D-4C87-92BA-881ACAC593D5}"/>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3</a:t>
            </a:r>
          </a:p>
        </p:txBody>
      </p:sp>
      <p:graphicFrame>
        <p:nvGraphicFramePr>
          <p:cNvPr id="12" name=""/>
          <p:cNvGraphicFramePr/>
          <p:nvPr/>
        </p:nvGraphicFramePr>
        <p:xfrm>
          <a:off xmlns:a="http://schemas.openxmlformats.org/drawingml/2006/main" x="647700" y="1752600"/>
          <a:ext xmlns:a="http://schemas.openxmlformats.org/drawingml/2006/main" cx="10896600" cy="4305300"/>
        </p:xfrm>
        <a:graphic xmlns:a="http://schemas.openxmlformats.org/drawingml/2006/main">
          <a:graphicData uri="http://schemas.openxmlformats.org/drawingml/2006/table">
            <a:tbl>
              <a:tblPr/>
              <a:tblGrid>
                <a:gridCol w="5143500"/>
                <a:gridCol w="1381125"/>
                <a:gridCol w="1381125"/>
                <a:gridCol w="1381125"/>
                <a:gridCol w="1609725"/>
              </a:tblGrid>
              <a:tr h="358775">
                <a:tc>
                  <a:txBody>
                    <a:bodyPr>
                      <a:noAutofit/>
                    </a:bodyPr>
                    <a:lstStyle/>
                    <a:p>
                      <a:r>
                        <a:rPr sz="1425" b="1">
                          <a:solidFill>
                            <a:srgbClr val="FFFFFF"/>
                          </a:solidFill>
                          <a:latin typeface="Helvetica Neue"/>
                          <a:ea typeface="Helvetica Neue"/>
                          <a:cs typeface="Helvetica Neue"/>
                        </a:rPr>
                        <a:t>Task</a:t>
                      </a:r>
                    </a:p>
                  </a:txBody>
                  <a:tcPr marL="91440" marR="91440" marT="45720" marB="45720">
                    <a:solidFill>
                      <a:srgbClr val="142F3A"/>
                    </a:solidFill>
                  </a:tcPr>
                </a:tc>
                <a:tc>
                  <a:txBody>
                    <a:bodyPr>
                      <a:noAutofit/>
                    </a:bodyPr>
                    <a:lstStyle/>
                    <a:p>
                      <a:r>
                        <a:rPr sz="1425" b="1">
                          <a:solidFill>
                            <a:srgbClr val="FFFFFF"/>
                          </a:solidFill>
                          <a:latin typeface="Helvetica Neue"/>
                          <a:ea typeface="Helvetica Neue"/>
                          <a:cs typeface="Helvetica Neue"/>
                        </a:rPr>
                        <a:t>Fable</a:t>
                      </a:r>
                    </a:p>
                  </a:txBody>
                  <a:tcPr marL="91440" marR="91440" marT="45720" marB="45720">
                    <a:solidFill>
                      <a:srgbClr val="142F3A"/>
                    </a:solidFill>
                  </a:tcPr>
                </a:tc>
                <a:tc>
                  <a:txBody>
                    <a:bodyPr>
                      <a:noAutofit/>
                    </a:bodyPr>
                    <a:lstStyle/>
                    <a:p>
                      <a:r>
                        <a:rPr sz="1425" b="1">
                          <a:solidFill>
                            <a:srgbClr val="FFFFFF"/>
                          </a:solidFill>
                          <a:latin typeface="Helvetica Neue"/>
                          <a:ea typeface="Helvetica Neue"/>
                          <a:cs typeface="Helvetica Neue"/>
                        </a:rPr>
                        <a:t>Opus</a:t>
                      </a:r>
                    </a:p>
                  </a:txBody>
                  <a:tcPr marL="91440" marR="91440" marT="45720" marB="45720">
                    <a:solidFill>
                      <a:srgbClr val="142F3A"/>
                    </a:solidFill>
                  </a:tcPr>
                </a:tc>
                <a:tc>
                  <a:txBody>
                    <a:bodyPr>
                      <a:noAutofit/>
                    </a:bodyPr>
                    <a:lstStyle/>
                    <a:p>
                      <a:r>
                        <a:rPr sz="1425" b="1">
                          <a:solidFill>
                            <a:srgbClr val="FFFFFF"/>
                          </a:solidFill>
                          <a:latin typeface="Helvetica Neue"/>
                          <a:ea typeface="Helvetica Neue"/>
                          <a:cs typeface="Helvetica Neue"/>
                        </a:rPr>
                        <a:t>Sonnet</a:t>
                      </a:r>
                    </a:p>
                  </a:txBody>
                  <a:tcPr marL="91440" marR="91440" marT="45720" marB="45720">
                    <a:solidFill>
                      <a:srgbClr val="142F3A"/>
                    </a:solidFill>
                  </a:tcPr>
                </a:tc>
                <a:tc>
                  <a:txBody>
                    <a:bodyPr>
                      <a:noAutofit/>
                    </a:bodyPr>
                    <a:lstStyle/>
                    <a:p>
                      <a:r>
                        <a:rPr sz="1425" b="1">
                          <a:solidFill>
                            <a:srgbClr val="FFFFFF"/>
                          </a:solidFill>
                          <a:latin typeface="Helvetica Neue"/>
                          <a:ea typeface="Helvetica Neue"/>
                          <a:cs typeface="Helvetica Neue"/>
                        </a:rPr>
                        <a:t>Covered</a:t>
                      </a:r>
                    </a:p>
                  </a:txBody>
                  <a:tcPr marL="91440" marR="91440" marT="45720" marB="45720">
                    <a:solidFill>
                      <a:srgbClr val="142F3A"/>
                    </a:solidFill>
                  </a:tcPr>
                </a:tc>
              </a:tr>
              <a:tr h="358775">
                <a:tc>
                  <a:txBody>
                    <a:bodyPr>
                      <a:noAutofit/>
                    </a:bodyPr>
                    <a:lstStyle/>
                    <a:p>
                      <a:r>
                        <a:rPr sz="1425" b="0">
                          <a:solidFill>
                            <a:srgbClr val="142F3A"/>
                          </a:solidFill>
                          <a:latin typeface="Helvetica Neue"/>
                          <a:ea typeface="Helvetica Neue"/>
                          <a:cs typeface="Helvetica Neue"/>
                        </a:rPr>
                        <a:t>Foxglove parameter handler</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r h="358775">
                <a:tc>
                  <a:txBody>
                    <a:bodyPr>
                      <a:noAutofit/>
                    </a:bodyPr>
                    <a:lstStyle/>
                    <a:p>
                      <a:r>
                        <a:rPr sz="1425" b="0">
                          <a:solidFill>
                            <a:srgbClr val="142F3A"/>
                          </a:solidFill>
                          <a:latin typeface="Helvetica Neue"/>
                          <a:ea typeface="Helvetica Neue"/>
                          <a:cs typeface="Helvetica Neue"/>
                        </a:rPr>
                        <a:t>rosbag2 mixed playback</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FFFFFF"/>
                    </a:solidFill>
                  </a:tcPr>
                </a:tc>
              </a:tr>
              <a:tr h="358775">
                <a:tc>
                  <a:txBody>
                    <a:bodyPr>
                      <a:noAutofit/>
                    </a:bodyPr>
                    <a:lstStyle/>
                    <a:p>
                      <a:r>
                        <a:rPr sz="1425" b="0">
                          <a:solidFill>
                            <a:srgbClr val="142F3A"/>
                          </a:solidFill>
                          <a:latin typeface="Helvetica Neue"/>
                          <a:ea typeface="Helvetica Neue"/>
                          <a:cs typeface="Helvetica Neue"/>
                        </a:rPr>
                        <a:t>Zenoh C++ connectivity</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r h="358775">
                <a:tc>
                  <a:txBody>
                    <a:bodyPr>
                      <a:noAutofit/>
                    </a:bodyPr>
                    <a:lstStyle/>
                    <a:p>
                      <a:r>
                        <a:rPr sz="1425" b="0">
                          <a:solidFill>
                            <a:srgbClr val="142F3A"/>
                          </a:solidFill>
                          <a:latin typeface="Helvetica Neue"/>
                          <a:ea typeface="Helvetica Neue"/>
                          <a:cs typeface="Helvetica Neue"/>
                        </a:rPr>
                        <a:t>Diskcache resharding v2</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1/3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1/3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0/3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FFFFFF"/>
                    </a:solidFill>
                  </a:tcPr>
                </a:tc>
              </a:tr>
              <a:tr h="358775">
                <a:tc>
                  <a:txBody>
                    <a:bodyPr>
                      <a:noAutofit/>
                    </a:bodyPr>
                    <a:lstStyle/>
                    <a:p>
                      <a:r>
                        <a:rPr sz="1425" b="0">
                          <a:solidFill>
                            <a:srgbClr val="142F3A"/>
                          </a:solidFill>
                          <a:latin typeface="Helvetica Neue"/>
                          <a:ea typeface="Helvetica Neue"/>
                          <a:cs typeface="Helvetica Neue"/>
                        </a:rPr>
                        <a:t>Luigi generation target</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1/3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0/3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r h="358775">
                <a:tc>
                  <a:txBody>
                    <a:bodyPr>
                      <a:noAutofit/>
                    </a:bodyPr>
                    <a:lstStyle/>
                    <a:p>
                      <a:r>
                        <a:rPr sz="1425" b="0">
                          <a:solidFill>
                            <a:srgbClr val="142F3A"/>
                          </a:solidFill>
                          <a:latin typeface="Helvetica Neue"/>
                          <a:ea typeface="Helvetica Neue"/>
                          <a:cs typeface="Helvetica Neue"/>
                        </a:rPr>
                        <a:t>Rosbags storage writers</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FFFFFF"/>
                    </a:solidFill>
                  </a:tcPr>
                </a:tc>
              </a:tr>
              <a:tr h="358775">
                <a:tc>
                  <a:txBody>
                    <a:bodyPr>
                      <a:noAutofit/>
                    </a:bodyPr>
                    <a:lstStyle/>
                    <a:p>
                      <a:r>
                        <a:rPr sz="1425" b="0">
                          <a:solidFill>
                            <a:srgbClr val="142F3A"/>
                          </a:solidFill>
                          <a:latin typeface="Helvetica Neue"/>
                          <a:ea typeface="Helvetica Neue"/>
                          <a:cs typeface="Helvetica Neue"/>
                        </a:rPr>
                        <a:t>Zarr value codecs</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1/3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r h="358775">
                <a:tc>
                  <a:txBody>
                    <a:bodyPr>
                      <a:noAutofit/>
                    </a:bodyPr>
                    <a:lstStyle/>
                    <a:p>
                      <a:r>
                        <a:rPr sz="1425" b="0">
                          <a:solidFill>
                            <a:srgbClr val="142F3A"/>
                          </a:solidFill>
                          <a:latin typeface="Helvetica Neue"/>
                          <a:ea typeface="Helvetica Neue"/>
                          <a:cs typeface="Helvetica Neue"/>
                        </a:rPr>
                        <a:t>Burn ONNX runtime weights</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FFFFFF"/>
                    </a:solidFill>
                  </a:tcPr>
                </a:tc>
              </a:tr>
              <a:tr h="358775">
                <a:tc>
                  <a:txBody>
                    <a:bodyPr>
                      <a:noAutofit/>
                    </a:bodyPr>
                    <a:lstStyle/>
                    <a:p>
                      <a:r>
                        <a:rPr sz="1425" b="0">
                          <a:solidFill>
                            <a:srgbClr val="142F3A"/>
                          </a:solidFill>
                          <a:latin typeface="Helvetica Neue"/>
                          <a:ea typeface="Helvetica Neue"/>
                          <a:cs typeface="Helvetica Neue"/>
                        </a:rPr>
                        <a:t>Burn checkpoint reader v4</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1/3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r h="358775">
                <a:tc>
                  <a:txBody>
                    <a:bodyPr>
                      <a:noAutofit/>
                    </a:bodyPr>
                    <a:lstStyle/>
                    <a:p>
                      <a:r>
                        <a:rPr sz="1425" b="0">
                          <a:solidFill>
                            <a:srgbClr val="142F3A"/>
                          </a:solidFill>
                          <a:latin typeface="Helvetica Neue"/>
                          <a:ea typeface="Helvetica Neue"/>
                          <a:cs typeface="Helvetica Neue"/>
                        </a:rPr>
                        <a:t>Rerun chunk optimizer</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FFFFFF"/>
                    </a:solidFill>
                  </a:tcPr>
                </a:tc>
              </a:tr>
              <a:tr h="358775">
                <a:tc>
                  <a:txBody>
                    <a:bodyPr>
                      <a:noAutofit/>
                    </a:bodyPr>
                    <a:lstStyle/>
                    <a:p>
                      <a:r>
                        <a:rPr sz="1425" b="0">
                          <a:solidFill>
                            <a:srgbClr val="142F3A"/>
                          </a:solidFill>
                          <a:latin typeface="Helvetica Neue"/>
                          <a:ea typeface="Helvetica Neue"/>
                          <a:cs typeface="Helvetica Neue"/>
                        </a:rPr>
                        <a:t>Zenoh timestamps v3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bl>
          </a:graphicData>
        </a:graphic>
      </p:graphicFrame>
    </p:spTree>
    <p:extLst>
      <p:ext uri="{BB962C8B-B14F-4D97-AF65-F5344CB8AC3E}">
        <p14:creationId xmlns:p14="http://schemas.microsoft.com/office/powerpoint/2010/main" val="6389177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FF190E-EF04-4FCC-93F6-C54809867D36}"/>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Every model and effort cell (1 of 2)</a:t>
            </a:r>
          </a:p>
        </p:txBody>
      </p:sp>
      <p:sp>
        <p:nvSpPr>
          <p:cNvPr id="2" name="">
            <a:extLst xmlns:a="http://schemas.openxmlformats.org/drawingml/2006/main">
              <a:ext uri="{FF2B5EF4-FFF2-40B4-BE49-F238E27FC236}">
                <a16:creationId xmlns:a16="http://schemas.microsoft.com/office/drawing/2014/main" id="{5734C853-6B0B-4D32-895E-4542AB386A89}"/>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One counted result per task, model and effort. Repeats remain separate.</a:t>
            </a:r>
          </a:p>
        </p:txBody>
      </p:sp>
      <p:sp>
        <p:nvSpPr>
          <p:cNvPr id="3" name="">
            <a:extLst xmlns:a="http://schemas.openxmlformats.org/drawingml/2006/main">
              <a:ext uri="{FF2B5EF4-FFF2-40B4-BE49-F238E27FC236}">
                <a16:creationId xmlns:a16="http://schemas.microsoft.com/office/drawing/2014/main" id="{65B4C5B5-169C-438D-8F10-087EC1CB0EB9}"/>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EE92C3A-282C-4B2A-9174-61236BCBCB3C}"/>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5" name="">
            <a:extLst xmlns:a="http://schemas.openxmlformats.org/drawingml/2006/main">
              <a:ext uri="{FF2B5EF4-FFF2-40B4-BE49-F238E27FC236}">
                <a16:creationId xmlns:a16="http://schemas.microsoft.com/office/drawing/2014/main" id="{C289186A-67BB-4173-8BB1-40E5C6138D1C}"/>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4</a:t>
            </a:r>
          </a:p>
        </p:txBody>
      </p:sp>
      <p:graphicFrame>
        <p:nvGraphicFramePr>
          <p:cNvPr id="13" name=""/>
          <p:cNvGraphicFramePr/>
          <p:nvPr/>
        </p:nvGraphicFramePr>
        <p:xfrm>
          <a:off xmlns:a="http://schemas.openxmlformats.org/drawingml/2006/main" x="647700" y="1952625"/>
          <a:ext xmlns:a="http://schemas.openxmlformats.org/drawingml/2006/main" cx="10896600" cy="3733800"/>
        </p:xfrm>
        <a:graphic xmlns:a="http://schemas.openxmlformats.org/drawingml/2006/main">
          <a:graphicData uri="http://schemas.openxmlformats.org/drawingml/2006/table">
            <a:tbl>
              <a:tblPr/>
              <a:tblGrid>
                <a:gridCol w="2667000"/>
                <a:gridCol w="914400"/>
                <a:gridCol w="914400"/>
                <a:gridCol w="914400"/>
                <a:gridCol w="914400"/>
                <a:gridCol w="914400"/>
                <a:gridCol w="914400"/>
                <a:gridCol w="914400"/>
                <a:gridCol w="914400"/>
                <a:gridCol w="914400"/>
              </a:tblGrid>
              <a:tr h="533400">
                <a:tc>
                  <a:txBody>
                    <a:bodyPr>
                      <a:noAutofit/>
                    </a:bodyPr>
                    <a:lstStyle/>
                    <a:p>
                      <a:r>
                        <a:rPr sz="1500" b="1">
                          <a:solidFill>
                            <a:srgbClr val="FFFFFF"/>
                          </a:solidFill>
                          <a:latin typeface="Helvetica Neue"/>
                          <a:ea typeface="Helvetica Neue"/>
                          <a:cs typeface="Helvetica Neue"/>
                        </a:rPr>
                        <a:t>Task</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Fable</a:t>
                      </a:r>
                    </a:p>
                    <a:p>
                      <a:r>
                        <a:rPr sz="1500" b="1">
                          <a:solidFill>
                            <a:srgbClr val="FFFFFF"/>
                          </a:solidFill>
                          <a:latin typeface="Helvetica Neue"/>
                          <a:ea typeface="Helvetica Neue"/>
                          <a:cs typeface="Helvetica Neue"/>
                        </a:rPr>
                        <a:t>Med</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Fable</a:t>
                      </a:r>
                    </a:p>
                    <a:p>
                      <a:r>
                        <a:rPr sz="1500" b="1">
                          <a:solidFill>
                            <a:srgbClr val="FFFFFF"/>
                          </a:solidFill>
                          <a:latin typeface="Helvetica Neue"/>
                          <a:ea typeface="Helvetica Neue"/>
                          <a:cs typeface="Helvetica Neue"/>
                        </a:rPr>
                        <a:t>High</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Fable</a:t>
                      </a:r>
                    </a:p>
                    <a:p>
                      <a:r>
                        <a:rPr sz="1500" b="1">
                          <a:solidFill>
                            <a:srgbClr val="FFFFFF"/>
                          </a:solidFill>
                          <a:latin typeface="Helvetica Neue"/>
                          <a:ea typeface="Helvetica Neue"/>
                          <a:cs typeface="Helvetica Neue"/>
                        </a:rPr>
                        <a:t>Max</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Opus</a:t>
                      </a:r>
                    </a:p>
                    <a:p>
                      <a:r>
                        <a:rPr sz="1500" b="1">
                          <a:solidFill>
                            <a:srgbClr val="FFFFFF"/>
                          </a:solidFill>
                          <a:latin typeface="Helvetica Neue"/>
                          <a:ea typeface="Helvetica Neue"/>
                          <a:cs typeface="Helvetica Neue"/>
                        </a:rPr>
                        <a:t>Med</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Opus</a:t>
                      </a:r>
                    </a:p>
                    <a:p>
                      <a:r>
                        <a:rPr sz="1500" b="1">
                          <a:solidFill>
                            <a:srgbClr val="FFFFFF"/>
                          </a:solidFill>
                          <a:latin typeface="Helvetica Neue"/>
                          <a:ea typeface="Helvetica Neue"/>
                          <a:cs typeface="Helvetica Neue"/>
                        </a:rPr>
                        <a:t>High</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Opus</a:t>
                      </a:r>
                    </a:p>
                    <a:p>
                      <a:r>
                        <a:rPr sz="1500" b="1">
                          <a:solidFill>
                            <a:srgbClr val="FFFFFF"/>
                          </a:solidFill>
                          <a:latin typeface="Helvetica Neue"/>
                          <a:ea typeface="Helvetica Neue"/>
                          <a:cs typeface="Helvetica Neue"/>
                        </a:rPr>
                        <a:t>Max</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Sonnet</a:t>
                      </a:r>
                    </a:p>
                    <a:p>
                      <a:r>
                        <a:rPr sz="1500" b="1">
                          <a:solidFill>
                            <a:srgbClr val="FFFFFF"/>
                          </a:solidFill>
                          <a:latin typeface="Helvetica Neue"/>
                          <a:ea typeface="Helvetica Neue"/>
                          <a:cs typeface="Helvetica Neue"/>
                        </a:rPr>
                        <a:t>Med</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Sonnet</a:t>
                      </a:r>
                    </a:p>
                    <a:p>
                      <a:r>
                        <a:rPr sz="1500" b="1">
                          <a:solidFill>
                            <a:srgbClr val="FFFFFF"/>
                          </a:solidFill>
                          <a:latin typeface="Helvetica Neue"/>
                          <a:ea typeface="Helvetica Neue"/>
                          <a:cs typeface="Helvetica Neue"/>
                        </a:rPr>
                        <a:t>High</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Sonnet</a:t>
                      </a:r>
                    </a:p>
                    <a:p>
                      <a:r>
                        <a:rPr sz="1500" b="1">
                          <a:solidFill>
                            <a:srgbClr val="FFFFFF"/>
                          </a:solidFill>
                          <a:latin typeface="Helvetica Neue"/>
                          <a:ea typeface="Helvetica Neue"/>
                          <a:cs typeface="Helvetica Neue"/>
                        </a:rPr>
                        <a:t>Max</a:t>
                      </a:r>
                    </a:p>
                  </a:txBody>
                  <a:tcPr marL="91440" marR="91440" marT="45720" marB="45720">
                    <a:solidFill>
                      <a:srgbClr val="142F3A"/>
                    </a:solidFill>
                  </a:tcPr>
                </a:tc>
              </a:tr>
              <a:tr h="533400">
                <a:tc>
                  <a:txBody>
                    <a:bodyPr>
                      <a:noAutofit/>
                    </a:bodyPr>
                    <a:lstStyle/>
                    <a:p>
                      <a:r>
                        <a:rPr sz="1500" b="0">
                          <a:solidFill>
                            <a:srgbClr val="142F3A"/>
                          </a:solidFill>
                          <a:latin typeface="Helvetica Neue"/>
                          <a:ea typeface="Helvetica Neue"/>
                          <a:cs typeface="Helvetica Neue"/>
                        </a:rPr>
                        <a:t>Foxglove parameters</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(79)</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(134)</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(191)</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(82)</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(133)</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(168)</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(163)</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(270)</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(364)</a:t>
                      </a:r>
                    </a:p>
                  </a:txBody>
                  <a:tcPr marL="91440" marR="91440" marT="45720" marB="45720">
                    <a:solidFill>
                      <a:srgbClr val="E9F3F1"/>
                    </a:solidFill>
                  </a:tcPr>
                </a:tc>
              </a:tr>
              <a:tr h="533400">
                <a:tc>
                  <a:txBody>
                    <a:bodyPr>
                      <a:noAutofit/>
                    </a:bodyPr>
                    <a:lstStyle/>
                    <a:p>
                      <a:r>
                        <a:rPr sz="1500" b="0">
                          <a:solidFill>
                            <a:srgbClr val="142F3A"/>
                          </a:solidFill>
                          <a:latin typeface="Helvetica Neue"/>
                          <a:ea typeface="Helvetica Neue"/>
                          <a:cs typeface="Helvetica Neue"/>
                        </a:rPr>
                        <a:t>rosbag2 mixed playback</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(112)</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(146)</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(194)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(99)</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(125)</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(155)</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(154)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(251)</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(381)</a:t>
                      </a:r>
                    </a:p>
                  </a:txBody>
                  <a:tcPr marL="91440" marR="91440" marT="45720" marB="45720">
                    <a:solidFill>
                      <a:srgbClr val="FFFFFF"/>
                    </a:solidFill>
                  </a:tcPr>
                </a:tc>
              </a:tr>
              <a:tr h="533400">
                <a:tc>
                  <a:txBody>
                    <a:bodyPr>
                      <a:noAutofit/>
                    </a:bodyPr>
                    <a:lstStyle/>
                    <a:p>
                      <a:r>
                        <a:rPr sz="1500" b="0">
                          <a:solidFill>
                            <a:srgbClr val="142F3A"/>
                          </a:solidFill>
                          <a:latin typeface="Helvetica Neue"/>
                          <a:ea typeface="Helvetica Neue"/>
                          <a:cs typeface="Helvetica Neue"/>
                        </a:rPr>
                        <a:t>Zenoh C++ connectivity</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(97)</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(115)</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(184)</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(62)</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(85)</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(134)</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(87)</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(165)</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(331)</a:t>
                      </a:r>
                    </a:p>
                  </a:txBody>
                  <a:tcPr marL="91440" marR="91440" marT="45720" marB="45720">
                    <a:solidFill>
                      <a:srgbClr val="E9F3F1"/>
                    </a:solidFill>
                  </a:tcPr>
                </a:tc>
              </a:tr>
              <a:tr h="533400">
                <a:tc>
                  <a:txBody>
                    <a:bodyPr>
                      <a:noAutofit/>
                    </a:bodyPr>
                    <a:lstStyle/>
                    <a:p>
                      <a:r>
                        <a:rPr sz="1500" b="0">
                          <a:solidFill>
                            <a:srgbClr val="142F3A"/>
                          </a:solidFill>
                          <a:latin typeface="Helvetica Neue"/>
                          <a:ea typeface="Helvetica Neue"/>
                          <a:cs typeface="Helvetica Neue"/>
                        </a:rPr>
                        <a:t>Diskcache resharding v2</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(70)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(74)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(24)*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(59)</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(117)</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(143)</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(60)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V (83)</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A (39)</a:t>
                      </a:r>
                    </a:p>
                  </a:txBody>
                  <a:tcPr marL="91440" marR="91440" marT="45720" marB="45720">
                    <a:solidFill>
                      <a:srgbClr val="FFFFFF"/>
                    </a:solidFill>
                  </a:tcPr>
                </a:tc>
              </a:tr>
              <a:tr h="533400">
                <a:tc>
                  <a:txBody>
                    <a:bodyPr>
                      <a:noAutofit/>
                    </a:bodyPr>
                    <a:lstStyle/>
                    <a:p>
                      <a:r>
                        <a:rPr sz="1500" b="0">
                          <a:solidFill>
                            <a:srgbClr val="142F3A"/>
                          </a:solidFill>
                          <a:latin typeface="Helvetica Neue"/>
                          <a:ea typeface="Helvetica Neue"/>
                          <a:cs typeface="Helvetica Neue"/>
                        </a:rPr>
                        <a:t>Luigi generation target</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(67)</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(41)</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A (20)*</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(47)</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(57)</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(110)</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(63)</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(96)</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A (32)</a:t>
                      </a:r>
                    </a:p>
                  </a:txBody>
                  <a:tcPr marL="91440" marR="91440" marT="45720" marB="45720">
                    <a:solidFill>
                      <a:srgbClr val="E9F3F1"/>
                    </a:solidFill>
                  </a:tcPr>
                </a:tc>
              </a:tr>
              <a:tr h="533400">
                <a:tc>
                  <a:txBody>
                    <a:bodyPr>
                      <a:noAutofit/>
                    </a:bodyPr>
                    <a:lstStyle/>
                    <a:p>
                      <a:r>
                        <a:rPr sz="1500" b="0">
                          <a:solidFill>
                            <a:srgbClr val="142F3A"/>
                          </a:solidFill>
                          <a:latin typeface="Helvetica Neue"/>
                          <a:ea typeface="Helvetica Neue"/>
                          <a:cs typeface="Helvetica Neue"/>
                        </a:rPr>
                        <a:t>Rosbags storage writers</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(20)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(44)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(90)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(22)</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(29)</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(80)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(43)</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(53)</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(173)</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4D538DA-B39E-4BB4-B16F-A51A3A514F94}"/>
              </a:ext>
            </a:extLst>
          </p:cNvPr>
          <p:cNvSpPr>
            <a:spLocks xmlns:a="http://schemas.openxmlformats.org/drawingml/2006/main" noGrp="1"/>
          </p:cNvSpPr>
          <p:nvPr/>
        </p:nvSpPr>
        <p:spPr>
          <a:xfrm xmlns:a="http://schemas.openxmlformats.org/drawingml/2006/main">
            <a:off x="647700" y="5895975"/>
            <a:ext cx="10896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C75"/>
                </a:solidFill>
                <a:latin typeface="Helvetica Neue"/>
                <a:ea typeface="Helvetica Neue"/>
                <a:cs typeface="Helvetica Neue"/>
              </a:defRPr>
            </a:pPr>
            <a:r>
              <a:rPr sz="1575" b="0">
                <a:solidFill>
                  <a:srgbClr val="536C75"/>
                </a:solidFill>
                <a:latin typeface="Helvetica Neue"/>
                <a:ea typeface="Helvetica Neue"/>
                <a:cs typeface="Helvetica Neue"/>
              </a:rPr>
              <a:t>P pass / F scored failure / A agent timeout / V verifier timeout. (n) turns. * Service affected.</a:t>
            </a:r>
          </a:p>
        </p:txBody>
      </p:sp>
    </p:spTree>
    <p:extLst>
      <p:ext uri="{BB962C8B-B14F-4D97-AF65-F5344CB8AC3E}">
        <p14:creationId xmlns:p14="http://schemas.microsoft.com/office/powerpoint/2010/main" val="187158143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2E67DE5-9A8B-419C-97D2-2EADB8C34F15}"/>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Every model and effort cell (2 of 2)</a:t>
            </a:r>
          </a:p>
        </p:txBody>
      </p:sp>
      <p:sp>
        <p:nvSpPr>
          <p:cNvPr id="2" name="">
            <a:extLst xmlns:a="http://schemas.openxmlformats.org/drawingml/2006/main">
              <a:ext uri="{FF2B5EF4-FFF2-40B4-BE49-F238E27FC236}">
                <a16:creationId xmlns:a16="http://schemas.microsoft.com/office/drawing/2014/main" id="{E56D420B-6627-4AB0-8CA9-D966A7A05BC5}"/>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One counted result per task, model and effort. Repeats remain separate.</a:t>
            </a:r>
          </a:p>
        </p:txBody>
      </p:sp>
      <p:sp>
        <p:nvSpPr>
          <p:cNvPr id="3" name="">
            <a:extLst xmlns:a="http://schemas.openxmlformats.org/drawingml/2006/main">
              <a:ext uri="{FF2B5EF4-FFF2-40B4-BE49-F238E27FC236}">
                <a16:creationId xmlns:a16="http://schemas.microsoft.com/office/drawing/2014/main" id="{5AA48CA7-14BE-43D4-AD06-8F2E1541332F}"/>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BED3DAF-06FA-4ACF-ADF5-29F0AE9015FE}"/>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5" name="">
            <a:extLst xmlns:a="http://schemas.openxmlformats.org/drawingml/2006/main">
              <a:ext uri="{FF2B5EF4-FFF2-40B4-BE49-F238E27FC236}">
                <a16:creationId xmlns:a16="http://schemas.microsoft.com/office/drawing/2014/main" id="{055E3186-F8B7-4AD9-AFF1-0D287E8D851B}"/>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5</a:t>
            </a:r>
          </a:p>
        </p:txBody>
      </p:sp>
      <p:graphicFrame>
        <p:nvGraphicFramePr>
          <p:cNvPr id="13" name=""/>
          <p:cNvGraphicFramePr/>
          <p:nvPr/>
        </p:nvGraphicFramePr>
        <p:xfrm>
          <a:off xmlns:a="http://schemas.openxmlformats.org/drawingml/2006/main" x="647700" y="1952625"/>
          <a:ext xmlns:a="http://schemas.openxmlformats.org/drawingml/2006/main" cx="10896600" cy="3733800"/>
        </p:xfrm>
        <a:graphic xmlns:a="http://schemas.openxmlformats.org/drawingml/2006/main">
          <a:graphicData uri="http://schemas.openxmlformats.org/drawingml/2006/table">
            <a:tbl>
              <a:tblPr/>
              <a:tblGrid>
                <a:gridCol w="2667000"/>
                <a:gridCol w="914400"/>
                <a:gridCol w="914400"/>
                <a:gridCol w="914400"/>
                <a:gridCol w="914400"/>
                <a:gridCol w="914400"/>
                <a:gridCol w="914400"/>
                <a:gridCol w="914400"/>
                <a:gridCol w="914400"/>
                <a:gridCol w="914400"/>
              </a:tblGrid>
              <a:tr h="622300">
                <a:tc>
                  <a:txBody>
                    <a:bodyPr>
                      <a:noAutofit/>
                    </a:bodyPr>
                    <a:lstStyle/>
                    <a:p>
                      <a:r>
                        <a:rPr sz="1500" b="1">
                          <a:solidFill>
                            <a:srgbClr val="FFFFFF"/>
                          </a:solidFill>
                          <a:latin typeface="Helvetica Neue"/>
                          <a:ea typeface="Helvetica Neue"/>
                          <a:cs typeface="Helvetica Neue"/>
                        </a:rPr>
                        <a:t>Task</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Fable</a:t>
                      </a:r>
                    </a:p>
                    <a:p>
                      <a:r>
                        <a:rPr sz="1500" b="1">
                          <a:solidFill>
                            <a:srgbClr val="FFFFFF"/>
                          </a:solidFill>
                          <a:latin typeface="Helvetica Neue"/>
                          <a:ea typeface="Helvetica Neue"/>
                          <a:cs typeface="Helvetica Neue"/>
                        </a:rPr>
                        <a:t>Med</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Fable</a:t>
                      </a:r>
                    </a:p>
                    <a:p>
                      <a:r>
                        <a:rPr sz="1500" b="1">
                          <a:solidFill>
                            <a:srgbClr val="FFFFFF"/>
                          </a:solidFill>
                          <a:latin typeface="Helvetica Neue"/>
                          <a:ea typeface="Helvetica Neue"/>
                          <a:cs typeface="Helvetica Neue"/>
                        </a:rPr>
                        <a:t>High</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Fable</a:t>
                      </a:r>
                    </a:p>
                    <a:p>
                      <a:r>
                        <a:rPr sz="1500" b="1">
                          <a:solidFill>
                            <a:srgbClr val="FFFFFF"/>
                          </a:solidFill>
                          <a:latin typeface="Helvetica Neue"/>
                          <a:ea typeface="Helvetica Neue"/>
                          <a:cs typeface="Helvetica Neue"/>
                        </a:rPr>
                        <a:t>Max</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Opus</a:t>
                      </a:r>
                    </a:p>
                    <a:p>
                      <a:r>
                        <a:rPr sz="1500" b="1">
                          <a:solidFill>
                            <a:srgbClr val="FFFFFF"/>
                          </a:solidFill>
                          <a:latin typeface="Helvetica Neue"/>
                          <a:ea typeface="Helvetica Neue"/>
                          <a:cs typeface="Helvetica Neue"/>
                        </a:rPr>
                        <a:t>Med</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Opus</a:t>
                      </a:r>
                    </a:p>
                    <a:p>
                      <a:r>
                        <a:rPr sz="1500" b="1">
                          <a:solidFill>
                            <a:srgbClr val="FFFFFF"/>
                          </a:solidFill>
                          <a:latin typeface="Helvetica Neue"/>
                          <a:ea typeface="Helvetica Neue"/>
                          <a:cs typeface="Helvetica Neue"/>
                        </a:rPr>
                        <a:t>High</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Opus</a:t>
                      </a:r>
                    </a:p>
                    <a:p>
                      <a:r>
                        <a:rPr sz="1500" b="1">
                          <a:solidFill>
                            <a:srgbClr val="FFFFFF"/>
                          </a:solidFill>
                          <a:latin typeface="Helvetica Neue"/>
                          <a:ea typeface="Helvetica Neue"/>
                          <a:cs typeface="Helvetica Neue"/>
                        </a:rPr>
                        <a:t>Max</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Sonnet</a:t>
                      </a:r>
                    </a:p>
                    <a:p>
                      <a:r>
                        <a:rPr sz="1500" b="1">
                          <a:solidFill>
                            <a:srgbClr val="FFFFFF"/>
                          </a:solidFill>
                          <a:latin typeface="Helvetica Neue"/>
                          <a:ea typeface="Helvetica Neue"/>
                          <a:cs typeface="Helvetica Neue"/>
                        </a:rPr>
                        <a:t>Med</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Sonnet</a:t>
                      </a:r>
                    </a:p>
                    <a:p>
                      <a:r>
                        <a:rPr sz="1500" b="1">
                          <a:solidFill>
                            <a:srgbClr val="FFFFFF"/>
                          </a:solidFill>
                          <a:latin typeface="Helvetica Neue"/>
                          <a:ea typeface="Helvetica Neue"/>
                          <a:cs typeface="Helvetica Neue"/>
                        </a:rPr>
                        <a:t>High</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Sonnet</a:t>
                      </a:r>
                    </a:p>
                    <a:p>
                      <a:r>
                        <a:rPr sz="1500" b="1">
                          <a:solidFill>
                            <a:srgbClr val="FFFFFF"/>
                          </a:solidFill>
                          <a:latin typeface="Helvetica Neue"/>
                          <a:ea typeface="Helvetica Neue"/>
                          <a:cs typeface="Helvetica Neue"/>
                        </a:rPr>
                        <a:t>Max</a:t>
                      </a:r>
                    </a:p>
                  </a:txBody>
                  <a:tcPr marL="91440" marR="91440" marT="45720" marB="45720">
                    <a:solidFill>
                      <a:srgbClr val="142F3A"/>
                    </a:solidFill>
                  </a:tcPr>
                </a:tc>
              </a:tr>
              <a:tr h="622300">
                <a:tc>
                  <a:txBody>
                    <a:bodyPr>
                      <a:noAutofit/>
                    </a:bodyPr>
                    <a:lstStyle/>
                    <a:p>
                      <a:r>
                        <a:rPr sz="1500" b="0">
                          <a:solidFill>
                            <a:srgbClr val="142F3A"/>
                          </a:solidFill>
                          <a:latin typeface="Helvetica Neue"/>
                          <a:ea typeface="Helvetica Neue"/>
                          <a:cs typeface="Helvetica Neue"/>
                        </a:rPr>
                        <a:t>Zarr value codecs</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(63)</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(93)</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(153)</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(88)</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(105)</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(96)</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(117)</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(142)</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(335)</a:t>
                      </a:r>
                    </a:p>
                  </a:txBody>
                  <a:tcPr marL="91440" marR="91440" marT="45720" marB="45720">
                    <a:solidFill>
                      <a:srgbClr val="E9F3F1"/>
                    </a:solidFill>
                  </a:tcPr>
                </a:tc>
              </a:tr>
              <a:tr h="622300">
                <a:tc>
                  <a:txBody>
                    <a:bodyPr>
                      <a:noAutofit/>
                    </a:bodyPr>
                    <a:lstStyle/>
                    <a:p>
                      <a:r>
                        <a:rPr sz="1500" b="0">
                          <a:solidFill>
                            <a:srgbClr val="142F3A"/>
                          </a:solidFill>
                          <a:latin typeface="Helvetica Neue"/>
                          <a:ea typeface="Helvetica Neue"/>
                          <a:cs typeface="Helvetica Neue"/>
                        </a:rPr>
                        <a:t>Burn ONNX weights</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(162)</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(194)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(260)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(134)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(230)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(220)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(217)</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(288)</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(446)</a:t>
                      </a:r>
                    </a:p>
                  </a:txBody>
                  <a:tcPr marL="91440" marR="91440" marT="45720" marB="45720">
                    <a:solidFill>
                      <a:srgbClr val="FFFFFF"/>
                    </a:solidFill>
                  </a:tcPr>
                </a:tc>
              </a:tr>
              <a:tr h="622300">
                <a:tc>
                  <a:txBody>
                    <a:bodyPr>
                      <a:noAutofit/>
                    </a:bodyPr>
                    <a:lstStyle/>
                    <a:p>
                      <a:r>
                        <a:rPr sz="1500" b="0">
                          <a:solidFill>
                            <a:srgbClr val="142F3A"/>
                          </a:solidFill>
                          <a:latin typeface="Helvetica Neue"/>
                          <a:ea typeface="Helvetica Neue"/>
                          <a:cs typeface="Helvetica Neue"/>
                        </a:rPr>
                        <a:t>Burn checkpoint reader v4</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(92)</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(138)</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(158)</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(76)</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(144)</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(158)</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(42)</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(251)</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(323)</a:t>
                      </a:r>
                    </a:p>
                  </a:txBody>
                  <a:tcPr marL="91440" marR="91440" marT="45720" marB="45720">
                    <a:solidFill>
                      <a:srgbClr val="E9F3F1"/>
                    </a:solidFill>
                  </a:tcPr>
                </a:tc>
              </a:tr>
              <a:tr h="622300">
                <a:tc>
                  <a:txBody>
                    <a:bodyPr>
                      <a:noAutofit/>
                    </a:bodyPr>
                    <a:lstStyle/>
                    <a:p>
                      <a:r>
                        <a:rPr sz="1500" b="0">
                          <a:solidFill>
                            <a:srgbClr val="142F3A"/>
                          </a:solidFill>
                          <a:latin typeface="Helvetica Neue"/>
                          <a:ea typeface="Helvetica Neue"/>
                          <a:cs typeface="Helvetica Neue"/>
                        </a:rPr>
                        <a:t>Rerun chunk optimizer</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(115)</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(110)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(154)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(72)</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(104)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(123)</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(138)</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(193)</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(383)</a:t>
                      </a:r>
                    </a:p>
                  </a:txBody>
                  <a:tcPr marL="91440" marR="91440" marT="45720" marB="45720">
                    <a:solidFill>
                      <a:srgbClr val="FFFFFF"/>
                    </a:solidFill>
                  </a:tcPr>
                </a:tc>
              </a:tr>
              <a:tr h="622300">
                <a:tc>
                  <a:txBody>
                    <a:bodyPr>
                      <a:noAutofit/>
                    </a:bodyPr>
                    <a:lstStyle/>
                    <a:p>
                      <a:r>
                        <a:rPr sz="1500" b="0">
                          <a:solidFill>
                            <a:srgbClr val="142F3A"/>
                          </a:solidFill>
                          <a:latin typeface="Helvetica Neue"/>
                          <a:ea typeface="Helvetica Neue"/>
                          <a:cs typeface="Helvetica Neue"/>
                        </a:rPr>
                        <a:t>Zenoh timestamps v3</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(166)</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(188)</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(216)</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(176)</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(217)</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(245)</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(377)</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(474)</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(626)</a:t>
                      </a:r>
                    </a:p>
                  </a:txBody>
                  <a:tcPr marL="91440" marR="91440" marT="45720" marB="45720">
                    <a:solidFill>
                      <a:srgbClr val="E9F3F1"/>
                    </a:solidFill>
                  </a:tcPr>
                </a:tc>
              </a:tr>
            </a:tbl>
          </a:graphicData>
        </a:graphic>
      </p:graphicFrame>
      <p:sp>
        <p:nvSpPr>
          <p:cNvPr id="7" name="">
            <a:extLst xmlns:a="http://schemas.openxmlformats.org/drawingml/2006/main">
              <a:ext uri="{FF2B5EF4-FFF2-40B4-BE49-F238E27FC236}">
                <a16:creationId xmlns:a16="http://schemas.microsoft.com/office/drawing/2014/main" id="{60F715E1-C986-4245-BAE7-10AA09DE6CCB}"/>
              </a:ext>
            </a:extLst>
          </p:cNvPr>
          <p:cNvSpPr>
            <a:spLocks xmlns:a="http://schemas.openxmlformats.org/drawingml/2006/main" noGrp="1"/>
          </p:cNvSpPr>
          <p:nvPr/>
        </p:nvSpPr>
        <p:spPr>
          <a:xfrm xmlns:a="http://schemas.openxmlformats.org/drawingml/2006/main">
            <a:off x="647700" y="5895975"/>
            <a:ext cx="10896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C75"/>
                </a:solidFill>
                <a:latin typeface="Helvetica Neue"/>
                <a:ea typeface="Helvetica Neue"/>
                <a:cs typeface="Helvetica Neue"/>
              </a:defRPr>
            </a:pPr>
            <a:r>
              <a:rPr sz="1575" b="0">
                <a:solidFill>
                  <a:srgbClr val="536C75"/>
                </a:solidFill>
                <a:latin typeface="Helvetica Neue"/>
                <a:ea typeface="Helvetica Neue"/>
                <a:cs typeface="Helvetica Neue"/>
              </a:rPr>
              <a:t>P pass / F scored failure / A agent timeout / V verifier timeout. (n) turns. * Service affected.</a:t>
            </a:r>
          </a:p>
        </p:txBody>
      </p:sp>
    </p:spTree>
    <p:extLst>
      <p:ext uri="{BB962C8B-B14F-4D97-AF65-F5344CB8AC3E}">
        <p14:creationId xmlns:p14="http://schemas.microsoft.com/office/powerpoint/2010/main" val="132257435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886AED3-EBC0-45C9-805C-F22994A0A28F}"/>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C++: API and playback integration</a:t>
            </a:r>
          </a:p>
        </p:txBody>
      </p:sp>
      <p:sp>
        <p:nvSpPr>
          <p:cNvPr id="2" name="">
            <a:extLst xmlns:a="http://schemas.openxmlformats.org/drawingml/2006/main">
              <a:ext uri="{FF2B5EF4-FFF2-40B4-BE49-F238E27FC236}">
                <a16:creationId xmlns:a16="http://schemas.microsoft.com/office/drawing/2014/main" id="{B2F6CC0D-0318-4F1C-9E7F-BA5CF3713E24}"/>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Nine first results per task. Turns are the median among successful trials.</a:t>
            </a:r>
          </a:p>
        </p:txBody>
      </p:sp>
      <p:sp>
        <p:nvSpPr>
          <p:cNvPr id="3" name="">
            <a:extLst xmlns:a="http://schemas.openxmlformats.org/drawingml/2006/main">
              <a:ext uri="{FF2B5EF4-FFF2-40B4-BE49-F238E27FC236}">
                <a16:creationId xmlns:a16="http://schemas.microsoft.com/office/drawing/2014/main" id="{4EA166B7-CE99-462C-82B3-313856072532}"/>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1FFB5BE-899C-4265-A25B-C21B764E65B7}"/>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5" name="">
            <a:extLst xmlns:a="http://schemas.openxmlformats.org/drawingml/2006/main">
              <a:ext uri="{FF2B5EF4-FFF2-40B4-BE49-F238E27FC236}">
                <a16:creationId xmlns:a16="http://schemas.microsoft.com/office/drawing/2014/main" id="{9B8643BE-D4AA-4D0F-AB4E-A1086B0F08FC}"/>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6</a:t>
            </a:r>
          </a:p>
        </p:txBody>
      </p:sp>
      <p:graphicFrame>
        <p:nvGraphicFramePr>
          <p:cNvPr id="12" name=""/>
          <p:cNvGraphicFramePr/>
          <p:nvPr/>
        </p:nvGraphicFramePr>
        <p:xfrm>
          <a:off xmlns:a="http://schemas.openxmlformats.org/drawingml/2006/main" x="647700" y="1790700"/>
          <a:ext xmlns:a="http://schemas.openxmlformats.org/drawingml/2006/main" cx="10896600" cy="4019550"/>
        </p:xfrm>
        <a:graphic xmlns:a="http://schemas.openxmlformats.org/drawingml/2006/main">
          <a:graphicData uri="http://schemas.openxmlformats.org/drawingml/2006/table">
            <a:tbl>
              <a:tblPr/>
              <a:tblGrid>
                <a:gridCol w="2705100"/>
                <a:gridCol w="3638550"/>
                <a:gridCol w="4552950"/>
              </a:tblGrid>
              <a:tr h="1004888">
                <a:tc>
                  <a:txBody>
                    <a:bodyPr>
                      <a:noAutofit/>
                    </a:bodyPr>
                    <a:lstStyle/>
                    <a:p>
                      <a:r>
                        <a:rPr sz="1575" b="1">
                          <a:solidFill>
                            <a:srgbClr val="FFFFFF"/>
                          </a:solidFill>
                          <a:latin typeface="Helvetica Neue"/>
                          <a:ea typeface="Helvetica Neue"/>
                          <a:cs typeface="Helvetica Neue"/>
                        </a:rPr>
                        <a:t>Task / first results</a:t>
                      </a:r>
                    </a:p>
                  </a:txBody>
                  <a:tcPr marL="91440" marR="91440" marT="45720" marB="45720">
                    <a:solidFill>
                      <a:srgbClr val="142F3A"/>
                    </a:solidFill>
                  </a:tcPr>
                </a:tc>
                <a:tc>
                  <a:txBody>
                    <a:bodyPr>
                      <a:noAutofit/>
                    </a:bodyPr>
                    <a:lstStyle/>
                    <a:p>
                      <a:r>
                        <a:rPr sz="1575" b="1">
                          <a:solidFill>
                            <a:srgbClr val="FFFFFF"/>
                          </a:solidFill>
                          <a:latin typeface="Helvetica Neue"/>
                          <a:ea typeface="Helvetica Neue"/>
                          <a:cs typeface="Helvetica Neue"/>
                        </a:rPr>
                        <a:t>Required behavior</a:t>
                      </a:r>
                    </a:p>
                  </a:txBody>
                  <a:tcPr marL="91440" marR="91440" marT="45720" marB="45720">
                    <a:solidFill>
                      <a:srgbClr val="142F3A"/>
                    </a:solidFill>
                  </a:tcPr>
                </a:tc>
                <a:tc>
                  <a:txBody>
                    <a:bodyPr>
                      <a:noAutofit/>
                    </a:bodyPr>
                    <a:lstStyle/>
                    <a:p>
                      <a:r>
                        <a:rPr sz="1575" b="1">
                          <a:solidFill>
                            <a:srgbClr val="FFFFFF"/>
                          </a:solidFill>
                          <a:latin typeface="Helvetica Neue"/>
                          <a:ea typeface="Helvetica Neue"/>
                          <a:cs typeface="Helvetica Neue"/>
                        </a:rPr>
                        <a:t>Interpretation</a:t>
                      </a:r>
                    </a:p>
                  </a:txBody>
                  <a:tcPr marL="91440" marR="91440" marT="45720" marB="45720">
                    <a:solidFill>
                      <a:srgbClr val="142F3A"/>
                    </a:solidFill>
                  </a:tcPr>
                </a:tc>
              </a:tr>
              <a:tr h="1004888">
                <a:tc>
                  <a:txBody>
                    <a:bodyPr>
                      <a:noAutofit/>
                    </a:bodyPr>
                    <a:lstStyle/>
                    <a:p>
                      <a:r>
                        <a:rPr sz="1575" b="0">
                          <a:solidFill>
                            <a:srgbClr val="142F3A"/>
                          </a:solidFill>
                          <a:latin typeface="Helvetica Neue"/>
                          <a:ea typeface="Helvetica Neue"/>
                          <a:cs typeface="Helvetica Neue"/>
                        </a:rPr>
                        <a:t>Foxglove parameters</a:t>
                      </a:r>
                    </a:p>
                    <a:p>
                      <a:r>
                        <a:rPr sz="1575" b="0">
                          <a:solidFill>
                            <a:srgbClr val="142F3A"/>
                          </a:solidFill>
                          <a:latin typeface="Helvetica Neue"/>
                          <a:ea typeface="Helvetica Neue"/>
                          <a:cs typeface="Helvetica Neue"/>
                        </a:rPr>
                        <a:t>9/9 pass · 163 turns</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Expose delayed responses through Rust, C FFI and C++ while preserving ownership.</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All nine pass above 75 turns. Sustained work, with no observed failure in this first cohort.</a:t>
                      </a:r>
                    </a:p>
                  </a:txBody>
                  <a:tcPr marL="91440" marR="91440" marT="45720" marB="45720">
                    <a:solidFill>
                      <a:srgbClr val="E9F3F1"/>
                    </a:solidFill>
                  </a:tcPr>
                </a:tc>
              </a:tr>
              <a:tr h="1004888">
                <a:tc>
                  <a:txBody>
                    <a:bodyPr>
                      <a:noAutofit/>
                    </a:bodyPr>
                    <a:lstStyle/>
                    <a:p>
                      <a:r>
                        <a:rPr sz="1575" b="0">
                          <a:solidFill>
                            <a:srgbClr val="142F3A"/>
                          </a:solidFill>
                          <a:latin typeface="Helvetica Neue"/>
                          <a:ea typeface="Helvetica Neue"/>
                          <a:cs typeface="Helvetica Neue"/>
                        </a:rPr>
                        <a:t>rosbag2 mixed playback</a:t>
                      </a:r>
                    </a:p>
                    <a:p>
                      <a:r>
                        <a:rPr sz="1575" b="0">
                          <a:solidFill>
                            <a:srgbClr val="142F3A"/>
                          </a:solidFill>
                          <a:latin typeface="Helvetica Neue"/>
                          <a:ea typeface="Helvetica Neue"/>
                          <a:cs typeface="Helvetica Neue"/>
                        </a:rPr>
                        <a:t>7/9 pass · 154 turns</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Play mixed serialization formats and filter topics while preserving raw rewrite behavior.</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One zero violates warning rules. The other fails an ambiguous writer assertion. Treat them separately.</a:t>
                      </a:r>
                    </a:p>
                  </a:txBody>
                  <a:tcPr marL="91440" marR="91440" marT="45720" marB="45720">
                    <a:solidFill>
                      <a:srgbClr val="FFFFFF"/>
                    </a:solidFill>
                  </a:tcPr>
                </a:tc>
              </a:tr>
              <a:tr h="1004888">
                <a:tc>
                  <a:txBody>
                    <a:bodyPr>
                      <a:noAutofit/>
                    </a:bodyPr>
                    <a:lstStyle/>
                    <a:p>
                      <a:r>
                        <a:rPr sz="1575" b="0">
                          <a:solidFill>
                            <a:srgbClr val="142F3A"/>
                          </a:solidFill>
                          <a:latin typeface="Helvetica Neue"/>
                          <a:ea typeface="Helvetica Neue"/>
                          <a:cs typeface="Helvetica Neue"/>
                        </a:rPr>
                        <a:t>Zenoh C++ connectivity</a:t>
                      </a:r>
                    </a:p>
                    <a:p>
                      <a:r>
                        <a:rPr sz="1575" b="0">
                          <a:solidFill>
                            <a:srgbClr val="142F3A"/>
                          </a:solidFill>
                          <a:latin typeface="Helvetica Neue"/>
                          <a:ea typeface="Helvetica Neue"/>
                          <a:cs typeface="Helvetica Neue"/>
                        </a:rPr>
                        <a:t>8/9 pass · 106 turns</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Wrap transport and link events across two C++ backends with ownership and callback parity.</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The only zero is an upstream segfault. New connectivity checks pass. Its cause remains unresolved.</a:t>
                      </a:r>
                    </a:p>
                  </a:txBody>
                  <a:tcPr marL="91440" marR="91440" marT="45720" marB="45720">
                    <a:solidFill>
                      <a:srgbClr val="E9F3F1"/>
                    </a:solidFill>
                  </a:tcPr>
                </a:tc>
              </a:tr>
            </a:tbl>
          </a:graphicData>
        </a:graphic>
      </p:graphicFrame>
    </p:spTree>
    <p:extLst>
      <p:ext uri="{BB962C8B-B14F-4D97-AF65-F5344CB8AC3E}">
        <p14:creationId xmlns:p14="http://schemas.microsoft.com/office/powerpoint/2010/main" val="6049246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D0B34F-E50D-4A8B-9E26-C3939F50BAA5}"/>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Python: persistence and format contracts</a:t>
            </a:r>
          </a:p>
        </p:txBody>
      </p:sp>
      <p:sp>
        <p:nvSpPr>
          <p:cNvPr id="2" name="">
            <a:extLst xmlns:a="http://schemas.openxmlformats.org/drawingml/2006/main">
              <a:ext uri="{FF2B5EF4-FFF2-40B4-BE49-F238E27FC236}">
                <a16:creationId xmlns:a16="http://schemas.microsoft.com/office/drawing/2014/main" id="{55690E8F-DDB8-4AE3-8B2B-412E79F4E3A0}"/>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Nine first results per task. Turns are the median among successful trials.</a:t>
            </a:r>
          </a:p>
        </p:txBody>
      </p:sp>
      <p:sp>
        <p:nvSpPr>
          <p:cNvPr id="3" name="">
            <a:extLst xmlns:a="http://schemas.openxmlformats.org/drawingml/2006/main">
              <a:ext uri="{FF2B5EF4-FFF2-40B4-BE49-F238E27FC236}">
                <a16:creationId xmlns:a16="http://schemas.microsoft.com/office/drawing/2014/main" id="{C26E03BC-2872-42E9-B7C8-6F0846AAE8F3}"/>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7AE4468-EF61-4988-A3E9-048CD8906BE0}"/>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5" name="">
            <a:extLst xmlns:a="http://schemas.openxmlformats.org/drawingml/2006/main">
              <a:ext uri="{FF2B5EF4-FFF2-40B4-BE49-F238E27FC236}">
                <a16:creationId xmlns:a16="http://schemas.microsoft.com/office/drawing/2014/main" id="{4CCF2302-3BFE-4415-848D-F147BFA4B704}"/>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7</a:t>
            </a:r>
          </a:p>
        </p:txBody>
      </p:sp>
      <p:graphicFrame>
        <p:nvGraphicFramePr>
          <p:cNvPr id="12" name=""/>
          <p:cNvGraphicFramePr/>
          <p:nvPr/>
        </p:nvGraphicFramePr>
        <p:xfrm>
          <a:off xmlns:a="http://schemas.openxmlformats.org/drawingml/2006/main" x="647700" y="1790700"/>
          <a:ext xmlns:a="http://schemas.openxmlformats.org/drawingml/2006/main" cx="10896600" cy="4019550"/>
        </p:xfrm>
        <a:graphic xmlns:a="http://schemas.openxmlformats.org/drawingml/2006/main">
          <a:graphicData uri="http://schemas.openxmlformats.org/drawingml/2006/table">
            <a:tbl>
              <a:tblPr/>
              <a:tblGrid>
                <a:gridCol w="2705100"/>
                <a:gridCol w="3638550"/>
                <a:gridCol w="4552950"/>
              </a:tblGrid>
              <a:tr h="803910">
                <a:tc>
                  <a:txBody>
                    <a:bodyPr>
                      <a:noAutofit/>
                    </a:bodyPr>
                    <a:lstStyle/>
                    <a:p>
                      <a:r>
                        <a:rPr sz="1575" b="1">
                          <a:solidFill>
                            <a:srgbClr val="FFFFFF"/>
                          </a:solidFill>
                          <a:latin typeface="Helvetica Neue"/>
                          <a:ea typeface="Helvetica Neue"/>
                          <a:cs typeface="Helvetica Neue"/>
                        </a:rPr>
                        <a:t>Task / first results</a:t>
                      </a:r>
                    </a:p>
                  </a:txBody>
                  <a:tcPr marL="91440" marR="91440" marT="45720" marB="45720">
                    <a:solidFill>
                      <a:srgbClr val="142F3A"/>
                    </a:solidFill>
                  </a:tcPr>
                </a:tc>
                <a:tc>
                  <a:txBody>
                    <a:bodyPr>
                      <a:noAutofit/>
                    </a:bodyPr>
                    <a:lstStyle/>
                    <a:p>
                      <a:r>
                        <a:rPr sz="1575" b="1">
                          <a:solidFill>
                            <a:srgbClr val="FFFFFF"/>
                          </a:solidFill>
                          <a:latin typeface="Helvetica Neue"/>
                          <a:ea typeface="Helvetica Neue"/>
                          <a:cs typeface="Helvetica Neue"/>
                        </a:rPr>
                        <a:t>Required behavior</a:t>
                      </a:r>
                    </a:p>
                  </a:txBody>
                  <a:tcPr marL="91440" marR="91440" marT="45720" marB="45720">
                    <a:solidFill>
                      <a:srgbClr val="142F3A"/>
                    </a:solidFill>
                  </a:tcPr>
                </a:tc>
                <a:tc>
                  <a:txBody>
                    <a:bodyPr>
                      <a:noAutofit/>
                    </a:bodyPr>
                    <a:lstStyle/>
                    <a:p>
                      <a:r>
                        <a:rPr sz="1575" b="1">
                          <a:solidFill>
                            <a:srgbClr val="FFFFFF"/>
                          </a:solidFill>
                          <a:latin typeface="Helvetica Neue"/>
                          <a:ea typeface="Helvetica Neue"/>
                          <a:cs typeface="Helvetica Neue"/>
                        </a:rPr>
                        <a:t>Interpretation</a:t>
                      </a:r>
                    </a:p>
                  </a:txBody>
                  <a:tcPr marL="91440" marR="91440" marT="45720" marB="45720">
                    <a:solidFill>
                      <a:srgbClr val="142F3A"/>
                    </a:solidFill>
                  </a:tcPr>
                </a:tc>
              </a:tr>
              <a:tr h="803910">
                <a:tc>
                  <a:txBody>
                    <a:bodyPr>
                      <a:noAutofit/>
                    </a:bodyPr>
                    <a:lstStyle/>
                    <a:p>
                      <a:r>
                        <a:rPr sz="1575" b="0">
                          <a:solidFill>
                            <a:srgbClr val="142F3A"/>
                          </a:solidFill>
                          <a:latin typeface="Helvetica Neue"/>
                          <a:ea typeface="Helvetica Neue"/>
                          <a:cs typeface="Helvetica Neue"/>
                        </a:rPr>
                        <a:t>Diskcache resharding</a:t>
                      </a:r>
                    </a:p>
                    <a:p>
                      <a:r>
                        <a:rPr sz="1575" b="0">
                          <a:solidFill>
                            <a:srgbClr val="142F3A"/>
                          </a:solidFill>
                          <a:latin typeface="Helvetica Neue"/>
                          <a:ea typeface="Helvetica Neue"/>
                          <a:cs typeface="Helvetica Neue"/>
                        </a:rPr>
                        <a:t>2/9 pass · 93.5 turns</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Reshard live caches with crash recovery and mutation reconciliation.</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Timeouts and quota affect the grid. Some failures resurrect deleted data.</a:t>
                      </a:r>
                    </a:p>
                  </a:txBody>
                  <a:tcPr marL="91440" marR="91440" marT="45720" marB="45720">
                    <a:solidFill>
                      <a:srgbClr val="E9F3F1"/>
                    </a:solidFill>
                  </a:tcPr>
                </a:tc>
              </a:tr>
              <a:tr h="803910">
                <a:tc>
                  <a:txBody>
                    <a:bodyPr>
                      <a:noAutofit/>
                    </a:bodyPr>
                    <a:lstStyle/>
                    <a:p>
                      <a:r>
                        <a:rPr sz="1575" b="0">
                          <a:solidFill>
                            <a:srgbClr val="142F3A"/>
                          </a:solidFill>
                          <a:latin typeface="Helvetica Neue"/>
                          <a:ea typeface="Helvetica Neue"/>
                          <a:cs typeface="Helvetica Neue"/>
                        </a:rPr>
                        <a:t>Luigi generation target</a:t>
                      </a:r>
                    </a:p>
                    <a:p>
                      <a:r>
                        <a:rPr sz="1575" b="0">
                          <a:solidFill>
                            <a:srgbClr val="142F3A"/>
                          </a:solidFill>
                          <a:latin typeface="Helvetica Neue"/>
                          <a:ea typeface="Helvetica Neue"/>
                          <a:cs typeface="Helvetica Neue"/>
                        </a:rPr>
                        <a:t>4/9 pass · 52 turns</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Publish atomic file generations with stable snapshots and crash recovery.</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Some lifecycle rules fail. One of the two timeouts is gateway affected.</a:t>
                      </a:r>
                    </a:p>
                  </a:txBody>
                  <a:tcPr marL="91440" marR="91440" marT="45720" marB="45720">
                    <a:solidFill>
                      <a:srgbClr val="FFFFFF"/>
                    </a:solidFill>
                  </a:tcPr>
                </a:tc>
              </a:tr>
              <a:tr h="803910">
                <a:tc>
                  <a:txBody>
                    <a:bodyPr>
                      <a:noAutofit/>
                    </a:bodyPr>
                    <a:lstStyle/>
                    <a:p>
                      <a:r>
                        <a:rPr sz="1575" b="0">
                          <a:solidFill>
                            <a:srgbClr val="142F3A"/>
                          </a:solidFill>
                          <a:latin typeface="Helvetica Neue"/>
                          <a:ea typeface="Helvetica Neue"/>
                          <a:cs typeface="Helvetica Neue"/>
                        </a:rPr>
                        <a:t>Rosbags storage writers</a:t>
                      </a:r>
                    </a:p>
                    <a:p>
                      <a:r>
                        <a:rPr sz="1575" b="0">
                          <a:solidFill>
                            <a:srgbClr val="142F3A"/>
                          </a:solidFill>
                          <a:latin typeface="Helvetica Neue"/>
                          <a:ea typeface="Helvetica Neue"/>
                          <a:cs typeface="Helvetica Neue"/>
                        </a:rPr>
                        <a:t>9/9 pass · 44 turns</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Write SQLite3 and MCAP bags with metadata, compression and interoperability.</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All nine pass. Only 3/9 successes exceed 75 turns. No observed failure headroom.</a:t>
                      </a:r>
                    </a:p>
                  </a:txBody>
                  <a:tcPr marL="91440" marR="91440" marT="45720" marB="45720">
                    <a:solidFill>
                      <a:srgbClr val="E9F3F1"/>
                    </a:solidFill>
                  </a:tcPr>
                </a:tc>
              </a:tr>
              <a:tr h="803910">
                <a:tc>
                  <a:txBody>
                    <a:bodyPr>
                      <a:noAutofit/>
                    </a:bodyPr>
                    <a:lstStyle/>
                    <a:p>
                      <a:r>
                        <a:rPr sz="1575" b="0">
                          <a:solidFill>
                            <a:srgbClr val="142F3A"/>
                          </a:solidFill>
                          <a:latin typeface="Helvetica Neue"/>
                          <a:ea typeface="Helvetica Neue"/>
                          <a:cs typeface="Helvetica Neue"/>
                        </a:rPr>
                        <a:t>Zarr value codecs</a:t>
                      </a:r>
                    </a:p>
                    <a:p>
                      <a:r>
                        <a:rPr sz="1575" b="0">
                          <a:solidFill>
                            <a:srgbClr val="142F3A"/>
                          </a:solidFill>
                          <a:latin typeface="Helvetica Neue"/>
                          <a:ea typeface="Helvetica Neue"/>
                          <a:cs typeface="Helvetica Neue"/>
                        </a:rPr>
                        <a:t>6/9 pass · 100.5 turns</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Compose cast and scale/offset codecs with exact metadata and integer semantics.</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Cast-value parity passes. Validation, JSON and integer scale/offset failures remain.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5186465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C53F02-2626-4998-B12B-36D2B9D6F031}"/>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Rust: substantial work with distinct failure types</a:t>
            </a:r>
          </a:p>
        </p:txBody>
      </p:sp>
      <p:sp>
        <p:nvSpPr>
          <p:cNvPr id="2" name="">
            <a:extLst xmlns:a="http://schemas.openxmlformats.org/drawingml/2006/main">
              <a:ext uri="{FF2B5EF4-FFF2-40B4-BE49-F238E27FC236}">
                <a16:creationId xmlns:a16="http://schemas.microsoft.com/office/drawing/2014/main" id="{9125C793-ED0B-4A53-8E42-62A8B0724770}"/>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Nine first results per task. Turns are the median among successful trials.</a:t>
            </a:r>
          </a:p>
        </p:txBody>
      </p:sp>
      <p:sp>
        <p:nvSpPr>
          <p:cNvPr id="3" name="">
            <a:extLst xmlns:a="http://schemas.openxmlformats.org/drawingml/2006/main">
              <a:ext uri="{FF2B5EF4-FFF2-40B4-BE49-F238E27FC236}">
                <a16:creationId xmlns:a16="http://schemas.microsoft.com/office/drawing/2014/main" id="{FD168BCF-B5B1-4586-904B-99B008FCD577}"/>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CB61950-9E66-47C1-97D1-D42A143726E2}"/>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5" name="">
            <a:extLst xmlns:a="http://schemas.openxmlformats.org/drawingml/2006/main">
              <a:ext uri="{FF2B5EF4-FFF2-40B4-BE49-F238E27FC236}">
                <a16:creationId xmlns:a16="http://schemas.microsoft.com/office/drawing/2014/main" id="{C915FDB2-0B58-410F-BDD6-3A424BBD03FE}"/>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8</a:t>
            </a:r>
          </a:p>
        </p:txBody>
      </p:sp>
      <p:graphicFrame>
        <p:nvGraphicFramePr>
          <p:cNvPr id="12" name=""/>
          <p:cNvGraphicFramePr/>
          <p:nvPr/>
        </p:nvGraphicFramePr>
        <p:xfrm>
          <a:off xmlns:a="http://schemas.openxmlformats.org/drawingml/2006/main" x="647700" y="1790700"/>
          <a:ext xmlns:a="http://schemas.openxmlformats.org/drawingml/2006/main" cx="10896600" cy="4019550"/>
        </p:xfrm>
        <a:graphic xmlns:a="http://schemas.openxmlformats.org/drawingml/2006/main">
          <a:graphicData uri="http://schemas.openxmlformats.org/drawingml/2006/table">
            <a:tbl>
              <a:tblPr/>
              <a:tblGrid>
                <a:gridCol w="2705100"/>
                <a:gridCol w="3638550"/>
                <a:gridCol w="4552950"/>
              </a:tblGrid>
              <a:tr h="803910">
                <a:tc>
                  <a:txBody>
                    <a:bodyPr>
                      <a:noAutofit/>
                    </a:bodyPr>
                    <a:lstStyle/>
                    <a:p>
                      <a:r>
                        <a:rPr sz="1575" b="1">
                          <a:solidFill>
                            <a:srgbClr val="FFFFFF"/>
                          </a:solidFill>
                          <a:latin typeface="Helvetica Neue"/>
                          <a:ea typeface="Helvetica Neue"/>
                          <a:cs typeface="Helvetica Neue"/>
                        </a:rPr>
                        <a:t>Task / first results</a:t>
                      </a:r>
                    </a:p>
                  </a:txBody>
                  <a:tcPr marL="91440" marR="91440" marT="45720" marB="45720">
                    <a:solidFill>
                      <a:srgbClr val="142F3A"/>
                    </a:solidFill>
                  </a:tcPr>
                </a:tc>
                <a:tc>
                  <a:txBody>
                    <a:bodyPr>
                      <a:noAutofit/>
                    </a:bodyPr>
                    <a:lstStyle/>
                    <a:p>
                      <a:r>
                        <a:rPr sz="1575" b="1">
                          <a:solidFill>
                            <a:srgbClr val="FFFFFF"/>
                          </a:solidFill>
                          <a:latin typeface="Helvetica Neue"/>
                          <a:ea typeface="Helvetica Neue"/>
                          <a:cs typeface="Helvetica Neue"/>
                        </a:rPr>
                        <a:t>Required behavior</a:t>
                      </a:r>
                    </a:p>
                  </a:txBody>
                  <a:tcPr marL="91440" marR="91440" marT="45720" marB="45720">
                    <a:solidFill>
                      <a:srgbClr val="142F3A"/>
                    </a:solidFill>
                  </a:tcPr>
                </a:tc>
                <a:tc>
                  <a:txBody>
                    <a:bodyPr>
                      <a:noAutofit/>
                    </a:bodyPr>
                    <a:lstStyle/>
                    <a:p>
                      <a:r>
                        <a:rPr sz="1575" b="1">
                          <a:solidFill>
                            <a:srgbClr val="FFFFFF"/>
                          </a:solidFill>
                          <a:latin typeface="Helvetica Neue"/>
                          <a:ea typeface="Helvetica Neue"/>
                          <a:cs typeface="Helvetica Neue"/>
                        </a:rPr>
                        <a:t>Interpretation</a:t>
                      </a:r>
                    </a:p>
                  </a:txBody>
                  <a:tcPr marL="91440" marR="91440" marT="45720" marB="45720">
                    <a:solidFill>
                      <a:srgbClr val="142F3A"/>
                    </a:solidFill>
                  </a:tcPr>
                </a:tc>
              </a:tr>
              <a:tr h="803910">
                <a:tc>
                  <a:txBody>
                    <a:bodyPr>
                      <a:noAutofit/>
                    </a:bodyPr>
                    <a:lstStyle/>
                    <a:p>
                      <a:r>
                        <a:rPr sz="1575" b="0">
                          <a:solidFill>
                            <a:srgbClr val="142F3A"/>
                          </a:solidFill>
                          <a:latin typeface="Helvetica Neue"/>
                          <a:ea typeface="Helvetica Neue"/>
                          <a:cs typeface="Helvetica Neue"/>
                        </a:rPr>
                        <a:t>Burn ONNX weights</a:t>
                      </a:r>
                    </a:p>
                    <a:p>
                      <a:r>
                        <a:rPr sz="1575" b="0">
                          <a:solidFill>
                            <a:srgbClr val="142F3A"/>
                          </a:solidFill>
                          <a:latin typeface="Helvetica Neue"/>
                          <a:ea typeface="Helvetica Neue"/>
                          <a:cs typeface="Helvetica Neue"/>
                        </a:rPr>
                        <a:t>8/9 pass · 225 turns</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Use runtime RNN weights while preserving layouts, outputs and initializers.</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Eight pass above 75 turns. The zero is a snapshot regression. Runtime checks pass.</a:t>
                      </a:r>
                    </a:p>
                  </a:txBody>
                  <a:tcPr marL="91440" marR="91440" marT="45720" marB="45720">
                    <a:solidFill>
                      <a:srgbClr val="E9F3F1"/>
                    </a:solidFill>
                  </a:tcPr>
                </a:tc>
              </a:tr>
              <a:tr h="803910">
                <a:tc>
                  <a:txBody>
                    <a:bodyPr>
                      <a:noAutofit/>
                    </a:bodyPr>
                    <a:lstStyle/>
                    <a:p>
                      <a:r>
                        <a:rPr sz="1575" b="0">
                          <a:solidFill>
                            <a:srgbClr val="142F3A"/>
                          </a:solidFill>
                          <a:latin typeface="Helvetica Neue"/>
                          <a:ea typeface="Helvetica Neue"/>
                          <a:cs typeface="Helvetica Neue"/>
                        </a:rPr>
                        <a:t>Burn checkpoint reader</a:t>
                      </a:r>
                    </a:p>
                    <a:p>
                      <a:r>
                        <a:rPr sz="1575" b="0">
                          <a:solidFill>
                            <a:srgbClr val="142F3A"/>
                          </a:solidFill>
                          <a:latin typeface="Helvetica Neue"/>
                          <a:ea typeface="Helvetica Neue"/>
                          <a:cs typeface="Helvetica Neue"/>
                        </a:rPr>
                        <a:t>7/9 pass · 144 turns</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Read checkpoints lazily, reject unsafe input and honor source constraints.</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One functional failure and one source-constraint zero. Sonnet max passes.</a:t>
                      </a:r>
                    </a:p>
                  </a:txBody>
                  <a:tcPr marL="91440" marR="91440" marT="45720" marB="45720">
                    <a:solidFill>
                      <a:srgbClr val="FFFFFF"/>
                    </a:solidFill>
                  </a:tcPr>
                </a:tc>
              </a:tr>
              <a:tr h="803910">
                <a:tc>
                  <a:txBody>
                    <a:bodyPr>
                      <a:noAutofit/>
                    </a:bodyPr>
                    <a:lstStyle/>
                    <a:p>
                      <a:r>
                        <a:rPr sz="1575" b="0">
                          <a:solidFill>
                            <a:srgbClr val="142F3A"/>
                          </a:solidFill>
                          <a:latin typeface="Helvetica Neue"/>
                          <a:ea typeface="Helvetica Neue"/>
                          <a:cs typeface="Helvetica Neue"/>
                        </a:rPr>
                        <a:t>Rerun chunk optimizer</a:t>
                      </a:r>
                    </a:p>
                    <a:p>
                      <a:r>
                        <a:rPr sz="1575" b="0">
                          <a:solidFill>
                            <a:srgbClr val="142F3A"/>
                          </a:solidFill>
                          <a:latin typeface="Helvetica Neue"/>
                          <a:ea typeface="Helvetica Neue"/>
                          <a:cs typeface="Helvetica Neue"/>
                        </a:rPr>
                        <a:t>8/9 pass · 119 turns</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Stream and repack chunks while preserving cells, memory bounds and layout.</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One required layout failure. Sonnet max passes after a longer trajectory.</a:t>
                      </a:r>
                    </a:p>
                  </a:txBody>
                  <a:tcPr marL="91440" marR="91440" marT="45720" marB="45720">
                    <a:solidFill>
                      <a:srgbClr val="E9F3F1"/>
                    </a:solidFill>
                  </a:tcPr>
                </a:tc>
              </a:tr>
              <a:tr h="803910">
                <a:tc>
                  <a:txBody>
                    <a:bodyPr>
                      <a:noAutofit/>
                    </a:bodyPr>
                    <a:lstStyle/>
                    <a:p>
                      <a:r>
                        <a:rPr sz="1575" b="0">
                          <a:solidFill>
                            <a:srgbClr val="142F3A"/>
                          </a:solidFill>
                          <a:latin typeface="Helvetica Neue"/>
                          <a:ea typeface="Helvetica Neue"/>
                          <a:cs typeface="Helvetica Neue"/>
                        </a:rPr>
                        <a:t>Zenoh timestamps v3</a:t>
                      </a:r>
                    </a:p>
                    <a:p>
                      <a:r>
                        <a:rPr sz="1575" b="0">
                          <a:solidFill>
                            <a:srgbClr val="142F3A"/>
                          </a:solidFill>
                          <a:latin typeface="Helvetica Neue"/>
                          <a:ea typeface="Helvetica Neue"/>
                          <a:cs typeface="Helvetica Neue"/>
                        </a:rPr>
                        <a:t>8/9 pass · 216.5 turns</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Carry timestamps through public APIs, wire encoding and receive paths.</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The same public-type failure persists. All eight other saved regrades pass.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79094211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AE83BC9-5576-4FEF-997C-666C297ABF8D}"/>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Successful runs often take more than 75 steps</a:t>
            </a:r>
          </a:p>
        </p:txBody>
      </p:sp>
      <p:sp>
        <p:nvSpPr>
          <p:cNvPr id="2" name="">
            <a:extLst xmlns:a="http://schemas.openxmlformats.org/drawingml/2006/main">
              <a:ext uri="{FF2B5EF4-FFF2-40B4-BE49-F238E27FC236}">
                <a16:creationId xmlns:a16="http://schemas.microsoft.com/office/drawing/2014/main" id="{4CDEC184-5E19-412D-B335-BD0FCC5C1667}"/>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Median turns on success · 64/76 successful trials exceed 75 turns</a:t>
            </a:r>
          </a:p>
        </p:txBody>
      </p:sp>
      <p:sp>
        <p:nvSpPr>
          <p:cNvPr id="3" name="">
            <a:extLst xmlns:a="http://schemas.openxmlformats.org/drawingml/2006/main">
              <a:ext uri="{FF2B5EF4-FFF2-40B4-BE49-F238E27FC236}">
                <a16:creationId xmlns:a16="http://schemas.microsoft.com/office/drawing/2014/main" id="{E3D70FF8-44C7-4B84-A379-5E49C445A43C}"/>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A5A85AE-76AA-4817-803C-D6FB0A3CCC9B}"/>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5" name="">
            <a:extLst xmlns:a="http://schemas.openxmlformats.org/drawingml/2006/main">
              <a:ext uri="{FF2B5EF4-FFF2-40B4-BE49-F238E27FC236}">
                <a16:creationId xmlns:a16="http://schemas.microsoft.com/office/drawing/2014/main" id="{FD11FD2B-78D6-459F-93F0-2D1A7CB314F2}"/>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9</a:t>
            </a:r>
          </a:p>
        </p:txBody>
      </p:sp>
      <p:graphicFrame>
        <p:nvGraphicFramePr>
          <p:cNvPr id="12" name="Chart"/>
          <p:cNvGraphicFramePr/>
          <p:nvPr/>
        </p:nvGraphicFramePr>
        <p:xfrm>
          <a:off xmlns:a="http://schemas.openxmlformats.org/drawingml/2006/main" x="647700" y="1952625"/>
          <a:ext xmlns:a="http://schemas.openxmlformats.org/drawingml/2006/main" cx="10896600" cy="4048125"/>
        </p:xfrm>
        <a:graphic xmlns:a="http://schemas.openxmlformats.org/drawingml/2006/main">
          <a:graphicData uri="http://schemas.openxmlformats.org/drawingml/2006/chart">
            <c:chart xmlns:r="http://schemas.openxmlformats.org/officeDocument/2006/relationships" xmlns:c="http://schemas.openxmlformats.org/drawingml/2006/chart" r:id="R0164bd099780417d"/>
          </a:graphicData>
        </a:graphic>
      </p:graphicFrame>
    </p:spTree>
    <p:extLst>
      <p:ext uri="{BB962C8B-B14F-4D97-AF65-F5344CB8AC3E}">
        <p14:creationId xmlns:p14="http://schemas.microsoft.com/office/powerpoint/2010/main" val="10794390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E675A5A-9B5D-4694-B40D-5BE747314658}"/>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Three detailed Rust cases and recommended samples</a:t>
            </a:r>
          </a:p>
        </p:txBody>
      </p:sp>
      <p:sp>
        <p:nvSpPr>
          <p:cNvPr id="2" name="">
            <a:extLst xmlns:a="http://schemas.openxmlformats.org/drawingml/2006/main">
              <a:ext uri="{FF2B5EF4-FFF2-40B4-BE49-F238E27FC236}">
                <a16:creationId xmlns:a16="http://schemas.microsoft.com/office/drawing/2014/main" id="{A1831D0B-EDF7-4328-BF98-42F7B559AC33}"/>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Detailed cases within the full 11-task population</a:t>
            </a:r>
          </a:p>
        </p:txBody>
      </p:sp>
      <p:sp>
        <p:nvSpPr>
          <p:cNvPr id="3" name="">
            <a:extLst xmlns:a="http://schemas.openxmlformats.org/drawingml/2006/main">
              <a:ext uri="{FF2B5EF4-FFF2-40B4-BE49-F238E27FC236}">
                <a16:creationId xmlns:a16="http://schemas.microsoft.com/office/drawing/2014/main" id="{E8E6BB7C-A443-4EA2-BD52-0AE5C5FA5D88}"/>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A1DD9D5-123E-447E-AC5C-B5A0DA8C2544}"/>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5" name="">
            <a:extLst xmlns:a="http://schemas.openxmlformats.org/drawingml/2006/main">
              <a:ext uri="{FF2B5EF4-FFF2-40B4-BE49-F238E27FC236}">
                <a16:creationId xmlns:a16="http://schemas.microsoft.com/office/drawing/2014/main" id="{950E4414-A2C0-406B-A8D0-4E0AB2CDAC0B}"/>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10</a:t>
            </a:r>
          </a:p>
        </p:txBody>
      </p:sp>
      <p:graphicFrame>
        <p:nvGraphicFramePr>
          <p:cNvPr id="14" name=""/>
          <p:cNvGraphicFramePr/>
          <p:nvPr/>
        </p:nvGraphicFramePr>
        <p:xfrm>
          <a:off xmlns:a="http://schemas.openxmlformats.org/drawingml/2006/main" x="647700" y="1847850"/>
          <a:ext xmlns:a="http://schemas.openxmlformats.org/drawingml/2006/main" cx="10896600" cy="2743200"/>
        </p:xfrm>
        <a:graphic xmlns:a="http://schemas.openxmlformats.org/drawingml/2006/main">
          <a:graphicData uri="http://schemas.openxmlformats.org/drawingml/2006/table">
            <a:tbl>
              <a:tblPr/>
              <a:tblGrid>
                <a:gridCol w="3143250"/>
                <a:gridCol w="1905000"/>
                <a:gridCol w="1714500"/>
                <a:gridCol w="4133850"/>
              </a:tblGrid>
              <a:tr h="685800">
                <a:tc>
                  <a:txBody>
                    <a:bodyPr>
                      <a:noAutofit/>
                    </a:bodyPr>
                    <a:lstStyle/>
                    <a:p>
                      <a:r>
                        <a:rPr sz="1800" b="1">
                          <a:solidFill>
                            <a:srgbClr val="FFFFFF"/>
                          </a:solidFill>
                          <a:latin typeface="Helvetica Neue"/>
                          <a:ea typeface="Helvetica Neue"/>
                          <a:cs typeface="Helvetica Neue"/>
                        </a:rPr>
                        <a:t>Candidate</a:t>
                      </a:r>
                    </a:p>
                  </a:txBody>
                  <a:tcPr marL="91440" marR="91440" marT="45720" marB="45720">
                    <a:solidFill>
                      <a:srgbClr val="142F3A"/>
                    </a:solidFill>
                  </a:tcPr>
                </a:tc>
                <a:tc>
                  <a:txBody>
                    <a:bodyPr>
                      <a:noAutofit/>
                    </a:bodyPr>
                    <a:lstStyle/>
                    <a:p>
                      <a:r>
                        <a:rPr sz="1800" b="1">
                          <a:solidFill>
                            <a:srgbClr val="FFFFFF"/>
                          </a:solidFill>
                          <a:latin typeface="Helvetica Neue"/>
                          <a:ea typeface="Helvetica Neue"/>
                          <a:cs typeface="Helvetica Neue"/>
                        </a:rPr>
                        <a:t>Pass / first trials</a:t>
                      </a:r>
                    </a:p>
                  </a:txBody>
                  <a:tcPr marL="91440" marR="91440" marT="45720" marB="45720">
                    <a:solidFill>
                      <a:srgbClr val="142F3A"/>
                    </a:solidFill>
                  </a:tcPr>
                </a:tc>
                <a:tc>
                  <a:txBody>
                    <a:bodyPr>
                      <a:noAutofit/>
                    </a:bodyPr>
                    <a:lstStyle/>
                    <a:p>
                      <a:r>
                        <a:rPr sz="1800" b="1">
                          <a:solidFill>
                            <a:srgbClr val="FFFFFF"/>
                          </a:solidFill>
                          <a:latin typeface="Helvetica Neue"/>
                          <a:ea typeface="Helvetica Neue"/>
                          <a:cs typeface="Helvetica Neue"/>
                        </a:rPr>
                        <a:t>Steps on success</a:t>
                      </a:r>
                    </a:p>
                  </a:txBody>
                  <a:tcPr marL="91440" marR="91440" marT="45720" marB="45720">
                    <a:solidFill>
                      <a:srgbClr val="142F3A"/>
                    </a:solidFill>
                  </a:tcPr>
                </a:tc>
                <a:tc>
                  <a:txBody>
                    <a:bodyPr>
                      <a:noAutofit/>
                    </a:bodyPr>
                    <a:lstStyle/>
                    <a:p>
                      <a:r>
                        <a:rPr sz="1800" b="1">
                          <a:solidFill>
                            <a:srgbClr val="FFFFFF"/>
                          </a:solidFill>
                          <a:latin typeface="Helvetica Neue"/>
                          <a:ea typeface="Helvetica Neue"/>
                          <a:cs typeface="Helvetica Neue"/>
                        </a:rPr>
                        <a:t>Reason to retain</a:t>
                      </a:r>
                    </a:p>
                  </a:txBody>
                  <a:tcPr marL="91440" marR="91440" marT="45720" marB="45720">
                    <a:solidFill>
                      <a:srgbClr val="142F3A"/>
                    </a:solidFill>
                  </a:tcPr>
                </a:tc>
              </a:tr>
              <a:tr h="685800">
                <a:tc>
                  <a:txBody>
                    <a:bodyPr>
                      <a:noAutofit/>
                    </a:bodyPr>
                    <a:lstStyle/>
                    <a:p>
                      <a:r>
                        <a:rPr sz="1800" b="0">
                          <a:solidFill>
                            <a:srgbClr val="142F3A"/>
                          </a:solidFill>
                          <a:latin typeface="Helvetica Neue"/>
                          <a:ea typeface="Helvetica Neue"/>
                          <a:cs typeface="Helvetica Neue"/>
                        </a:rPr>
                        <a:t>Rerun chunk optimizer</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8/9</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119</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Streaming layout + data preservation</a:t>
                      </a:r>
                    </a:p>
                  </a:txBody>
                  <a:tcPr marL="91440" marR="91440" marT="45720" marB="45720">
                    <a:solidFill>
                      <a:srgbClr val="E9F3F1"/>
                    </a:solidFill>
                  </a:tcPr>
                </a:tc>
              </a:tr>
              <a:tr h="685800">
                <a:tc>
                  <a:txBody>
                    <a:bodyPr>
                      <a:noAutofit/>
                    </a:bodyPr>
                    <a:lstStyle/>
                    <a:p>
                      <a:r>
                        <a:rPr sz="1800" b="0">
                          <a:solidFill>
                            <a:srgbClr val="142F3A"/>
                          </a:solidFill>
                          <a:latin typeface="Helvetica Neue"/>
                          <a:ea typeface="Helvetica Neue"/>
                          <a:cs typeface="Helvetica Neue"/>
                        </a:rPr>
                        <a:t>Zenoh timestamps v3</a:t>
                      </a:r>
                    </a:p>
                  </a:txBody>
                  <a:tcPr marL="91440" marR="91440" marT="45720" marB="45720">
                    <a:solidFill>
                      <a:srgbClr val="FFFFFF"/>
                    </a:solidFill>
                  </a:tcPr>
                </a:tc>
                <a:tc>
                  <a:txBody>
                    <a:bodyPr>
                      <a:noAutofit/>
                    </a:bodyPr>
                    <a:lstStyle/>
                    <a:p>
                      <a:r>
                        <a:rPr sz="1800" b="0">
                          <a:solidFill>
                            <a:srgbClr val="142F3A"/>
                          </a:solidFill>
                          <a:latin typeface="Helvetica Neue"/>
                          <a:ea typeface="Helvetica Neue"/>
                          <a:cs typeface="Helvetica Neue"/>
                        </a:rPr>
                        <a:t>8/9</a:t>
                      </a:r>
                    </a:p>
                  </a:txBody>
                  <a:tcPr marL="91440" marR="91440" marT="45720" marB="45720">
                    <a:solidFill>
                      <a:srgbClr val="FFFFFF"/>
                    </a:solidFill>
                  </a:tcPr>
                </a:tc>
                <a:tc>
                  <a:txBody>
                    <a:bodyPr>
                      <a:noAutofit/>
                    </a:bodyPr>
                    <a:lstStyle/>
                    <a:p>
                      <a:r>
                        <a:rPr sz="1800" b="0">
                          <a:solidFill>
                            <a:srgbClr val="142F3A"/>
                          </a:solidFill>
                          <a:latin typeface="Helvetica Neue"/>
                          <a:ea typeface="Helvetica Neue"/>
                          <a:cs typeface="Helvetica Neue"/>
                        </a:rPr>
                        <a:t>216.5</a:t>
                      </a:r>
                    </a:p>
                  </a:txBody>
                  <a:tcPr marL="91440" marR="91440" marT="45720" marB="45720">
                    <a:solidFill>
                      <a:srgbClr val="FFFFFF"/>
                    </a:solidFill>
                  </a:tcPr>
                </a:tc>
                <a:tc>
                  <a:txBody>
                    <a:bodyPr>
                      <a:noAutofit/>
                    </a:bodyPr>
                    <a:lstStyle/>
                    <a:p>
                      <a:r>
                        <a:rPr sz="1800" b="0">
                          <a:solidFill>
                            <a:srgbClr val="142F3A"/>
                          </a:solidFill>
                          <a:latin typeface="Helvetica Neue"/>
                          <a:ea typeface="Helvetica Neue"/>
                          <a:cs typeface="Helvetica Neue"/>
                        </a:rPr>
                        <a:t>Wire protocol + public API integration</a:t>
                      </a:r>
                    </a:p>
                  </a:txBody>
                  <a:tcPr marL="91440" marR="91440" marT="45720" marB="45720">
                    <a:solidFill>
                      <a:srgbClr val="FFFFFF"/>
                    </a:solidFill>
                  </a:tcPr>
                </a:tc>
              </a:tr>
              <a:tr h="685800">
                <a:tc>
                  <a:txBody>
                    <a:bodyPr>
                      <a:noAutofit/>
                    </a:bodyPr>
                    <a:lstStyle/>
                    <a:p>
                      <a:r>
                        <a:rPr sz="1800" b="0">
                          <a:solidFill>
                            <a:srgbClr val="142F3A"/>
                          </a:solidFill>
                          <a:latin typeface="Helvetica Neue"/>
                          <a:ea typeface="Helvetica Neue"/>
                          <a:cs typeface="Helvetica Neue"/>
                        </a:rPr>
                        <a:t>Burn checkpoint reader v4</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7/9</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144</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Format compatibility + bounds validation</a:t>
                      </a:r>
                    </a:p>
                  </a:txBody>
                  <a:tcPr marL="91440" marR="91440" marT="45720" marB="45720">
                    <a:solidFill>
                      <a:srgbClr val="E9F3F1"/>
                    </a:solidFill>
                  </a:tcPr>
                </a:tc>
              </a:tr>
            </a:tbl>
          </a:graphicData>
        </a:graphic>
      </p:graphicFrame>
      <p:sp>
        <p:nvSpPr>
          <p:cNvPr id="7" name="">
            <a:extLst xmlns:a="http://schemas.openxmlformats.org/drawingml/2006/main">
              <a:ext uri="{FF2B5EF4-FFF2-40B4-BE49-F238E27FC236}">
                <a16:creationId xmlns:a16="http://schemas.microsoft.com/office/drawing/2014/main" id="{3736F307-5E89-4869-9AB3-6C429022880E}"/>
              </a:ext>
            </a:extLst>
          </p:cNvPr>
          <p:cNvSpPr>
            <a:spLocks xmlns:a="http://schemas.openxmlformats.org/drawingml/2006/main" noGrp="1"/>
          </p:cNvSpPr>
          <p:nvPr/>
        </p:nvSpPr>
        <p:spPr>
          <a:xfrm xmlns:a="http://schemas.openxmlformats.org/drawingml/2006/main">
            <a:off x="647700" y="49149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D6520"/>
                </a:solidFill>
                <a:latin typeface="Helvetica Neue"/>
                <a:ea typeface="Helvetica Neue"/>
                <a:cs typeface="Helvetica Neue"/>
              </a:defRPr>
            </a:pPr>
            <a:r>
              <a:rPr sz="2025" b="1">
                <a:solidFill>
                  <a:srgbClr val="AD6520"/>
                </a:solidFill>
                <a:latin typeface="Helvetica Neue"/>
                <a:ea typeface="Helvetica Neue"/>
                <a:cs typeface="Helvetica Neue"/>
              </a:rPr>
              <a:t>Observed failures are concentrated in Sonnet</a:t>
            </a:r>
          </a:p>
        </p:txBody>
      </p:sp>
      <p:sp>
        <p:nvSpPr>
          <p:cNvPr id="8" name="">
            <a:extLst xmlns:a="http://schemas.openxmlformats.org/drawingml/2006/main">
              <a:ext uri="{FF2B5EF4-FFF2-40B4-BE49-F238E27FC236}">
                <a16:creationId xmlns:a16="http://schemas.microsoft.com/office/drawing/2014/main" id="{21233B8A-0441-4B14-B7BF-1C0DFD709AC2}"/>
              </a:ext>
            </a:extLst>
          </p:cNvPr>
          <p:cNvSpPr>
            <a:spLocks xmlns:a="http://schemas.openxmlformats.org/drawingml/2006/main" noGrp="1"/>
          </p:cNvSpPr>
          <p:nvPr/>
        </p:nvSpPr>
        <p:spPr>
          <a:xfrm xmlns:a="http://schemas.openxmlformats.org/drawingml/2006/main">
            <a:off x="647700" y="53816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Fable and Opus: 18/18 passes. Sonnet: 5/9 passes.</a:t>
            </a:r>
          </a:p>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Repeated trials and corrected Zenoh regrades remain separate.</a:t>
            </a:r>
          </a:p>
        </p:txBody>
      </p:sp>
    </p:spTree>
    <p:extLst>
      <p:ext uri="{BB962C8B-B14F-4D97-AF65-F5344CB8AC3E}">
        <p14:creationId xmlns:p14="http://schemas.microsoft.com/office/powerpoint/2010/main" val="189659756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D561841-97FC-4246-A948-A596BF5BFA5F}"/>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Rerun: a concrete integration failure</a:t>
            </a:r>
          </a:p>
        </p:txBody>
      </p:sp>
      <p:sp>
        <p:nvSpPr>
          <p:cNvPr id="2" name="">
            <a:extLst xmlns:a="http://schemas.openxmlformats.org/drawingml/2006/main">
              <a:ext uri="{FF2B5EF4-FFF2-40B4-BE49-F238E27FC236}">
                <a16:creationId xmlns:a16="http://schemas.microsoft.com/office/drawing/2014/main" id="{92040DA3-508E-40F2-9EA0-453AAFE3FAE2}"/>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779A346-8325-4F0E-83DC-6D1BD0231FAE}"/>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4" name="">
            <a:extLst xmlns:a="http://schemas.openxmlformats.org/drawingml/2006/main">
              <a:ext uri="{FF2B5EF4-FFF2-40B4-BE49-F238E27FC236}">
                <a16:creationId xmlns:a16="http://schemas.microsoft.com/office/drawing/2014/main" id="{03616619-2C76-4AE0-A424-BDB08DD1289C}"/>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CD626C81-4127-4210-84E4-C260B88656DB}"/>
              </a:ext>
            </a:extLst>
          </p:cNvPr>
          <p:cNvSpPr>
            <a:spLocks xmlns:a="http://schemas.openxmlformats.org/drawingml/2006/main" noGrp="1"/>
          </p:cNvSpPr>
          <p:nvPr/>
        </p:nvSpPr>
        <p:spPr>
          <a:xfrm xmlns:a="http://schemas.openxmlformats.org/drawingml/2006/main">
            <a:off x="647700" y="181927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F3A"/>
                </a:solidFill>
                <a:latin typeface="Helvetica Neue"/>
                <a:ea typeface="Helvetica Neue"/>
                <a:cs typeface="Helvetica Neue"/>
              </a:defRPr>
            </a:pPr>
            <a:r>
              <a:rPr sz="1875" b="1">
                <a:solidFill>
                  <a:srgbClr val="142F3A"/>
                </a:solidFill>
                <a:latin typeface="Helvetica Neue"/>
                <a:ea typeface="Helvetica Neue"/>
                <a:cs typeface="Helvetica Neue"/>
              </a:rPr>
              <a:t>Returned layout · rows per chunk</a:t>
            </a:r>
          </a:p>
        </p:txBody>
      </p:sp>
      <p:sp>
        <p:nvSpPr>
          <p:cNvPr id="6" name="">
            <a:extLst xmlns:a="http://schemas.openxmlformats.org/drawingml/2006/main">
              <a:ext uri="{FF2B5EF4-FFF2-40B4-BE49-F238E27FC236}">
                <a16:creationId xmlns:a16="http://schemas.microsoft.com/office/drawing/2014/main" id="{2CEA34B1-DA27-4D0D-AC33-AF8614793510}"/>
              </a:ext>
            </a:extLst>
          </p:cNvPr>
          <p:cNvSpPr>
            <a:spLocks xmlns:a="http://schemas.openxmlformats.org/drawingml/2006/main" noGrp="1"/>
          </p:cNvSpPr>
          <p:nvPr/>
        </p:nvSpPr>
        <p:spPr>
          <a:xfrm xmlns:a="http://schemas.openxmlformats.org/drawingml/2006/main">
            <a:off x="647700" y="2238375"/>
            <a:ext cx="3143250" cy="542925"/>
          </a:xfrm>
          <a:prstGeom xmlns:a="http://schemas.openxmlformats.org/drawingml/2006/main" prst="rect">
            <a:avLst/>
          </a:prstGeom>
          <a:solidFill xmlns:a="http://schemas.openxmlformats.org/drawingml/2006/main">
            <a:srgbClr val="AD652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BBB184C-E919-4D5F-8792-8342418E93F8}"/>
              </a:ext>
            </a:extLst>
          </p:cNvPr>
          <p:cNvSpPr>
            <a:spLocks xmlns:a="http://schemas.openxmlformats.org/drawingml/2006/main" noGrp="1"/>
          </p:cNvSpPr>
          <p:nvPr/>
        </p:nvSpPr>
        <p:spPr>
          <a:xfrm xmlns:a="http://schemas.openxmlformats.org/drawingml/2006/main">
            <a:off x="762000" y="2333625"/>
            <a:ext cx="2971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6</a:t>
            </a:r>
          </a:p>
        </p:txBody>
      </p:sp>
      <p:sp>
        <p:nvSpPr>
          <p:cNvPr id="8" name="">
            <a:extLst xmlns:a="http://schemas.openxmlformats.org/drawingml/2006/main">
              <a:ext uri="{FF2B5EF4-FFF2-40B4-BE49-F238E27FC236}">
                <a16:creationId xmlns:a16="http://schemas.microsoft.com/office/drawing/2014/main" id="{677ACA17-FEC0-4870-AA83-64EC3F9733FD}"/>
              </a:ext>
            </a:extLst>
          </p:cNvPr>
          <p:cNvSpPr>
            <a:spLocks xmlns:a="http://schemas.openxmlformats.org/drawingml/2006/main" noGrp="1"/>
          </p:cNvSpPr>
          <p:nvPr/>
        </p:nvSpPr>
        <p:spPr>
          <a:xfrm xmlns:a="http://schemas.openxmlformats.org/drawingml/2006/main">
            <a:off x="3905250" y="2238375"/>
            <a:ext cx="1047750" cy="542925"/>
          </a:xfrm>
          <a:prstGeom xmlns:a="http://schemas.openxmlformats.org/drawingml/2006/main" prst="rect">
            <a:avLst/>
          </a:prstGeom>
          <a:solidFill xmlns:a="http://schemas.openxmlformats.org/drawingml/2006/main">
            <a:srgbClr val="AD652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0CA9E1F-4C81-441C-9D4C-80EF3155BCF1}"/>
              </a:ext>
            </a:extLst>
          </p:cNvPr>
          <p:cNvSpPr>
            <a:spLocks xmlns:a="http://schemas.openxmlformats.org/drawingml/2006/main" noGrp="1"/>
          </p:cNvSpPr>
          <p:nvPr/>
        </p:nvSpPr>
        <p:spPr>
          <a:xfrm xmlns:a="http://schemas.openxmlformats.org/drawingml/2006/main">
            <a:off x="4019550" y="2333625"/>
            <a:ext cx="876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117FEB99-3398-4210-A219-E550EA285D73}"/>
              </a:ext>
            </a:extLst>
          </p:cNvPr>
          <p:cNvSpPr>
            <a:spLocks xmlns:a="http://schemas.openxmlformats.org/drawingml/2006/main" noGrp="1"/>
          </p:cNvSpPr>
          <p:nvPr/>
        </p:nvSpPr>
        <p:spPr>
          <a:xfrm xmlns:a="http://schemas.openxmlformats.org/drawingml/2006/main">
            <a:off x="647700" y="309562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F3A"/>
                </a:solidFill>
                <a:latin typeface="Helvetica Neue"/>
                <a:ea typeface="Helvetica Neue"/>
                <a:cs typeface="Helvetica Neue"/>
              </a:defRPr>
            </a:pPr>
            <a:r>
              <a:rPr sz="1875" b="1">
                <a:solidFill>
                  <a:srgbClr val="142F3A"/>
                </a:solidFill>
                <a:latin typeface="Helvetica Neue"/>
                <a:ea typeface="Helvetica Neue"/>
                <a:cs typeface="Helvetica Neue"/>
              </a:rPr>
              <a:t>Required layout · rows per chunk</a:t>
            </a:r>
          </a:p>
        </p:txBody>
      </p:sp>
      <p:sp>
        <p:nvSpPr>
          <p:cNvPr id="11" name="">
            <a:extLst xmlns:a="http://schemas.openxmlformats.org/drawingml/2006/main">
              <a:ext uri="{FF2B5EF4-FFF2-40B4-BE49-F238E27FC236}">
                <a16:creationId xmlns:a16="http://schemas.microsoft.com/office/drawing/2014/main" id="{67E489F4-7328-4607-8236-7AAEB41472CD}"/>
              </a:ext>
            </a:extLst>
          </p:cNvPr>
          <p:cNvSpPr>
            <a:spLocks xmlns:a="http://schemas.openxmlformats.org/drawingml/2006/main" noGrp="1"/>
          </p:cNvSpPr>
          <p:nvPr/>
        </p:nvSpPr>
        <p:spPr>
          <a:xfrm xmlns:a="http://schemas.openxmlformats.org/drawingml/2006/main">
            <a:off x="647700" y="3514725"/>
            <a:ext cx="2095500" cy="542925"/>
          </a:xfrm>
          <a:prstGeom xmlns:a="http://schemas.openxmlformats.org/drawingml/2006/main" prst="rect">
            <a:avLst/>
          </a:prstGeom>
          <a:solidFill xmlns:a="http://schemas.openxmlformats.org/drawingml/2006/main">
            <a:srgbClr val="007B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C1A8E3B-52A7-480C-A318-84C84C5C067C}"/>
              </a:ext>
            </a:extLst>
          </p:cNvPr>
          <p:cNvSpPr>
            <a:spLocks xmlns:a="http://schemas.openxmlformats.org/drawingml/2006/main" noGrp="1"/>
          </p:cNvSpPr>
          <p:nvPr/>
        </p:nvSpPr>
        <p:spPr>
          <a:xfrm xmlns:a="http://schemas.openxmlformats.org/drawingml/2006/main">
            <a:off x="762000" y="3609975"/>
            <a:ext cx="1924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4</a:t>
            </a:r>
          </a:p>
        </p:txBody>
      </p:sp>
      <p:sp>
        <p:nvSpPr>
          <p:cNvPr id="13" name="">
            <a:extLst xmlns:a="http://schemas.openxmlformats.org/drawingml/2006/main">
              <a:ext uri="{FF2B5EF4-FFF2-40B4-BE49-F238E27FC236}">
                <a16:creationId xmlns:a16="http://schemas.microsoft.com/office/drawing/2014/main" id="{79FFA368-A417-4D86-92B2-9C9EE8F57A4A}"/>
              </a:ext>
            </a:extLst>
          </p:cNvPr>
          <p:cNvSpPr>
            <a:spLocks xmlns:a="http://schemas.openxmlformats.org/drawingml/2006/main" noGrp="1"/>
          </p:cNvSpPr>
          <p:nvPr/>
        </p:nvSpPr>
        <p:spPr>
          <a:xfrm xmlns:a="http://schemas.openxmlformats.org/drawingml/2006/main">
            <a:off x="2857500" y="3514725"/>
            <a:ext cx="2095500" cy="542925"/>
          </a:xfrm>
          <a:prstGeom xmlns:a="http://schemas.openxmlformats.org/drawingml/2006/main" prst="rect">
            <a:avLst/>
          </a:prstGeom>
          <a:solidFill xmlns:a="http://schemas.openxmlformats.org/drawingml/2006/main">
            <a:srgbClr val="007B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D95D54A-6E8D-4583-B193-29939834C864}"/>
              </a:ext>
            </a:extLst>
          </p:cNvPr>
          <p:cNvSpPr>
            <a:spLocks xmlns:a="http://schemas.openxmlformats.org/drawingml/2006/main" noGrp="1"/>
          </p:cNvSpPr>
          <p:nvPr/>
        </p:nvSpPr>
        <p:spPr>
          <a:xfrm xmlns:a="http://schemas.openxmlformats.org/drawingml/2006/main">
            <a:off x="2971800" y="3609975"/>
            <a:ext cx="1924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4</a:t>
            </a:r>
          </a:p>
        </p:txBody>
      </p:sp>
      <p:sp>
        <p:nvSpPr>
          <p:cNvPr id="15" name="">
            <a:extLst xmlns:a="http://schemas.openxmlformats.org/drawingml/2006/main">
              <a:ext uri="{FF2B5EF4-FFF2-40B4-BE49-F238E27FC236}">
                <a16:creationId xmlns:a16="http://schemas.microsoft.com/office/drawing/2014/main" id="{2486FD39-211C-4EA1-B56C-C17625F18A52}"/>
              </a:ext>
            </a:extLst>
          </p:cNvPr>
          <p:cNvSpPr>
            <a:spLocks xmlns:a="http://schemas.openxmlformats.org/drawingml/2006/main" noGrp="1"/>
          </p:cNvSpPr>
          <p:nvPr/>
        </p:nvSpPr>
        <p:spPr>
          <a:xfrm xmlns:a="http://schemas.openxmlformats.org/drawingml/2006/main">
            <a:off x="6286500" y="1943100"/>
            <a:ext cx="52197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F3A"/>
                </a:solidFill>
                <a:latin typeface="Helvetica Neue"/>
                <a:ea typeface="Helvetica Neue"/>
                <a:cs typeface="Helvetica Neue"/>
              </a:defRPr>
            </a:pPr>
            <a:r>
              <a:rPr sz="2175" b="1">
                <a:solidFill>
                  <a:srgbClr val="142F3A"/>
                </a:solidFill>
                <a:latin typeface="Helvetica Neue"/>
                <a:ea typeface="Helvetica Neue"/>
                <a:cs typeface="Helvetica Neue"/>
              </a:rPr>
              <a:t>“All existing tests for the three crates pass, plus my own smoke tests”</a:t>
            </a:r>
          </a:p>
        </p:txBody>
      </p:sp>
      <p:sp>
        <p:nvSpPr>
          <p:cNvPr id="16" name="">
            <a:extLst xmlns:a="http://schemas.openxmlformats.org/drawingml/2006/main">
              <a:ext uri="{FF2B5EF4-FFF2-40B4-BE49-F238E27FC236}">
                <a16:creationId xmlns:a16="http://schemas.microsoft.com/office/drawing/2014/main" id="{F06ABFC1-79DA-4BA7-A5D4-2E19909895C2}"/>
              </a:ext>
            </a:extLst>
          </p:cNvPr>
          <p:cNvSpPr>
            <a:spLocks xmlns:a="http://schemas.openxmlformats.org/drawingml/2006/main" noGrp="1"/>
          </p:cNvSpPr>
          <p:nvPr/>
        </p:nvSpPr>
        <p:spPr>
          <a:xfrm xmlns:a="http://schemas.openxmlformats.org/drawingml/2006/main">
            <a:off x="6286500" y="3286125"/>
            <a:ext cx="521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The hidden verifier found five split, packing and row-limit failures. The existing regression suites still passed.</a:t>
            </a:r>
          </a:p>
        </p:txBody>
      </p:sp>
      <p:graphicFrame>
        <p:nvGraphicFramePr>
          <p:cNvPr id="34" name=""/>
          <p:cNvGraphicFramePr/>
          <p:nvPr/>
        </p:nvGraphicFramePr>
        <p:xfrm>
          <a:off xmlns:a="http://schemas.openxmlformats.org/drawingml/2006/main" x="647700" y="4562475"/>
          <a:ext xmlns:a="http://schemas.openxmlformats.org/drawingml/2006/main" cx="10896600" cy="1333500"/>
        </p:xfrm>
        <a:graphic xmlns:a="http://schemas.openxmlformats.org/drawingml/2006/main">
          <a:graphicData uri="http://schemas.openxmlformats.org/drawingml/2006/table">
            <a:tbl>
              <a:tblPr/>
              <a:tblGrid>
                <a:gridCol w="5619750"/>
                <a:gridCol w="5276850"/>
              </a:tblGrid>
              <a:tr h="444500">
                <a:tc>
                  <a:txBody>
                    <a:bodyPr>
                      <a:noAutofit/>
                    </a:bodyPr>
                    <a:lstStyle/>
                    <a:p>
                      <a:r>
                        <a:rPr sz="1725" b="1">
                          <a:solidFill>
                            <a:srgbClr val="FFFFFF"/>
                          </a:solidFill>
                          <a:latin typeface="Helvetica Neue"/>
                          <a:ea typeface="Helvetica Neue"/>
                          <a:cs typeface="Helvetica Neue"/>
                        </a:rPr>
                        <a:t>Same task, different effort</a:t>
                      </a:r>
                    </a:p>
                  </a:txBody>
                  <a:tcPr marL="91440" marR="91440" marT="45720" marB="45720">
                    <a:solidFill>
                      <a:srgbClr val="142F3A"/>
                    </a:solidFill>
                  </a:tcPr>
                </a:tc>
                <a:tc>
                  <a:txBody>
                    <a:bodyPr>
                      <a:noAutofit/>
                    </a:bodyPr>
                    <a:lstStyle/>
                    <a:p>
                      <a:r>
                        <a:rPr sz="1725" b="1">
                          <a:solidFill>
                            <a:srgbClr val="FFFFFF"/>
                          </a:solidFill>
                          <a:latin typeface="Helvetica Neue"/>
                          <a:ea typeface="Helvetica Neue"/>
                          <a:cs typeface="Helvetica Neue"/>
                        </a:rPr>
                        <a:t>Observed result</a:t>
                      </a:r>
                    </a:p>
                  </a:txBody>
                  <a:tcPr marL="91440" marR="91440" marT="45720" marB="45720">
                    <a:solidFill>
                      <a:srgbClr val="142F3A"/>
                    </a:solidFill>
                  </a:tcPr>
                </a:tc>
              </a:tr>
              <a:tr h="444500">
                <a:tc>
                  <a:txBody>
                    <a:bodyPr>
                      <a:noAutofit/>
                    </a:bodyPr>
                    <a:lstStyle/>
                    <a:p>
                      <a:r>
                        <a:rPr sz="1725" b="0">
                          <a:solidFill>
                            <a:srgbClr val="142F3A"/>
                          </a:solidFill>
                          <a:latin typeface="Helvetica Neue"/>
                          <a:ea typeface="Helvetica Neue"/>
                          <a:cs typeface="Helvetica Neue"/>
                        </a:rPr>
                        <a:t>sonnet/medium · 138 steps · fail</a:t>
                      </a:r>
                    </a:p>
                  </a:txBody>
                  <a:tcPr marL="91440" marR="91440" marT="45720" marB="45720">
                    <a:solidFill>
                      <a:srgbClr val="E9F3F1"/>
                    </a:solidFill>
                  </a:tcPr>
                </a:tc>
                <a:tc>
                  <a:txBody>
                    <a:bodyPr>
                      <a:noAutofit/>
                    </a:bodyPr>
                    <a:lstStyle/>
                    <a:p>
                      <a:r>
                        <a:rPr sz="1725" b="0">
                          <a:solidFill>
                            <a:srgbClr val="142F3A"/>
                          </a:solidFill>
                          <a:latin typeface="Helvetica Neue"/>
                          <a:ea typeface="Helvetica Neue"/>
                          <a:cs typeface="Helvetica Neue"/>
                        </a:rPr>
                        <a:t>Layout contract failures</a:t>
                      </a:r>
                    </a:p>
                  </a:txBody>
                  <a:tcPr marL="91440" marR="91440" marT="45720" marB="45720">
                    <a:solidFill>
                      <a:srgbClr val="E9F3F1"/>
                    </a:solidFill>
                  </a:tcPr>
                </a:tc>
              </a:tr>
              <a:tr h="444500">
                <a:tc>
                  <a:txBody>
                    <a:bodyPr>
                      <a:noAutofit/>
                    </a:bodyPr>
                    <a:lstStyle/>
                    <a:p>
                      <a:r>
                        <a:rPr sz="1725" b="0">
                          <a:solidFill>
                            <a:srgbClr val="142F3A"/>
                          </a:solidFill>
                          <a:latin typeface="Helvetica Neue"/>
                          <a:ea typeface="Helvetica Neue"/>
                          <a:cs typeface="Helvetica Neue"/>
                        </a:rPr>
                        <a:t>sonnet/max · 383 steps · pass</a:t>
                      </a:r>
                    </a:p>
                  </a:txBody>
                  <a:tcPr marL="91440" marR="91440" marT="45720" marB="45720">
                    <a:solidFill>
                      <a:srgbClr val="FFFFFF"/>
                    </a:solidFill>
                  </a:tcPr>
                </a:tc>
                <a:tc>
                  <a:txBody>
                    <a:bodyPr>
                      <a:noAutofit/>
                    </a:bodyPr>
                    <a:lstStyle/>
                    <a:p>
                      <a:r>
                        <a:rPr sz="1725" b="0">
                          <a:solidFill>
                            <a:srgbClr val="142F3A"/>
                          </a:solidFill>
                          <a:latin typeface="Helvetica Neue"/>
                          <a:ea typeface="Helvetica Neue"/>
                          <a:cs typeface="Helvetica Neue"/>
                        </a:rPr>
                        <a:t>All verifier groups passed</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93069708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456C67A-23A9-4577-A362-DE12EDC8274C}"/>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Zenoh: the public type was wrong after 377 steps</a:t>
            </a:r>
          </a:p>
        </p:txBody>
      </p:sp>
      <p:sp>
        <p:nvSpPr>
          <p:cNvPr id="2" name="">
            <a:extLst xmlns:a="http://schemas.openxmlformats.org/drawingml/2006/main">
              <a:ext uri="{FF2B5EF4-FFF2-40B4-BE49-F238E27FC236}">
                <a16:creationId xmlns:a16="http://schemas.microsoft.com/office/drawing/2014/main" id="{A939C723-475B-4630-B94B-CC42EC51E37E}"/>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Corrected verifier: 8 passes and 1 unchanged API failure across 9 saved submissions</a:t>
            </a:r>
          </a:p>
        </p:txBody>
      </p:sp>
      <p:sp>
        <p:nvSpPr>
          <p:cNvPr id="3" name="">
            <a:extLst xmlns:a="http://schemas.openxmlformats.org/drawingml/2006/main">
              <a:ext uri="{FF2B5EF4-FFF2-40B4-BE49-F238E27FC236}">
                <a16:creationId xmlns:a16="http://schemas.microsoft.com/office/drawing/2014/main" id="{4AE25B5F-057B-4DDD-BCA5-D2333BFE680B}"/>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55DBB70-CF56-4870-A314-198C8D64FD63}"/>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5" name="">
            <a:extLst xmlns:a="http://schemas.openxmlformats.org/drawingml/2006/main">
              <a:ext uri="{FF2B5EF4-FFF2-40B4-BE49-F238E27FC236}">
                <a16:creationId xmlns:a16="http://schemas.microsoft.com/office/drawing/2014/main" id="{A0E4AA86-A2A2-4474-A90E-E50B45A05FBB}"/>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12</a:t>
            </a:r>
          </a:p>
        </p:txBody>
      </p:sp>
      <p:sp>
        <p:nvSpPr>
          <p:cNvPr id="6" name="">
            <a:extLst xmlns:a="http://schemas.openxmlformats.org/drawingml/2006/main">
              <a:ext uri="{FF2B5EF4-FFF2-40B4-BE49-F238E27FC236}">
                <a16:creationId xmlns:a16="http://schemas.microsoft.com/office/drawing/2014/main" id="{5ABD8CDB-90F4-43B5-AF98-5E9894FD9D97}"/>
              </a:ext>
            </a:extLst>
          </p:cNvPr>
          <p:cNvSpPr>
            <a:spLocks xmlns:a="http://schemas.openxmlformats.org/drawingml/2006/main" noGrp="1"/>
          </p:cNvSpPr>
          <p:nvPr/>
        </p:nvSpPr>
        <p:spPr>
          <a:xfrm xmlns:a="http://schemas.openxmlformats.org/drawingml/2006/main">
            <a:off x="647700" y="18859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Contract boundary</a:t>
            </a:r>
          </a:p>
        </p:txBody>
      </p:sp>
      <p:sp>
        <p:nvSpPr>
          <p:cNvPr id="7" name="">
            <a:extLst xmlns:a="http://schemas.openxmlformats.org/drawingml/2006/main">
              <a:ext uri="{FF2B5EF4-FFF2-40B4-BE49-F238E27FC236}">
                <a16:creationId xmlns:a16="http://schemas.microsoft.com/office/drawing/2014/main" id="{87A94C10-2064-4FE3-B1AC-B90270996A52}"/>
              </a:ext>
            </a:extLst>
          </p:cNvPr>
          <p:cNvSpPr>
            <a:spLocks xmlns:a="http://schemas.openxmlformats.org/drawingml/2006/main" noGrp="1"/>
          </p:cNvSpPr>
          <p:nvPr/>
        </p:nvSpPr>
        <p:spPr>
          <a:xfrm xmlns:a="http://schemas.openxmlformats.org/drawingml/2006/main">
            <a:off x="647700" y="240982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TimestampContext.zid must expose ZenohId. A wire representation is not interchangeable with the required public type.</a:t>
            </a:r>
          </a:p>
        </p:txBody>
      </p:sp>
      <p:sp>
        <p:nvSpPr>
          <p:cNvPr id="8" name="">
            <a:extLst xmlns:a="http://schemas.openxmlformats.org/drawingml/2006/main">
              <a:ext uri="{FF2B5EF4-FFF2-40B4-BE49-F238E27FC236}">
                <a16:creationId xmlns:a16="http://schemas.microsoft.com/office/drawing/2014/main" id="{5C946D66-3245-42E1-9EE0-9ABADFF42BCC}"/>
              </a:ext>
            </a:extLst>
          </p:cNvPr>
          <p:cNvSpPr>
            <a:spLocks xmlns:a="http://schemas.openxmlformats.org/drawingml/2006/main" noGrp="1"/>
          </p:cNvSpPr>
          <p:nvPr/>
        </p:nvSpPr>
        <p:spPr>
          <a:xfrm xmlns:a="http://schemas.openxmlformats.org/drawingml/2006/main">
            <a:off x="6448425" y="188595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Why it matters</a:t>
            </a:r>
          </a:p>
        </p:txBody>
      </p:sp>
      <p:sp>
        <p:nvSpPr>
          <p:cNvPr id="9" name="">
            <a:extLst xmlns:a="http://schemas.openxmlformats.org/drawingml/2006/main">
              <a:ext uri="{FF2B5EF4-FFF2-40B4-BE49-F238E27FC236}">
                <a16:creationId xmlns:a16="http://schemas.microsoft.com/office/drawing/2014/main" id="{021D39FA-6D3E-46DD-AFA6-F4EF164CF664}"/>
              </a:ext>
            </a:extLst>
          </p:cNvPr>
          <p:cNvSpPr>
            <a:spLocks xmlns:a="http://schemas.openxmlformats.org/drawingml/2006/main" noGrp="1"/>
          </p:cNvSpPr>
          <p:nvPr/>
        </p:nvSpPr>
        <p:spPr>
          <a:xfrm xmlns:a="http://schemas.openxmlformats.org/drawingml/2006/main">
            <a:off x="6448425" y="2409825"/>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Downstream consumers compile against the stated API. A mostly complete implementation still fails that integration boundary.</a:t>
            </a:r>
          </a:p>
        </p:txBody>
      </p:sp>
      <p:sp>
        <p:nvSpPr>
          <p:cNvPr id="10" name="">
            <a:extLst xmlns:a="http://schemas.openxmlformats.org/drawingml/2006/main">
              <a:ext uri="{FF2B5EF4-FFF2-40B4-BE49-F238E27FC236}">
                <a16:creationId xmlns:a16="http://schemas.microsoft.com/office/drawing/2014/main" id="{DD65B344-1377-43A2-BCDE-26F7E8F702B3}"/>
              </a:ext>
            </a:extLst>
          </p:cNvPr>
          <p:cNvSpPr>
            <a:spLocks xmlns:a="http://schemas.openxmlformats.org/drawingml/2006/main" noGrp="1"/>
          </p:cNvSpPr>
          <p:nvPr/>
        </p:nvSpPr>
        <p:spPr>
          <a:xfrm xmlns:a="http://schemas.openxmlformats.org/drawingml/2006/main">
            <a:off x="647700" y="38290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C75"/>
                </a:solidFill>
                <a:latin typeface="Helvetica Neue"/>
                <a:ea typeface="Helvetica Neue"/>
                <a:cs typeface="Helvetica Neue"/>
              </a:defRPr>
            </a:pPr>
            <a:r>
              <a:rPr sz="1800" b="0">
                <a:solidFill>
                  <a:srgbClr val="536C75"/>
                </a:solidFill>
                <a:latin typeface="Helvetica Neue"/>
                <a:ea typeface="Helvetica Neue"/>
                <a:cs typeface="Helvetica Neue"/>
              </a:rPr>
              <a:t>“Everything is green with both feature configurations.”</a:t>
            </a:r>
          </a:p>
        </p:txBody>
      </p:sp>
      <p:graphicFrame>
        <p:nvGraphicFramePr>
          <p:cNvPr id="22" name=""/>
          <p:cNvGraphicFramePr/>
          <p:nvPr/>
        </p:nvGraphicFramePr>
        <p:xfrm>
          <a:off xmlns:a="http://schemas.openxmlformats.org/drawingml/2006/main" x="647700" y="4562475"/>
          <a:ext xmlns:a="http://schemas.openxmlformats.org/drawingml/2006/main" cx="10896600" cy="1333500"/>
        </p:xfrm>
        <a:graphic xmlns:a="http://schemas.openxmlformats.org/drawingml/2006/main">
          <a:graphicData uri="http://schemas.openxmlformats.org/drawingml/2006/table">
            <a:tbl>
              <a:tblPr/>
              <a:tblGrid>
                <a:gridCol w="5619750"/>
                <a:gridCol w="5276850"/>
              </a:tblGrid>
              <a:tr h="444500">
                <a:tc>
                  <a:txBody>
                    <a:bodyPr>
                      <a:noAutofit/>
                    </a:bodyPr>
                    <a:lstStyle/>
                    <a:p>
                      <a:r>
                        <a:rPr sz="1725" b="1">
                          <a:solidFill>
                            <a:srgbClr val="FFFFFF"/>
                          </a:solidFill>
                          <a:latin typeface="Helvetica Neue"/>
                          <a:ea typeface="Helvetica Neue"/>
                          <a:cs typeface="Helvetica Neue"/>
                        </a:rPr>
                        <a:t>Sonnet effort</a:t>
                      </a:r>
                    </a:p>
                  </a:txBody>
                  <a:tcPr marL="91440" marR="91440" marT="45720" marB="45720">
                    <a:solidFill>
                      <a:srgbClr val="142F3A"/>
                    </a:solidFill>
                  </a:tcPr>
                </a:tc>
                <a:tc>
                  <a:txBody>
                    <a:bodyPr>
                      <a:noAutofit/>
                    </a:bodyPr>
                    <a:lstStyle/>
                    <a:p>
                      <a:r>
                        <a:rPr sz="1725" b="1">
                          <a:solidFill>
                            <a:srgbClr val="FFFFFF"/>
                          </a:solidFill>
                          <a:latin typeface="Helvetica Neue"/>
                          <a:ea typeface="Helvetica Neue"/>
                          <a:cs typeface="Helvetica Neue"/>
                        </a:rPr>
                        <a:t>Observed result</a:t>
                      </a:r>
                    </a:p>
                  </a:txBody>
                  <a:tcPr marL="91440" marR="91440" marT="45720" marB="45720">
                    <a:solidFill>
                      <a:srgbClr val="142F3A"/>
                    </a:solidFill>
                  </a:tcPr>
                </a:tc>
              </a:tr>
              <a:tr h="444500">
                <a:tc>
                  <a:txBody>
                    <a:bodyPr>
                      <a:noAutofit/>
                    </a:bodyPr>
                    <a:lstStyle/>
                    <a:p>
                      <a:r>
                        <a:rPr sz="1725" b="0">
                          <a:solidFill>
                            <a:srgbClr val="142F3A"/>
                          </a:solidFill>
                          <a:latin typeface="Helvetica Neue"/>
                          <a:ea typeface="Helvetica Neue"/>
                          <a:cs typeface="Helvetica Neue"/>
                        </a:rPr>
                        <a:t>Medium · 377 steps</a:t>
                      </a:r>
                    </a:p>
                  </a:txBody>
                  <a:tcPr marL="91440" marR="91440" marT="45720" marB="45720">
                    <a:solidFill>
                      <a:srgbClr val="E9F3F1"/>
                    </a:solidFill>
                  </a:tcPr>
                </a:tc>
                <a:tc>
                  <a:txBody>
                    <a:bodyPr>
                      <a:noAutofit/>
                    </a:bodyPr>
                    <a:lstStyle/>
                    <a:p>
                      <a:r>
                        <a:rPr sz="1725" b="0">
                          <a:solidFill>
                            <a:srgbClr val="142F3A"/>
                          </a:solidFill>
                          <a:latin typeface="Helvetica Neue"/>
                          <a:ea typeface="Helvetica Neue"/>
                          <a:cs typeface="Helvetica Neue"/>
                        </a:rPr>
                        <a:t>Public-type failure in both verifiers</a:t>
                      </a:r>
                    </a:p>
                  </a:txBody>
                  <a:tcPr marL="91440" marR="91440" marT="45720" marB="45720">
                    <a:solidFill>
                      <a:srgbClr val="E9F3F1"/>
                    </a:solidFill>
                  </a:tcPr>
                </a:tc>
              </a:tr>
              <a:tr h="444500">
                <a:tc>
                  <a:txBody>
                    <a:bodyPr>
                      <a:noAutofit/>
                    </a:bodyPr>
                    <a:lstStyle/>
                    <a:p>
                      <a:r>
                        <a:rPr sz="1725" b="0">
                          <a:solidFill>
                            <a:srgbClr val="142F3A"/>
                          </a:solidFill>
                          <a:latin typeface="Helvetica Neue"/>
                          <a:ea typeface="Helvetica Neue"/>
                          <a:cs typeface="Helvetica Neue"/>
                        </a:rPr>
                        <a:t>Max · 626 steps</a:t>
                      </a:r>
                    </a:p>
                  </a:txBody>
                  <a:tcPr marL="91440" marR="91440" marT="45720" marB="45720">
                    <a:solidFill>
                      <a:srgbClr val="FFFFFF"/>
                    </a:solidFill>
                  </a:tcPr>
                </a:tc>
                <a:tc>
                  <a:txBody>
                    <a:bodyPr>
                      <a:noAutofit/>
                    </a:bodyPr>
                    <a:lstStyle/>
                    <a:p>
                      <a:r>
                        <a:rPr sz="1725" b="0">
                          <a:solidFill>
                            <a:srgbClr val="142F3A"/>
                          </a:solidFill>
                          <a:latin typeface="Helvetica Neue"/>
                          <a:ea typeface="Helvetica Neue"/>
                          <a:cs typeface="Helvetica Neue"/>
                        </a:rPr>
                        <a:t>Passes both v3 and corrected verifiers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78648456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D92B4BA-5F38-4630-9527-512083017037}"/>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Burn: functional and source-constraint outcomes</a:t>
            </a:r>
          </a:p>
        </p:txBody>
      </p:sp>
      <p:sp>
        <p:nvSpPr>
          <p:cNvPr id="2" name="">
            <a:extLst xmlns:a="http://schemas.openxmlformats.org/drawingml/2006/main">
              <a:ext uri="{FF2B5EF4-FFF2-40B4-BE49-F238E27FC236}">
                <a16:creationId xmlns:a16="http://schemas.microsoft.com/office/drawing/2014/main" id="{DB2EF6E4-212E-4C40-A55B-A909FAF9D748}"/>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CBA1C78-4FE0-4291-8FD0-698448599724}"/>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4" name="">
            <a:extLst xmlns:a="http://schemas.openxmlformats.org/drawingml/2006/main">
              <a:ext uri="{FF2B5EF4-FFF2-40B4-BE49-F238E27FC236}">
                <a16:creationId xmlns:a16="http://schemas.microsoft.com/office/drawing/2014/main" id="{2CCC3AE2-F8E6-4052-AF0C-217ACB048E22}"/>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13</a:t>
            </a:r>
          </a:p>
        </p:txBody>
      </p:sp>
      <p:graphicFrame>
        <p:nvGraphicFramePr>
          <p:cNvPr id="11" name=""/>
          <p:cNvGraphicFramePr/>
          <p:nvPr/>
        </p:nvGraphicFramePr>
        <p:xfrm>
          <a:off xmlns:a="http://schemas.openxmlformats.org/drawingml/2006/main" x="647700" y="1847850"/>
          <a:ext xmlns:a="http://schemas.openxmlformats.org/drawingml/2006/main" cx="10896600" cy="3333750"/>
        </p:xfrm>
        <a:graphic xmlns:a="http://schemas.openxmlformats.org/drawingml/2006/main">
          <a:graphicData uri="http://schemas.openxmlformats.org/drawingml/2006/table">
            <a:tbl>
              <a:tblPr/>
              <a:tblGrid>
                <a:gridCol w="4381500"/>
                <a:gridCol w="6515100"/>
              </a:tblGrid>
              <a:tr h="666750">
                <a:tc>
                  <a:txBody>
                    <a:bodyPr>
                      <a:noAutofit/>
                    </a:bodyPr>
                    <a:lstStyle/>
                    <a:p>
                      <a:r>
                        <a:rPr sz="1875" b="1">
                          <a:solidFill>
                            <a:srgbClr val="FFFFFF"/>
                          </a:solidFill>
                          <a:latin typeface="Helvetica Neue"/>
                          <a:ea typeface="Helvetica Neue"/>
                          <a:cs typeface="Helvetica Neue"/>
                        </a:rPr>
                        <a:t>Observation</a:t>
                      </a:r>
                    </a:p>
                  </a:txBody>
                  <a:tcPr marL="91440" marR="91440" marT="45720" marB="45720">
                    <a:solidFill>
                      <a:srgbClr val="142F3A"/>
                    </a:solidFill>
                  </a:tcPr>
                </a:tc>
                <a:tc>
                  <a:txBody>
                    <a:bodyPr>
                      <a:noAutofit/>
                    </a:bodyPr>
                    <a:lstStyle/>
                    <a:p>
                      <a:r>
                        <a:rPr sz="1875" b="1">
                          <a:solidFill>
                            <a:srgbClr val="FFFFFF"/>
                          </a:solidFill>
                          <a:latin typeface="Helvetica Neue"/>
                          <a:ea typeface="Helvetica Neue"/>
                          <a:cs typeface="Helvetica Neue"/>
                        </a:rPr>
                        <a:t>Interpretation</a:t>
                      </a:r>
                    </a:p>
                  </a:txBody>
                  <a:tcPr marL="91440" marR="91440" marT="45720" marB="45720">
                    <a:solidFill>
                      <a:srgbClr val="142F3A"/>
                    </a:solidFill>
                  </a:tcPr>
                </a:tc>
              </a:tr>
              <a:tr h="666750">
                <a:tc>
                  <a:txBody>
                    <a:bodyPr>
                      <a:noAutofit/>
                    </a:bodyPr>
                    <a:lstStyle/>
                    <a:p>
                      <a:r>
                        <a:rPr sz="1875" b="0">
                          <a:solidFill>
                            <a:srgbClr val="142F3A"/>
                          </a:solidFill>
                          <a:latin typeface="Helvetica Neue"/>
                          <a:ea typeface="Helvetica Neue"/>
                          <a:cs typeface="Helvetica Neue"/>
                        </a:rPr>
                        <a:t>Sonnet medium · 42 steps</a:t>
                      </a:r>
                    </a:p>
                  </a:txBody>
                  <a:tcPr marL="91440" marR="91440" marT="45720" marB="45720">
                    <a:solidFill>
                      <a:srgbClr val="E9F3F1"/>
                    </a:solidFill>
                  </a:tcPr>
                </a:tc>
                <a:tc>
                  <a:txBody>
                    <a:bodyPr>
                      <a:noAutofit/>
                    </a:bodyPr>
                    <a:lstStyle/>
                    <a:p>
                      <a:r>
                        <a:rPr sz="1875" b="0">
                          <a:solidFill>
                            <a:srgbClr val="142F3A"/>
                          </a:solidFill>
                          <a:latin typeface="Helvetica Neue"/>
                          <a:ea typeface="Helvetica Neue"/>
                          <a:cs typeface="Helvetica Neue"/>
                        </a:rPr>
                        <a:t>Functional parser and validation gaps</a:t>
                      </a:r>
                    </a:p>
                  </a:txBody>
                  <a:tcPr marL="91440" marR="91440" marT="45720" marB="45720">
                    <a:solidFill>
                      <a:srgbClr val="E9F3F1"/>
                    </a:solidFill>
                  </a:tcPr>
                </a:tc>
              </a:tr>
              <a:tr h="666750">
                <a:tc>
                  <a:txBody>
                    <a:bodyPr>
                      <a:noAutofit/>
                    </a:bodyPr>
                    <a:lstStyle/>
                    <a:p>
                      <a:r>
                        <a:rPr sz="1875" b="0">
                          <a:solidFill>
                            <a:srgbClr val="142F3A"/>
                          </a:solidFill>
                          <a:latin typeface="Helvetica Neue"/>
                          <a:ea typeface="Helvetica Neue"/>
                          <a:cs typeface="Helvetica Neue"/>
                        </a:rPr>
                        <a:t>Sonnet high · 251 steps</a:t>
                      </a:r>
                    </a:p>
                  </a:txBody>
                  <a:tcPr marL="91440" marR="91440" marT="45720" marB="45720">
                    <a:solidFill>
                      <a:srgbClr val="FFFFFF"/>
                    </a:solidFill>
                  </a:tcPr>
                </a:tc>
                <a:tc>
                  <a:txBody>
                    <a:bodyPr>
                      <a:noAutofit/>
                    </a:bodyPr>
                    <a:lstStyle/>
                    <a:p>
                      <a:r>
                        <a:rPr sz="1875" b="0">
                          <a:solidFill>
                            <a:srgbClr val="142F3A"/>
                          </a:solidFill>
                          <a:latin typeface="Helvetica Neue"/>
                          <a:ea typeface="Helvetica Neue"/>
                          <a:cs typeface="Helvetica Neue"/>
                        </a:rPr>
                        <a:t>Functional checks passed; source constraint failed</a:t>
                      </a:r>
                    </a:p>
                  </a:txBody>
                  <a:tcPr marL="91440" marR="91440" marT="45720" marB="45720">
                    <a:solidFill>
                      <a:srgbClr val="FFFFFF"/>
                    </a:solidFill>
                  </a:tcPr>
                </a:tc>
              </a:tr>
              <a:tr h="666750">
                <a:tc>
                  <a:txBody>
                    <a:bodyPr>
                      <a:noAutofit/>
                    </a:bodyPr>
                    <a:lstStyle/>
                    <a:p>
                      <a:r>
                        <a:rPr sz="1875" b="0">
                          <a:solidFill>
                            <a:srgbClr val="142F3A"/>
                          </a:solidFill>
                          <a:latin typeface="Helvetica Neue"/>
                          <a:ea typeface="Helvetica Neue"/>
                          <a:cs typeface="Helvetica Neue"/>
                        </a:rPr>
                        <a:t>Sonnet max · 323 steps</a:t>
                      </a:r>
                    </a:p>
                  </a:txBody>
                  <a:tcPr marL="91440" marR="91440" marT="45720" marB="45720">
                    <a:solidFill>
                      <a:srgbClr val="E9F3F1"/>
                    </a:solidFill>
                  </a:tcPr>
                </a:tc>
                <a:tc>
                  <a:txBody>
                    <a:bodyPr>
                      <a:noAutofit/>
                    </a:bodyPr>
                    <a:lstStyle/>
                    <a:p>
                      <a:r>
                        <a:rPr sz="1875" b="0">
                          <a:solidFill>
                            <a:srgbClr val="142F3A"/>
                          </a:solidFill>
                          <a:latin typeface="Helvetica Neue"/>
                          <a:ea typeface="Helvetica Neue"/>
                          <a:cs typeface="Helvetica Neue"/>
                        </a:rPr>
                        <a:t>Clean pass across all verifier groups</a:t>
                      </a:r>
                    </a:p>
                  </a:txBody>
                  <a:tcPr marL="91440" marR="91440" marT="45720" marB="45720">
                    <a:solidFill>
                      <a:srgbClr val="E9F3F1"/>
                    </a:solidFill>
                  </a:tcPr>
                </a:tc>
              </a:tr>
              <a:tr h="666750">
                <a:tc>
                  <a:txBody>
                    <a:bodyPr>
                      <a:noAutofit/>
                    </a:bodyPr>
                    <a:lstStyle/>
                    <a:p>
                      <a:r>
                        <a:rPr sz="1875" b="0">
                          <a:solidFill>
                            <a:srgbClr val="142F3A"/>
                          </a:solidFill>
                          <a:latin typeface="Helvetica Neue"/>
                          <a:ea typeface="Helvetica Neue"/>
                          <a:cs typeface="Helvetica Neue"/>
                        </a:rPr>
                        <a:t>Fable / Opus max · 158 steps each</a:t>
                      </a:r>
                    </a:p>
                  </a:txBody>
                  <a:tcPr marL="91440" marR="91440" marT="45720" marB="45720">
                    <a:solidFill>
                      <a:srgbClr val="FFFFFF"/>
                    </a:solidFill>
                  </a:tcPr>
                </a:tc>
                <a:tc>
                  <a:txBody>
                    <a:bodyPr>
                      <a:noAutofit/>
                    </a:bodyPr>
                    <a:lstStyle/>
                    <a:p>
                      <a:r>
                        <a:rPr sz="1875" b="0">
                          <a:solidFill>
                            <a:srgbClr val="142F3A"/>
                          </a:solidFill>
                          <a:latin typeface="Helvetica Neue"/>
                          <a:ea typeface="Helvetica Neue"/>
                          <a:cs typeface="Helvetica Neue"/>
                        </a:rPr>
                        <a:t>Additional clean passes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57B964A-4F78-4820-833A-D5DC5F0A5E3A}"/>
              </a:ext>
            </a:extLst>
          </p:cNvPr>
          <p:cNvSpPr>
            <a:spLocks xmlns:a="http://schemas.openxmlformats.org/drawingml/2006/main" noGrp="1"/>
          </p:cNvSpPr>
          <p:nvPr/>
        </p:nvSpPr>
        <p:spPr>
          <a:xfrm xmlns:a="http://schemas.openxmlformats.org/drawingml/2006/main">
            <a:off x="647700" y="54959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F3A"/>
                </a:solidFill>
                <a:latin typeface="Helvetica Neue"/>
                <a:ea typeface="Helvetica Neue"/>
                <a:cs typeface="Helvetica Neue"/>
              </a:defRPr>
            </a:pPr>
            <a:r>
              <a:rPr sz="1950" b="1">
                <a:solidFill>
                  <a:srgbClr val="142F3A"/>
                </a:solidFill>
                <a:latin typeface="Helvetica Neue"/>
                <a:ea typeface="Helvetica Neue"/>
                <a:cs typeface="Helvetica Neue"/>
              </a:rPr>
              <a:t>The task has depth. These outcomes alone do not prove that every failure requires long-horizon reasoning.</a:t>
            </a:r>
          </a:p>
        </p:txBody>
      </p:sp>
    </p:spTree>
    <p:extLst>
      <p:ext uri="{BB962C8B-B14F-4D97-AF65-F5344CB8AC3E}">
        <p14:creationId xmlns:p14="http://schemas.microsoft.com/office/powerpoint/2010/main" val="167072063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992B821-949A-4AC7-BB26-69F34FBAA267}"/>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Failure validity and task headroom</a:t>
            </a:r>
          </a:p>
        </p:txBody>
      </p:sp>
      <p:sp>
        <p:nvSpPr>
          <p:cNvPr id="2" name="">
            <a:extLst xmlns:a="http://schemas.openxmlformats.org/drawingml/2006/main">
              <a:ext uri="{FF2B5EF4-FFF2-40B4-BE49-F238E27FC236}">
                <a16:creationId xmlns:a16="http://schemas.microsoft.com/office/drawing/2014/main" id="{B56C8414-EF01-4ECF-8201-47934C06662B}"/>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0A9AB87-F843-41B0-9A65-70B82076313A}"/>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4" name="">
            <a:extLst xmlns:a="http://schemas.openxmlformats.org/drawingml/2006/main">
              <a:ext uri="{FF2B5EF4-FFF2-40B4-BE49-F238E27FC236}">
                <a16:creationId xmlns:a16="http://schemas.microsoft.com/office/drawing/2014/main" id="{B2CB8B55-7DA4-41C4-B17A-2813CB02D023}"/>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F8AC45AB-F1DF-4ECE-80E8-3BA37B7C2329}"/>
              </a:ext>
            </a:extLst>
          </p:cNvPr>
          <p:cNvSpPr>
            <a:spLocks xmlns:a="http://schemas.openxmlformats.org/drawingml/2006/main" noGrp="1"/>
          </p:cNvSpPr>
          <p:nvPr/>
        </p:nvSpPr>
        <p:spPr>
          <a:xfrm xmlns:a="http://schemas.openxmlformats.org/drawingml/2006/main">
            <a:off x="647700" y="18859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A real failure can be a weak headline</a:t>
            </a:r>
          </a:p>
        </p:txBody>
      </p:sp>
      <p:sp>
        <p:nvSpPr>
          <p:cNvPr id="6" name="">
            <a:extLst xmlns:a="http://schemas.openxmlformats.org/drawingml/2006/main">
              <a:ext uri="{FF2B5EF4-FFF2-40B4-BE49-F238E27FC236}">
                <a16:creationId xmlns:a16="http://schemas.microsoft.com/office/drawing/2014/main" id="{4B933024-1F74-4BBC-ADAC-74272C45E21F}"/>
              </a:ext>
            </a:extLst>
          </p:cNvPr>
          <p:cNvSpPr>
            <a:spLocks xmlns:a="http://schemas.openxmlformats.org/drawingml/2006/main" noGrp="1"/>
          </p:cNvSpPr>
          <p:nvPr/>
        </p:nvSpPr>
        <p:spPr>
          <a:xfrm xmlns:a="http://schemas.openxmlformats.org/drawingml/2006/main">
            <a:off x="647700" y="240982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SQLite’s NUL default is a valid literal-string case. All 30 attempts missed it, but one serializer edge case is not 30 independent failure modes.</a:t>
            </a:r>
          </a:p>
        </p:txBody>
      </p:sp>
      <p:sp>
        <p:nvSpPr>
          <p:cNvPr id="7" name="">
            <a:extLst xmlns:a="http://schemas.openxmlformats.org/drawingml/2006/main">
              <a:ext uri="{FF2B5EF4-FFF2-40B4-BE49-F238E27FC236}">
                <a16:creationId xmlns:a16="http://schemas.microsoft.com/office/drawing/2014/main" id="{64C18B35-53B7-49D6-AF51-05C3E2A6FAB0}"/>
              </a:ext>
            </a:extLst>
          </p:cNvPr>
          <p:cNvSpPr>
            <a:spLocks xmlns:a="http://schemas.openxmlformats.org/drawingml/2006/main" noGrp="1"/>
          </p:cNvSpPr>
          <p:nvPr/>
        </p:nvSpPr>
        <p:spPr>
          <a:xfrm xmlns:a="http://schemas.openxmlformats.org/drawingml/2006/main">
            <a:off x="6448425" y="188595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A test can also overreach</a:t>
            </a:r>
          </a:p>
        </p:txBody>
      </p:sp>
      <p:sp>
        <p:nvSpPr>
          <p:cNvPr id="8" name="">
            <a:extLst xmlns:a="http://schemas.openxmlformats.org/drawingml/2006/main">
              <a:ext uri="{FF2B5EF4-FFF2-40B4-BE49-F238E27FC236}">
                <a16:creationId xmlns:a16="http://schemas.microsoft.com/office/drawing/2014/main" id="{7CF2A78A-E3BB-40A3-91AE-1B1A23A20B60}"/>
              </a:ext>
            </a:extLst>
          </p:cNvPr>
          <p:cNvSpPr>
            <a:spLocks xmlns:a="http://schemas.openxmlformats.org/drawingml/2006/main" noGrp="1"/>
          </p:cNvSpPr>
          <p:nvPr/>
        </p:nvSpPr>
        <p:spPr>
          <a:xfrm xmlns:a="http://schemas.openxmlformats.org/drawingml/2006/main">
            <a:off x="6448425" y="2409825"/>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Hidden internal imports, an unstated Debug bound, and an empty-rename rejection needed correction. Corrected revisions keep separate cohorts.</a:t>
            </a:r>
          </a:p>
        </p:txBody>
      </p:sp>
      <p:sp>
        <p:nvSpPr>
          <p:cNvPr id="9" name="">
            <a:extLst xmlns:a="http://schemas.openxmlformats.org/drawingml/2006/main">
              <a:ext uri="{FF2B5EF4-FFF2-40B4-BE49-F238E27FC236}">
                <a16:creationId xmlns:a16="http://schemas.microsoft.com/office/drawing/2014/main" id="{6B6E84E0-CEDD-44B0-BC41-554E17F59C8A}"/>
              </a:ext>
            </a:extLst>
          </p:cNvPr>
          <p:cNvSpPr>
            <a:spLocks xmlns:a="http://schemas.openxmlformats.org/drawingml/2006/main" noGrp="1"/>
          </p:cNvSpPr>
          <p:nvPr/>
        </p:nvSpPr>
        <p:spPr>
          <a:xfrm xmlns:a="http://schemas.openxmlformats.org/drawingml/2006/main">
            <a:off x="647700" y="523875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B78"/>
                </a:solidFill>
                <a:latin typeface="Helvetica Neue"/>
                <a:ea typeface="Helvetica Neue"/>
                <a:cs typeface="Helvetica Neue"/>
              </a:defRPr>
            </a:pPr>
            <a:r>
              <a:rPr sz="2100" b="1">
                <a:solidFill>
                  <a:srgbClr val="007B78"/>
                </a:solidFill>
                <a:latin typeface="Helvetica Neue"/>
                <a:ea typeface="Helvetica Neue"/>
                <a:cs typeface="Helvetica Neue"/>
              </a:rPr>
              <a:t>Classify each outcome: implementation defect · stated constraint · test/spec mismatch · infrastructure.</a:t>
            </a:r>
          </a:p>
        </p:txBody>
      </p:sp>
    </p:spTree>
    <p:extLst>
      <p:ext uri="{BB962C8B-B14F-4D97-AF65-F5344CB8AC3E}">
        <p14:creationId xmlns:p14="http://schemas.microsoft.com/office/powerpoint/2010/main" val="25847425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74C5AF7-B5B6-4111-AB7F-48ABBA8B498B}"/>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External evidence motivates a self-verification probe</a:t>
            </a:r>
          </a:p>
        </p:txBody>
      </p:sp>
      <p:sp>
        <p:nvSpPr>
          <p:cNvPr id="2" name="">
            <a:extLst xmlns:a="http://schemas.openxmlformats.org/drawingml/2006/main">
              <a:ext uri="{FF2B5EF4-FFF2-40B4-BE49-F238E27FC236}">
                <a16:creationId xmlns:a16="http://schemas.microsoft.com/office/drawing/2014/main" id="{41603BB7-C62B-43C2-BBE7-0A2B549A40AC}"/>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620134F-72C5-4F70-8070-769A48C83DFC}"/>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4" name="">
            <a:extLst xmlns:a="http://schemas.openxmlformats.org/drawingml/2006/main">
              <a:ext uri="{FF2B5EF4-FFF2-40B4-BE49-F238E27FC236}">
                <a16:creationId xmlns:a16="http://schemas.microsoft.com/office/drawing/2014/main" id="{E8BA9510-5147-414A-A5B4-F34EA93948BC}"/>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E3B3D8C9-0ED5-4382-BC02-A68AB5FD3BD9}"/>
              </a:ext>
            </a:extLst>
          </p:cNvPr>
          <p:cNvSpPr>
            <a:spLocks xmlns:a="http://schemas.openxmlformats.org/drawingml/2006/main" noGrp="1"/>
          </p:cNvSpPr>
          <p:nvPr/>
        </p:nvSpPr>
        <p:spPr>
          <a:xfrm xmlns:a="http://schemas.openxmlformats.org/drawingml/2006/main">
            <a:off x="647700" y="1962150"/>
            <a:ext cx="304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007B78"/>
                </a:solidFill>
                <a:latin typeface="Helvetica Neue"/>
                <a:ea typeface="Helvetica Neue"/>
                <a:cs typeface="Helvetica Neue"/>
              </a:defRPr>
            </a:pPr>
            <a:r>
              <a:rPr sz="5250" b="1">
                <a:solidFill>
                  <a:srgbClr val="007B78"/>
                </a:solidFill>
                <a:latin typeface="Helvetica Neue"/>
                <a:ea typeface="Helvetica Neue"/>
                <a:cs typeface="Helvetica Neue"/>
              </a:rPr>
              <a:t>20</a:t>
            </a:r>
          </a:p>
        </p:txBody>
      </p:sp>
      <p:sp>
        <p:nvSpPr>
          <p:cNvPr id="6" name="">
            <a:extLst xmlns:a="http://schemas.openxmlformats.org/drawingml/2006/main">
              <a:ext uri="{FF2B5EF4-FFF2-40B4-BE49-F238E27FC236}">
                <a16:creationId xmlns:a16="http://schemas.microsoft.com/office/drawing/2014/main" id="{D0CA636E-BF16-4316-8416-756ECBC455DE}"/>
              </a:ext>
            </a:extLst>
          </p:cNvPr>
          <p:cNvSpPr>
            <a:spLocks xmlns:a="http://schemas.openxmlformats.org/drawingml/2006/main" noGrp="1"/>
          </p:cNvSpPr>
          <p:nvPr/>
        </p:nvSpPr>
        <p:spPr>
          <a:xfrm xmlns:a="http://schemas.openxmlformats.org/drawingml/2006/main">
            <a:off x="647700" y="3000375"/>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F3A"/>
                </a:solidFill>
                <a:latin typeface="Helvetica Neue"/>
                <a:ea typeface="Helvetica Neue"/>
                <a:cs typeface="Helvetica Neue"/>
              </a:defRPr>
            </a:pPr>
            <a:r>
              <a:rPr sz="2100" b="0">
                <a:solidFill>
                  <a:srgbClr val="142F3A"/>
                </a:solidFill>
                <a:latin typeface="Helvetica Neue"/>
                <a:ea typeface="Helvetica Neue"/>
                <a:cs typeface="Helvetica Neue"/>
              </a:rPr>
              <a:t>tasks in SWE-Marathon</a:t>
            </a:r>
          </a:p>
        </p:txBody>
      </p:sp>
      <p:sp>
        <p:nvSpPr>
          <p:cNvPr id="7" name="">
            <a:extLst xmlns:a="http://schemas.openxmlformats.org/drawingml/2006/main">
              <a:ext uri="{FF2B5EF4-FFF2-40B4-BE49-F238E27FC236}">
                <a16:creationId xmlns:a16="http://schemas.microsoft.com/office/drawing/2014/main" id="{92B8FB01-520F-4CA7-884A-2E1DBC4E071B}"/>
              </a:ext>
            </a:extLst>
          </p:cNvPr>
          <p:cNvSpPr>
            <a:spLocks xmlns:a="http://schemas.openxmlformats.org/drawingml/2006/main" noGrp="1"/>
          </p:cNvSpPr>
          <p:nvPr/>
        </p:nvSpPr>
        <p:spPr>
          <a:xfrm xmlns:a="http://schemas.openxmlformats.org/drawingml/2006/main">
            <a:off x="6448425" y="1962150"/>
            <a:ext cx="381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007B78"/>
                </a:solidFill>
                <a:latin typeface="Helvetica Neue"/>
                <a:ea typeface="Helvetica Neue"/>
                <a:cs typeface="Helvetica Neue"/>
              </a:defRPr>
            </a:pPr>
            <a:r>
              <a:rPr sz="5250" b="1">
                <a:solidFill>
                  <a:srgbClr val="007B78"/>
                </a:solidFill>
                <a:latin typeface="Helvetica Neue"/>
                <a:ea typeface="Helvetica Neue"/>
                <a:cs typeface="Helvetica Neue"/>
              </a:rPr>
              <a:t>&lt;30%</a:t>
            </a:r>
          </a:p>
        </p:txBody>
      </p:sp>
      <p:sp>
        <p:nvSpPr>
          <p:cNvPr id="8" name="">
            <a:extLst xmlns:a="http://schemas.openxmlformats.org/drawingml/2006/main">
              <a:ext uri="{FF2B5EF4-FFF2-40B4-BE49-F238E27FC236}">
                <a16:creationId xmlns:a16="http://schemas.microsoft.com/office/drawing/2014/main" id="{601153A8-06A0-4910-96A7-EBB0847F1F3C}"/>
              </a:ext>
            </a:extLst>
          </p:cNvPr>
          <p:cNvSpPr>
            <a:spLocks xmlns:a="http://schemas.openxmlformats.org/drawingml/2006/main" noGrp="1"/>
          </p:cNvSpPr>
          <p:nvPr/>
        </p:nvSpPr>
        <p:spPr>
          <a:xfrm xmlns:a="http://schemas.openxmlformats.org/drawingml/2006/main">
            <a:off x="6448425" y="3000375"/>
            <a:ext cx="5095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F3A"/>
                </a:solidFill>
                <a:latin typeface="Helvetica Neue"/>
                <a:ea typeface="Helvetica Neue"/>
                <a:cs typeface="Helvetica Neue"/>
              </a:defRPr>
            </a:pPr>
            <a:r>
              <a:rPr sz="2100" b="0">
                <a:solidFill>
                  <a:srgbClr val="142F3A"/>
                </a:solidFill>
                <a:latin typeface="Helvetica Neue"/>
                <a:ea typeface="Helvetica Neue"/>
                <a:cs typeface="Helvetica Neue"/>
              </a:rPr>
              <a:t>solved by agents evaluated in the paper</a:t>
            </a:r>
          </a:p>
        </p:txBody>
      </p:sp>
      <p:sp>
        <p:nvSpPr>
          <p:cNvPr id="9" name="">
            <a:extLst xmlns:a="http://schemas.openxmlformats.org/drawingml/2006/main">
              <a:ext uri="{FF2B5EF4-FFF2-40B4-BE49-F238E27FC236}">
                <a16:creationId xmlns:a16="http://schemas.microsoft.com/office/drawing/2014/main" id="{0230D231-8265-45CE-8E85-C3FFDFF4B2CE}"/>
              </a:ext>
            </a:extLst>
          </p:cNvPr>
          <p:cNvSpPr>
            <a:spLocks xmlns:a="http://schemas.openxmlformats.org/drawingml/2006/main" noGrp="1"/>
          </p:cNvSpPr>
          <p:nvPr/>
        </p:nvSpPr>
        <p:spPr>
          <a:xfrm xmlns:a="http://schemas.openxmlformats.org/drawingml/2006/main">
            <a:off x="647700" y="41719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2F3A"/>
                </a:solidFill>
                <a:latin typeface="Helvetica Neue"/>
                <a:ea typeface="Helvetica Neue"/>
                <a:cs typeface="Helvetica Neue"/>
              </a:defRPr>
            </a:pPr>
            <a:r>
              <a:rPr sz="2325" b="1">
                <a:solidFill>
                  <a:srgbClr val="142F3A"/>
                </a:solidFill>
                <a:latin typeface="Helvetica Neue"/>
                <a:ea typeface="Helvetica Neue"/>
                <a:cs typeface="Helvetica Neue"/>
              </a:rPr>
              <a:t>“poor self-verification, self-reported infeasibility, and premature termination”</a:t>
            </a:r>
          </a:p>
        </p:txBody>
      </p:sp>
      <p:sp>
        <p:nvSpPr>
          <p:cNvPr id="10" name="">
            <a:extLst xmlns:a="http://schemas.openxmlformats.org/drawingml/2006/main">
              <a:ext uri="{FF2B5EF4-FFF2-40B4-BE49-F238E27FC236}">
                <a16:creationId xmlns:a16="http://schemas.microsoft.com/office/drawing/2014/main" id="{AEE46E20-A943-450A-986E-35B5D9227DBB}"/>
              </a:ext>
            </a:extLst>
          </p:cNvPr>
          <p:cNvSpPr>
            <a:spLocks xmlns:a="http://schemas.openxmlformats.org/drawingml/2006/main" noGrp="1"/>
          </p:cNvSpPr>
          <p:nvPr/>
        </p:nvSpPr>
        <p:spPr>
          <a:xfrm xmlns:a="http://schemas.openxmlformats.org/drawingml/2006/main">
            <a:off x="647700" y="52863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C75"/>
                </a:solidFill>
                <a:latin typeface="Helvetica Neue"/>
                <a:ea typeface="Helvetica Neue"/>
                <a:cs typeface="Helvetica Neue"/>
              </a:defRPr>
            </a:pPr>
            <a:r>
              <a:rPr sz="2100" b="0">
                <a:solidFill>
                  <a:srgbClr val="536C75"/>
                </a:solidFill>
                <a:latin typeface="Helvetica Neue"/>
                <a:ea typeface="Helvetica Neue"/>
                <a:cs typeface="Helvetica Neue"/>
              </a:rPr>
              <a:t>These cases examine implementations that pass local checks yet violate explicit integration contracts.</a:t>
            </a:r>
          </a:p>
        </p:txBody>
      </p:sp>
    </p:spTree>
    <p:extLst>
      <p:ext uri="{BB962C8B-B14F-4D97-AF65-F5344CB8AC3E}">
        <p14:creationId xmlns:p14="http://schemas.microsoft.com/office/powerpoint/2010/main" val="68014810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82CE28D-AB0F-467C-B978-F6227D105CC7}"/>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What the pilot establishes</a:t>
            </a:r>
          </a:p>
        </p:txBody>
      </p:sp>
      <p:sp>
        <p:nvSpPr>
          <p:cNvPr id="2" name="">
            <a:extLst xmlns:a="http://schemas.openxmlformats.org/drawingml/2006/main">
              <a:ext uri="{FF2B5EF4-FFF2-40B4-BE49-F238E27FC236}">
                <a16:creationId xmlns:a16="http://schemas.microsoft.com/office/drawing/2014/main" id="{028FF544-A69F-4465-BDEE-3BC7D83ED90A}"/>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0D74765-F177-4629-B768-E8592744EC39}"/>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4" name="">
            <a:extLst xmlns:a="http://schemas.openxmlformats.org/drawingml/2006/main">
              <a:ext uri="{FF2B5EF4-FFF2-40B4-BE49-F238E27FC236}">
                <a16:creationId xmlns:a16="http://schemas.microsoft.com/office/drawing/2014/main" id="{3E895275-0776-499C-B234-039E8AAAF2AB}"/>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BDE9F3E3-3006-42B0-A3C4-76AE42850C4A}"/>
              </a:ext>
            </a:extLst>
          </p:cNvPr>
          <p:cNvSpPr>
            <a:spLocks xmlns:a="http://schemas.openxmlformats.org/drawingml/2006/main" noGrp="1"/>
          </p:cNvSpPr>
          <p:nvPr/>
        </p:nvSpPr>
        <p:spPr>
          <a:xfrm xmlns:a="http://schemas.openxmlformats.org/drawingml/2006/main">
            <a:off x="647700" y="18669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What the observations establish</a:t>
            </a:r>
          </a:p>
        </p:txBody>
      </p:sp>
      <p:sp>
        <p:nvSpPr>
          <p:cNvPr id="6" name="">
            <a:extLst xmlns:a="http://schemas.openxmlformats.org/drawingml/2006/main">
              <a:ext uri="{FF2B5EF4-FFF2-40B4-BE49-F238E27FC236}">
                <a16:creationId xmlns:a16="http://schemas.microsoft.com/office/drawing/2014/main" id="{0424A118-A9DE-403B-A371-5943799ECC9B}"/>
              </a:ext>
            </a:extLst>
          </p:cNvPr>
          <p:cNvSpPr>
            <a:spLocks xmlns:a="http://schemas.openxmlformats.org/drawingml/2006/main" noGrp="1"/>
          </p:cNvSpPr>
          <p:nvPr/>
        </p:nvSpPr>
        <p:spPr>
          <a:xfrm xmlns:a="http://schemas.openxmlformats.org/drawingml/2006/main">
            <a:off x="647700" y="239077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Several completed attempts took many assistant turns. Some submissions fail explicit contracts. Successful completions show that those tasks are solvable.</a:t>
            </a:r>
          </a:p>
        </p:txBody>
      </p:sp>
      <p:sp>
        <p:nvSpPr>
          <p:cNvPr id="7" name="">
            <a:extLst xmlns:a="http://schemas.openxmlformats.org/drawingml/2006/main">
              <a:ext uri="{FF2B5EF4-FFF2-40B4-BE49-F238E27FC236}">
                <a16:creationId xmlns:a16="http://schemas.microsoft.com/office/drawing/2014/main" id="{C3E370D4-C681-4C06-A07B-393FF098FE14}"/>
              </a:ext>
            </a:extLst>
          </p:cNvPr>
          <p:cNvSpPr>
            <a:spLocks xmlns:a="http://schemas.openxmlformats.org/drawingml/2006/main" noGrp="1"/>
          </p:cNvSpPr>
          <p:nvPr/>
        </p:nvSpPr>
        <p:spPr>
          <a:xfrm xmlns:a="http://schemas.openxmlformats.org/drawingml/2006/main">
            <a:off x="6448425" y="186690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What remains unmeasured</a:t>
            </a:r>
          </a:p>
        </p:txBody>
      </p:sp>
      <p:sp>
        <p:nvSpPr>
          <p:cNvPr id="8" name="">
            <a:extLst xmlns:a="http://schemas.openxmlformats.org/drawingml/2006/main">
              <a:ext uri="{FF2B5EF4-FFF2-40B4-BE49-F238E27FC236}">
                <a16:creationId xmlns:a16="http://schemas.microsoft.com/office/drawing/2014/main" id="{62328B48-2331-4AB9-B5C9-5122EEB3532C}"/>
              </a:ext>
            </a:extLst>
          </p:cNvPr>
          <p:cNvSpPr>
            <a:spLocks xmlns:a="http://schemas.openxmlformats.org/drawingml/2006/main" noGrp="1"/>
          </p:cNvSpPr>
          <p:nvPr/>
        </p:nvSpPr>
        <p:spPr>
          <a:xfrm xmlns:a="http://schemas.openxmlformats.org/drawingml/2006/main">
            <a:off x="6448425" y="2390775"/>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Reliable per-cell pass rates, causal effects of effort, broad model ordering, human completion time, and gains from training.</a:t>
            </a:r>
          </a:p>
        </p:txBody>
      </p:sp>
      <p:sp>
        <p:nvSpPr>
          <p:cNvPr id="9" name="">
            <a:extLst xmlns:a="http://schemas.openxmlformats.org/drawingml/2006/main">
              <a:ext uri="{FF2B5EF4-FFF2-40B4-BE49-F238E27FC236}">
                <a16:creationId xmlns:a16="http://schemas.microsoft.com/office/drawing/2014/main" id="{40F42776-8B4D-495E-A390-829E23AB4BF9}"/>
              </a:ext>
            </a:extLst>
          </p:cNvPr>
          <p:cNvSpPr>
            <a:spLocks xmlns:a="http://schemas.openxmlformats.org/drawingml/2006/main" noGrp="1"/>
          </p:cNvSpPr>
          <p:nvPr/>
        </p:nvSpPr>
        <p:spPr>
          <a:xfrm xmlns:a="http://schemas.openxmlformats.org/drawingml/2006/main">
            <a:off x="647700" y="41624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D6520"/>
                </a:solidFill>
                <a:latin typeface="Helvetica Neue"/>
                <a:ea typeface="Helvetica Neue"/>
                <a:cs typeface="Helvetica Neue"/>
              </a:defRPr>
            </a:pPr>
            <a:r>
              <a:rPr sz="1875" b="1">
                <a:solidFill>
                  <a:srgbClr val="AD6520"/>
                </a:solidFill>
                <a:latin typeface="Helvetica Neue"/>
                <a:ea typeface="Helvetica Neue"/>
                <a:cs typeface="Helvetica Neue"/>
              </a:rPr>
              <a:t>Service interruptions affect the Fable/max outcomes in Luigi and Diskcache.</a:t>
            </a:r>
          </a:p>
        </p:txBody>
      </p:sp>
      <p:sp>
        <p:nvSpPr>
          <p:cNvPr id="10" name="">
            <a:extLst xmlns:a="http://schemas.openxmlformats.org/drawingml/2006/main">
              <a:ext uri="{FF2B5EF4-FFF2-40B4-BE49-F238E27FC236}">
                <a16:creationId xmlns:a16="http://schemas.microsoft.com/office/drawing/2014/main" id="{6204E353-1737-456F-98DE-3FCAB56F5BF8}"/>
              </a:ext>
            </a:extLst>
          </p:cNvPr>
          <p:cNvSpPr>
            <a:spLocks xmlns:a="http://schemas.openxmlformats.org/drawingml/2006/main" noGrp="1"/>
          </p:cNvSpPr>
          <p:nvPr/>
        </p:nvSpPr>
        <p:spPr>
          <a:xfrm xmlns:a="http://schemas.openxmlformats.org/drawingml/2006/main">
            <a:off x="647700" y="48482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C75"/>
                </a:solidFill>
                <a:latin typeface="Helvetica Neue"/>
                <a:ea typeface="Helvetica Neue"/>
                <a:cs typeface="Helvetica Neue"/>
              </a:defRPr>
            </a:pPr>
            <a:r>
              <a:rPr sz="1875" b="0">
                <a:solidFill>
                  <a:srgbClr val="536C75"/>
                </a:solidFill>
                <a:latin typeface="Helvetica Neue"/>
                <a:ea typeface="Helvetica Neue"/>
                <a:cs typeface="Helvetica Neue"/>
              </a:rPr>
              <a:t>SWE-Bench Pro: “patches across multiple files and substantial code modifications.”</a:t>
            </a:r>
          </a:p>
        </p:txBody>
      </p:sp>
      <p:sp>
        <p:nvSpPr>
          <p:cNvPr id="11" name="">
            <a:extLst xmlns:a="http://schemas.openxmlformats.org/drawingml/2006/main">
              <a:ext uri="{FF2B5EF4-FFF2-40B4-BE49-F238E27FC236}">
                <a16:creationId xmlns:a16="http://schemas.microsoft.com/office/drawing/2014/main" id="{5C9EC108-E641-42D3-9273-5D21A298E59F}"/>
              </a:ext>
            </a:extLst>
          </p:cNvPr>
          <p:cNvSpPr>
            <a:spLocks xmlns:a="http://schemas.openxmlformats.org/drawingml/2006/main" noGrp="1"/>
          </p:cNvSpPr>
          <p:nvPr/>
        </p:nvSpPr>
        <p:spPr>
          <a:xfrm xmlns:a="http://schemas.openxmlformats.org/drawingml/2006/main">
            <a:off x="647700" y="54864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C75"/>
                </a:solidFill>
                <a:latin typeface="Helvetica Neue"/>
                <a:ea typeface="Helvetica Neue"/>
                <a:cs typeface="Helvetica Neue"/>
              </a:defRPr>
            </a:pPr>
            <a:r>
              <a:rPr sz="1875" b="0">
                <a:solidFill>
                  <a:srgbClr val="536C75"/>
                </a:solidFill>
                <a:latin typeface="Helvetica Neue"/>
                <a:ea typeface="Helvetica Neue"/>
                <a:cs typeface="Helvetica Neue"/>
              </a:rPr>
              <a:t>METR’s time horizon is human-time calibrated; our step count is a different measurement.</a:t>
            </a:r>
          </a:p>
        </p:txBody>
      </p:sp>
    </p:spTree>
    <p:extLst>
      <p:ext uri="{BB962C8B-B14F-4D97-AF65-F5344CB8AC3E}">
        <p14:creationId xmlns:p14="http://schemas.microsoft.com/office/powerpoint/2010/main" val="69441707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969DAB3-A9B4-4A57-B876-3B37868334C1}"/>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Scaling to 1,000 accepted tasks</a:t>
            </a:r>
          </a:p>
        </p:txBody>
      </p:sp>
      <p:sp>
        <p:nvSpPr>
          <p:cNvPr id="2" name="">
            <a:extLst xmlns:a="http://schemas.openxmlformats.org/drawingml/2006/main">
              <a:ext uri="{FF2B5EF4-FFF2-40B4-BE49-F238E27FC236}">
                <a16:creationId xmlns:a16="http://schemas.microsoft.com/office/drawing/2014/main" id="{E4254FA0-3FCD-4E76-82C7-FBF5753B682F}"/>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BF5FAC2-1337-40FA-BBC6-D4160CC961E6}"/>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4" name="">
            <a:extLst xmlns:a="http://schemas.openxmlformats.org/drawingml/2006/main">
              <a:ext uri="{FF2B5EF4-FFF2-40B4-BE49-F238E27FC236}">
                <a16:creationId xmlns:a16="http://schemas.microsoft.com/office/drawing/2014/main" id="{8ACF482B-ACF0-4C89-828E-473FC8F6F268}"/>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9EE557D7-00B4-41C6-A201-8DB7F8638DC9}"/>
              </a:ext>
            </a:extLst>
          </p:cNvPr>
          <p:cNvSpPr>
            <a:spLocks xmlns:a="http://schemas.openxmlformats.org/drawingml/2006/main" noGrp="1"/>
          </p:cNvSpPr>
          <p:nvPr/>
        </p:nvSpPr>
        <p:spPr>
          <a:xfrm xmlns:a="http://schemas.openxmlformats.org/drawingml/2006/main">
            <a:off x="647700" y="2009775"/>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B78"/>
                </a:solidFill>
                <a:latin typeface="Helvetica Neue"/>
                <a:ea typeface="Helvetica Neue"/>
                <a:cs typeface="Helvetica Neue"/>
              </a:defRPr>
            </a:pPr>
            <a:r>
              <a:rPr sz="3150" b="1">
                <a:solidFill>
                  <a:srgbClr val="007B78"/>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15E3AC6A-5365-4ABE-B405-72BF3B46E500}"/>
              </a:ext>
            </a:extLst>
          </p:cNvPr>
          <p:cNvSpPr>
            <a:spLocks xmlns:a="http://schemas.openxmlformats.org/drawingml/2006/main" noGrp="1"/>
          </p:cNvSpPr>
          <p:nvPr/>
        </p:nvSpPr>
        <p:spPr>
          <a:xfrm xmlns:a="http://schemas.openxmlformats.org/drawingml/2006/main">
            <a:off x="647700" y="270510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F3A"/>
                </a:solidFill>
                <a:latin typeface="Helvetica Neue"/>
                <a:ea typeface="Helvetica Neue"/>
                <a:cs typeface="Helvetica Neue"/>
              </a:defRPr>
            </a:pPr>
            <a:r>
              <a:rPr sz="2100" b="1">
                <a:solidFill>
                  <a:srgbClr val="142F3A"/>
                </a:solidFill>
                <a:latin typeface="Helvetica Neue"/>
                <a:ea typeface="Helvetica Neue"/>
                <a:cs typeface="Helvetica Neue"/>
              </a:rPr>
              <a:t>Mine issues + PR stacks</a:t>
            </a:r>
          </a:p>
        </p:txBody>
      </p:sp>
      <p:sp>
        <p:nvSpPr>
          <p:cNvPr id="7" name="">
            <a:extLst xmlns:a="http://schemas.openxmlformats.org/drawingml/2006/main">
              <a:ext uri="{FF2B5EF4-FFF2-40B4-BE49-F238E27FC236}">
                <a16:creationId xmlns:a16="http://schemas.microsoft.com/office/drawing/2014/main" id="{AA8CD664-ABAB-4411-A7AF-D7641C9EBD67}"/>
              </a:ext>
            </a:extLst>
          </p:cNvPr>
          <p:cNvSpPr>
            <a:spLocks xmlns:a="http://schemas.openxmlformats.org/drawingml/2006/main" noGrp="1"/>
          </p:cNvSpPr>
          <p:nvPr/>
        </p:nvSpPr>
        <p:spPr>
          <a:xfrm xmlns:a="http://schemas.openxmlformats.org/drawingml/2006/main">
            <a:off x="3467100" y="2009775"/>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B78"/>
                </a:solidFill>
                <a:latin typeface="Helvetica Neue"/>
                <a:ea typeface="Helvetica Neue"/>
                <a:cs typeface="Helvetica Neue"/>
              </a:defRPr>
            </a:pPr>
            <a:r>
              <a:rPr sz="3150" b="1">
                <a:solidFill>
                  <a:srgbClr val="007B78"/>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A108BDBE-192E-4B93-A06B-539CD8D6DC0A}"/>
              </a:ext>
            </a:extLst>
          </p:cNvPr>
          <p:cNvSpPr>
            <a:spLocks xmlns:a="http://schemas.openxmlformats.org/drawingml/2006/main" noGrp="1"/>
          </p:cNvSpPr>
          <p:nvPr/>
        </p:nvSpPr>
        <p:spPr>
          <a:xfrm xmlns:a="http://schemas.openxmlformats.org/drawingml/2006/main">
            <a:off x="3467100" y="270510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F3A"/>
                </a:solidFill>
                <a:latin typeface="Helvetica Neue"/>
                <a:ea typeface="Helvetica Neue"/>
                <a:cs typeface="Helvetica Neue"/>
              </a:defRPr>
            </a:pPr>
            <a:r>
              <a:rPr sz="2100" b="1">
                <a:solidFill>
                  <a:srgbClr val="142F3A"/>
                </a:solidFill>
                <a:latin typeface="Helvetica Neue"/>
                <a:ea typeface="Helvetica Neue"/>
                <a:cs typeface="Helvetica Neue"/>
              </a:rPr>
              <a:t>Compose dependent changes</a:t>
            </a:r>
          </a:p>
        </p:txBody>
      </p:sp>
      <p:sp>
        <p:nvSpPr>
          <p:cNvPr id="9" name="">
            <a:extLst xmlns:a="http://schemas.openxmlformats.org/drawingml/2006/main">
              <a:ext uri="{FF2B5EF4-FFF2-40B4-BE49-F238E27FC236}">
                <a16:creationId xmlns:a16="http://schemas.microsoft.com/office/drawing/2014/main" id="{D4E0920D-1760-460E-A96C-BE997666B356}"/>
              </a:ext>
            </a:extLst>
          </p:cNvPr>
          <p:cNvSpPr>
            <a:spLocks xmlns:a="http://schemas.openxmlformats.org/drawingml/2006/main" noGrp="1"/>
          </p:cNvSpPr>
          <p:nvPr/>
        </p:nvSpPr>
        <p:spPr>
          <a:xfrm xmlns:a="http://schemas.openxmlformats.org/drawingml/2006/main">
            <a:off x="6286500" y="2009775"/>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B78"/>
                </a:solidFill>
                <a:latin typeface="Helvetica Neue"/>
                <a:ea typeface="Helvetica Neue"/>
                <a:cs typeface="Helvetica Neue"/>
              </a:defRPr>
            </a:pPr>
            <a:r>
              <a:rPr sz="3150" b="1">
                <a:solidFill>
                  <a:srgbClr val="007B78"/>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5FCC0EE9-8988-49A6-8AAF-2F7328EBCC46}"/>
              </a:ext>
            </a:extLst>
          </p:cNvPr>
          <p:cNvSpPr>
            <a:spLocks xmlns:a="http://schemas.openxmlformats.org/drawingml/2006/main" noGrp="1"/>
          </p:cNvSpPr>
          <p:nvPr/>
        </p:nvSpPr>
        <p:spPr>
          <a:xfrm xmlns:a="http://schemas.openxmlformats.org/drawingml/2006/main">
            <a:off x="6286500" y="270510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F3A"/>
                </a:solidFill>
                <a:latin typeface="Helvetica Neue"/>
                <a:ea typeface="Helvetica Neue"/>
                <a:cs typeface="Helvetica Neue"/>
              </a:defRPr>
            </a:pPr>
            <a:r>
              <a:rPr sz="2100" b="1">
                <a:solidFill>
                  <a:srgbClr val="142F3A"/>
                </a:solidFill>
                <a:latin typeface="Helvetica Neue"/>
                <a:ea typeface="Helvetica Neue"/>
                <a:cs typeface="Helvetica Neue"/>
              </a:rPr>
              <a:t>Audit properties + controls</a:t>
            </a:r>
          </a:p>
        </p:txBody>
      </p:sp>
      <p:sp>
        <p:nvSpPr>
          <p:cNvPr id="11" name="">
            <a:extLst xmlns:a="http://schemas.openxmlformats.org/drawingml/2006/main">
              <a:ext uri="{FF2B5EF4-FFF2-40B4-BE49-F238E27FC236}">
                <a16:creationId xmlns:a16="http://schemas.microsoft.com/office/drawing/2014/main" id="{607ABDED-7501-44A9-9179-AC03F0F481CD}"/>
              </a:ext>
            </a:extLst>
          </p:cNvPr>
          <p:cNvSpPr>
            <a:spLocks xmlns:a="http://schemas.openxmlformats.org/drawingml/2006/main" noGrp="1"/>
          </p:cNvSpPr>
          <p:nvPr/>
        </p:nvSpPr>
        <p:spPr>
          <a:xfrm xmlns:a="http://schemas.openxmlformats.org/drawingml/2006/main">
            <a:off x="9105900" y="2009775"/>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B78"/>
                </a:solidFill>
                <a:latin typeface="Helvetica Neue"/>
                <a:ea typeface="Helvetica Neue"/>
                <a:cs typeface="Helvetica Neue"/>
              </a:defRPr>
            </a:pPr>
            <a:r>
              <a:rPr sz="3150" b="1">
                <a:solidFill>
                  <a:srgbClr val="007B78"/>
                </a:solidFill>
                <a:latin typeface="Helvetica Neue"/>
                <a:ea typeface="Helvetica Neue"/>
                <a:cs typeface="Helvetica Neue"/>
              </a:rPr>
              <a:t>04</a:t>
            </a:r>
          </a:p>
        </p:txBody>
      </p:sp>
      <p:sp>
        <p:nvSpPr>
          <p:cNvPr id="12" name="">
            <a:extLst xmlns:a="http://schemas.openxmlformats.org/drawingml/2006/main">
              <a:ext uri="{FF2B5EF4-FFF2-40B4-BE49-F238E27FC236}">
                <a16:creationId xmlns:a16="http://schemas.microsoft.com/office/drawing/2014/main" id="{51C16DA2-CB63-4D4B-B356-B95AE485DC21}"/>
              </a:ext>
            </a:extLst>
          </p:cNvPr>
          <p:cNvSpPr>
            <a:spLocks xmlns:a="http://schemas.openxmlformats.org/drawingml/2006/main" noGrp="1"/>
          </p:cNvSpPr>
          <p:nvPr/>
        </p:nvSpPr>
        <p:spPr>
          <a:xfrm xmlns:a="http://schemas.openxmlformats.org/drawingml/2006/main">
            <a:off x="9105900" y="270510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F3A"/>
                </a:solidFill>
                <a:latin typeface="Helvetica Neue"/>
                <a:ea typeface="Helvetica Neue"/>
                <a:cs typeface="Helvetica Neue"/>
              </a:defRPr>
            </a:pPr>
            <a:r>
              <a:rPr sz="2100" b="1">
                <a:solidFill>
                  <a:srgbClr val="142F3A"/>
                </a:solidFill>
                <a:latin typeface="Helvetica Neue"/>
                <a:ea typeface="Helvetica Neue"/>
                <a:cs typeface="Helvetica Neue"/>
              </a:rPr>
              <a:t>Hold out task families</a:t>
            </a:r>
          </a:p>
        </p:txBody>
      </p:sp>
      <p:sp>
        <p:nvSpPr>
          <p:cNvPr id="13" name="">
            <a:extLst xmlns:a="http://schemas.openxmlformats.org/drawingml/2006/main">
              <a:ext uri="{FF2B5EF4-FFF2-40B4-BE49-F238E27FC236}">
                <a16:creationId xmlns:a16="http://schemas.microsoft.com/office/drawing/2014/main" id="{69C58008-5FA5-4F81-ADC4-3E64697E144F}"/>
              </a:ext>
            </a:extLst>
          </p:cNvPr>
          <p:cNvSpPr>
            <a:spLocks xmlns:a="http://schemas.openxmlformats.org/drawingml/2006/main" noGrp="1"/>
          </p:cNvSpPr>
          <p:nvPr/>
        </p:nvSpPr>
        <p:spPr>
          <a:xfrm xmlns:a="http://schemas.openxmlformats.org/drawingml/2006/main">
            <a:off x="647700" y="378142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C75"/>
                </a:solidFill>
                <a:latin typeface="Helvetica Neue"/>
                <a:ea typeface="Helvetica Neue"/>
                <a:cs typeface="Helvetica Neue"/>
              </a:defRPr>
            </a:pPr>
            <a:r>
              <a:rPr sz="1875" b="0">
                <a:solidFill>
                  <a:srgbClr val="536C75"/>
                </a:solidFill>
                <a:latin typeface="Helvetica Neue"/>
                <a:ea typeface="Helvetica Neue"/>
                <a:cs typeface="Helvetica Neue"/>
              </a:rPr>
              <a:t>Public sources: Rerun, Burn, Zenoh, Foxglove, Luigi and Zarr</a:t>
            </a:r>
          </a:p>
        </p:txBody>
      </p:sp>
      <p:sp>
        <p:nvSpPr>
          <p:cNvPr id="14" name="">
            <a:extLst xmlns:a="http://schemas.openxmlformats.org/drawingml/2006/main">
              <a:ext uri="{FF2B5EF4-FFF2-40B4-BE49-F238E27FC236}">
                <a16:creationId xmlns:a16="http://schemas.microsoft.com/office/drawing/2014/main" id="{D04E0F2E-0191-43EB-9A33-DCCD651A0E1F}"/>
              </a:ext>
            </a:extLst>
          </p:cNvPr>
          <p:cNvSpPr>
            <a:spLocks xmlns:a="http://schemas.openxmlformats.org/drawingml/2006/main" noGrp="1"/>
          </p:cNvSpPr>
          <p:nvPr/>
        </p:nvSpPr>
        <p:spPr>
          <a:xfrm xmlns:a="http://schemas.openxmlformats.org/drawingml/2006/main">
            <a:off x="647700" y="42957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F3A"/>
                </a:solidFill>
                <a:latin typeface="Helvetica Neue"/>
                <a:ea typeface="Helvetica Neue"/>
                <a:cs typeface="Helvetica Neue"/>
              </a:defRPr>
            </a:pPr>
            <a:r>
              <a:rPr sz="2550" b="1">
                <a:solidFill>
                  <a:srgbClr val="142F3A"/>
                </a:solidFill>
                <a:latin typeface="Helvetica Neue"/>
                <a:ea typeface="Helvetica Neue"/>
                <a:cs typeface="Helvetica Neue"/>
              </a:rPr>
              <a:t>Pilot batches of 25 → 100 → 1,000 accepted tasks</a:t>
            </a:r>
          </a:p>
        </p:txBody>
      </p:sp>
      <p:sp>
        <p:nvSpPr>
          <p:cNvPr id="15" name="">
            <a:extLst xmlns:a="http://schemas.openxmlformats.org/drawingml/2006/main">
              <a:ext uri="{FF2B5EF4-FFF2-40B4-BE49-F238E27FC236}">
                <a16:creationId xmlns:a16="http://schemas.microsoft.com/office/drawing/2014/main" id="{5D45A3D7-9747-4CEC-90FB-D8800AEF001C}"/>
              </a:ext>
            </a:extLst>
          </p:cNvPr>
          <p:cNvSpPr>
            <a:spLocks xmlns:a="http://schemas.openxmlformats.org/drawingml/2006/main" noGrp="1"/>
          </p:cNvSpPr>
          <p:nvPr/>
        </p:nvSpPr>
        <p:spPr>
          <a:xfrm xmlns:a="http://schemas.openxmlformats.org/drawingml/2006/main">
            <a:off x="647700" y="5095875"/>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F3A"/>
                </a:solidFill>
                <a:latin typeface="Helvetica Neue"/>
                <a:ea typeface="Helvetica Neue"/>
                <a:cs typeface="Helvetica Neue"/>
              </a:defRPr>
            </a:pPr>
            <a:r>
              <a:rPr sz="2100" b="0">
                <a:solidFill>
                  <a:srgbClr val="142F3A"/>
                </a:solidFill>
                <a:latin typeface="Helvetica Neue"/>
                <a:ea typeface="Helvetica Neue"/>
                <a:cs typeface="Helvetica Neue"/>
              </a:rPr>
              <a:t>Track acceptance yield, authoring time, task validity, runtime cost and distinct failure mechanisms at each stage.</a:t>
            </a:r>
          </a:p>
        </p:txBody>
      </p:sp>
    </p:spTree>
    <p:extLst>
      <p:ext uri="{BB962C8B-B14F-4D97-AF65-F5344CB8AC3E}">
        <p14:creationId xmlns:p14="http://schemas.microsoft.com/office/powerpoint/2010/main" val="200601670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D85997F-EC98-4775-9FAE-0998F8ED087D}"/>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Task pack and next experiment</a:t>
            </a:r>
          </a:p>
        </p:txBody>
      </p:sp>
      <p:sp>
        <p:nvSpPr>
          <p:cNvPr id="2" name="">
            <a:extLst xmlns:a="http://schemas.openxmlformats.org/drawingml/2006/main">
              <a:ext uri="{FF2B5EF4-FFF2-40B4-BE49-F238E27FC236}">
                <a16:creationId xmlns:a16="http://schemas.microsoft.com/office/drawing/2014/main" id="{49432D19-3F7C-482C-8E0F-DB5DF44EBEDC}"/>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82F5F48-1A23-4A9A-A190-4FE490660A37}"/>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4" name="">
            <a:extLst xmlns:a="http://schemas.openxmlformats.org/drawingml/2006/main">
              <a:ext uri="{FF2B5EF4-FFF2-40B4-BE49-F238E27FC236}">
                <a16:creationId xmlns:a16="http://schemas.microsoft.com/office/drawing/2014/main" id="{C1D7C182-CD77-48B4-A7AA-8658ACFF7916}"/>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16AC17C3-2E8F-46C5-9AF9-5F16C9B4D25C}"/>
              </a:ext>
            </a:extLst>
          </p:cNvPr>
          <p:cNvSpPr>
            <a:spLocks xmlns:a="http://schemas.openxmlformats.org/drawingml/2006/main" noGrp="1"/>
          </p:cNvSpPr>
          <p:nvPr/>
        </p:nvSpPr>
        <p:spPr>
          <a:xfrm xmlns:a="http://schemas.openxmlformats.org/drawingml/2006/main">
            <a:off x="647700" y="18859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Evidence provided</a:t>
            </a:r>
          </a:p>
        </p:txBody>
      </p:sp>
      <p:sp>
        <p:nvSpPr>
          <p:cNvPr id="6" name="">
            <a:extLst xmlns:a="http://schemas.openxmlformats.org/drawingml/2006/main">
              <a:ext uri="{FF2B5EF4-FFF2-40B4-BE49-F238E27FC236}">
                <a16:creationId xmlns:a16="http://schemas.microsoft.com/office/drawing/2014/main" id="{065E7E01-DA3F-4BFD-8391-EFCB5FDC0CE9}"/>
              </a:ext>
            </a:extLst>
          </p:cNvPr>
          <p:cNvSpPr>
            <a:spLocks xmlns:a="http://schemas.openxmlformats.org/drawingml/2006/main" noGrp="1"/>
          </p:cNvSpPr>
          <p:nvPr/>
        </p:nvSpPr>
        <p:spPr>
          <a:xfrm xmlns:a="http://schemas.openxmlformats.org/drawingml/2006/main">
            <a:off x="647700" y="240982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Results for all 11 completed tasks, frozen trial selection, raw artifact hashes, step measurements, and audited contrasts for the three detailed cases.</a:t>
            </a:r>
          </a:p>
        </p:txBody>
      </p:sp>
      <p:sp>
        <p:nvSpPr>
          <p:cNvPr id="7" name="">
            <a:extLst xmlns:a="http://schemas.openxmlformats.org/drawingml/2006/main">
              <a:ext uri="{FF2B5EF4-FFF2-40B4-BE49-F238E27FC236}">
                <a16:creationId xmlns:a16="http://schemas.microsoft.com/office/drawing/2014/main" id="{9A782EEF-87FB-4C7D-A7D2-94291A1A6FAA}"/>
              </a:ext>
            </a:extLst>
          </p:cNvPr>
          <p:cNvSpPr>
            <a:spLocks xmlns:a="http://schemas.openxmlformats.org/drawingml/2006/main" noGrp="1"/>
          </p:cNvSpPr>
          <p:nvPr/>
        </p:nvSpPr>
        <p:spPr>
          <a:xfrm xmlns:a="http://schemas.openxmlformats.org/drawingml/2006/main">
            <a:off x="6448425" y="188595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Next experiment</a:t>
            </a:r>
          </a:p>
        </p:txBody>
      </p:sp>
      <p:sp>
        <p:nvSpPr>
          <p:cNvPr id="8" name="">
            <a:extLst xmlns:a="http://schemas.openxmlformats.org/drawingml/2006/main">
              <a:ext uri="{FF2B5EF4-FFF2-40B4-BE49-F238E27FC236}">
                <a16:creationId xmlns:a16="http://schemas.microsoft.com/office/drawing/2014/main" id="{47FDB124-0389-40E5-B3BD-EB084BD5B060}"/>
              </a:ext>
            </a:extLst>
          </p:cNvPr>
          <p:cNvSpPr>
            <a:spLocks xmlns:a="http://schemas.openxmlformats.org/drawingml/2006/main" noGrp="1"/>
          </p:cNvSpPr>
          <p:nvPr/>
        </p:nvSpPr>
        <p:spPr>
          <a:xfrm xmlns:a="http://schemas.openxmlformats.org/drawingml/2006/main">
            <a:off x="6448425" y="2409825"/>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Once provider access returns, repeat fixed task/model/effort combinations. Estimate pass rates with uncertainty and audit recurring failures against the contract.</a:t>
            </a:r>
          </a:p>
        </p:txBody>
      </p:sp>
      <p:sp>
        <p:nvSpPr>
          <p:cNvPr id="9" name="">
            <a:extLst xmlns:a="http://schemas.openxmlformats.org/drawingml/2006/main">
              <a:ext uri="{FF2B5EF4-FFF2-40B4-BE49-F238E27FC236}">
                <a16:creationId xmlns:a16="http://schemas.microsoft.com/office/drawing/2014/main" id="{7F2BE82D-A90B-4255-9A5A-4735646E5273}"/>
              </a:ext>
            </a:extLst>
          </p:cNvPr>
          <p:cNvSpPr>
            <a:spLocks xmlns:a="http://schemas.openxmlformats.org/drawingml/2006/main" noGrp="1"/>
          </p:cNvSpPr>
          <p:nvPr/>
        </p:nvSpPr>
        <p:spPr>
          <a:xfrm xmlns:a="http://schemas.openxmlformats.org/drawingml/2006/main">
            <a:off x="647700" y="52387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AD6520"/>
                </a:solidFill>
                <a:latin typeface="Helvetica Neue"/>
                <a:ea typeface="Helvetica Neue"/>
                <a:cs typeface="Helvetica Neue"/>
              </a:defRPr>
            </a:pPr>
            <a:r>
              <a:rPr sz="2100" b="1">
                <a:solidFill>
                  <a:srgbClr val="AD6520"/>
                </a:solidFill>
                <a:latin typeface="Helvetica Neue"/>
                <a:ea typeface="Helvetica Neue"/>
                <a:cs typeface="Helvetica Neue"/>
              </a:rPr>
              <a:t>99/99 counted combinations. Provider usage limits now interrupt model calls.</a:t>
            </a:r>
          </a:p>
        </p:txBody>
      </p:sp>
    </p:spTree>
    <p:extLst>
      <p:ext uri="{BB962C8B-B14F-4D97-AF65-F5344CB8AC3E}">
        <p14:creationId xmlns:p14="http://schemas.microsoft.com/office/powerpoint/2010/main" val="13855255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2026-09-14T13:58:42.9550000Z</dcterms:created>
  <dcterms:modified xsi:type="dcterms:W3CDTF">2026-09-14T13:58:42.9550000Z</dcterms:modified>
</coreProperties>
</file>