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29702106a754fe4" /><Relationship Type="http://schemas.openxmlformats.org/officeDocument/2006/relationships/extended-properties" Target="/docProps/app.xml" Id="Re7eba51f419e46b6" /><Relationship Type="http://schemas.openxmlformats.org/officeDocument/2006/relationships/officeDocument" Target="/ppt/presentation.xml" Id="R1c730fb6cde64258" /></Relationships>
</file>

<file path=ppt/presentation.xml><?xml version="1.0" encoding="utf-8"?>
<p:presentation xmlns:p="http://schemas.openxmlformats.org/presentationml/2006/main">
  <p:sldMasterIdLst>
    <p:sldMasterId xmlns:r="http://schemas.openxmlformats.org/officeDocument/2006/relationships" id="2147483648" r:id="R5a6325ff6a614818"/>
  </p:sldMasterIdLst>
  <p:notesMasterIdLst>
    <p:notesMasterId xmlns:r="http://schemas.openxmlformats.org/officeDocument/2006/relationships" r:id="R79120e1489f54c0d"/>
  </p:notesMasterIdLst>
  <p:sldIdLst>
    <p:sldId xmlns:r="http://schemas.openxmlformats.org/officeDocument/2006/relationships" id="256" r:id="R837d52c6eea34e88"/>
    <p:sldId xmlns:r="http://schemas.openxmlformats.org/officeDocument/2006/relationships" id="257" r:id="Re2d0b8027b13491f"/>
    <p:sldId xmlns:r="http://schemas.openxmlformats.org/officeDocument/2006/relationships" id="258" r:id="Rff884df4fa97492a"/>
    <p:sldId xmlns:r="http://schemas.openxmlformats.org/officeDocument/2006/relationships" id="259" r:id="R75e987a9bc88445b"/>
    <p:sldId xmlns:r="http://schemas.openxmlformats.org/officeDocument/2006/relationships" id="260" r:id="Rfeb1ebe2319346d0"/>
    <p:sldId xmlns:r="http://schemas.openxmlformats.org/officeDocument/2006/relationships" id="261" r:id="R350d60df11344d6b"/>
    <p:sldId xmlns:r="http://schemas.openxmlformats.org/officeDocument/2006/relationships" id="262" r:id="R7b0e9b83ff044208"/>
    <p:sldId xmlns:r="http://schemas.openxmlformats.org/officeDocument/2006/relationships" id="263" r:id="Re52edff82cd74b30"/>
    <p:sldId xmlns:r="http://schemas.openxmlformats.org/officeDocument/2006/relationships" id="264" r:id="R05296daabccf491a"/>
    <p:sldId xmlns:r="http://schemas.openxmlformats.org/officeDocument/2006/relationships" id="265" r:id="Raf01545d8c2c48ff"/>
    <p:sldId xmlns:r="http://schemas.openxmlformats.org/officeDocument/2006/relationships" id="266" r:id="R5a82e055bce6457d"/>
    <p:sldId xmlns:r="http://schemas.openxmlformats.org/officeDocument/2006/relationships" id="267" r:id="R4efc7521945b4b6f"/>
    <p:sldId xmlns:r="http://schemas.openxmlformats.org/officeDocument/2006/relationships" id="268" r:id="Rfa91769b887b43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faa4134c6e46ed" /><Relationship Type="http://schemas.openxmlformats.org/officeDocument/2006/relationships/slideMaster" Target="/ppt/slideMasters/slideMaster1.xml" Id="R5a6325ff6a614818" /><Relationship Type="http://schemas.openxmlformats.org/officeDocument/2006/relationships/notesMaster" Target="/ppt/notesMasters/notesMaster1.xml" Id="R79120e1489f54c0d" /><Relationship Type="http://schemas.openxmlformats.org/officeDocument/2006/relationships/presProps" Target="/ppt/presProps.xml" Id="R6a8fa4fb06c14b84" /><Relationship Type="http://schemas.openxmlformats.org/officeDocument/2006/relationships/tableStyles" Target="/ppt/tableStyles.xml" Id="R55788e9aaade4c78" /><Relationship Type="http://schemas.openxmlformats.org/officeDocument/2006/relationships/slide" Target="/ppt/slides/slide1.xml" Id="R837d52c6eea34e88" /><Relationship Type="http://schemas.openxmlformats.org/officeDocument/2006/relationships/slide" Target="/ppt/slides/slide2.xml" Id="Re2d0b8027b13491f" /><Relationship Type="http://schemas.openxmlformats.org/officeDocument/2006/relationships/slide" Target="/ppt/slides/slide3.xml" Id="Rff884df4fa97492a" /><Relationship Type="http://schemas.openxmlformats.org/officeDocument/2006/relationships/slide" Target="/ppt/slides/slide4.xml" Id="R75e987a9bc88445b" /><Relationship Type="http://schemas.openxmlformats.org/officeDocument/2006/relationships/slide" Target="/ppt/slides/slide5.xml" Id="Rfeb1ebe2319346d0" /><Relationship Type="http://schemas.openxmlformats.org/officeDocument/2006/relationships/slide" Target="/ppt/slides/slide6.xml" Id="R350d60df11344d6b" /><Relationship Type="http://schemas.openxmlformats.org/officeDocument/2006/relationships/slide" Target="/ppt/slides/slide7.xml" Id="R7b0e9b83ff044208" /><Relationship Type="http://schemas.openxmlformats.org/officeDocument/2006/relationships/slide" Target="/ppt/slides/slide8.xml" Id="Re52edff82cd74b30" /><Relationship Type="http://schemas.openxmlformats.org/officeDocument/2006/relationships/slide" Target="/ppt/slides/slide9.xml" Id="R05296daabccf491a" /><Relationship Type="http://schemas.openxmlformats.org/officeDocument/2006/relationships/slide" Target="/ppt/slides/slide10.xml" Id="Raf01545d8c2c48ff" /><Relationship Type="http://schemas.openxmlformats.org/officeDocument/2006/relationships/slide" Target="/ppt/slides/slide11.xml" Id="R5a82e055bce6457d" /><Relationship Type="http://schemas.openxmlformats.org/officeDocument/2006/relationships/slide" Target="/ppt/slides/slide12.xml" Id="R4efc7521945b4b6f" /><Relationship Type="http://schemas.openxmlformats.org/officeDocument/2006/relationships/slide" Target="/ppt/slides/slide13.xml" Id="Rfa91769b887b43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fd9bcbf01b44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7da7fbc0394fd9" /><Relationship Type="http://schemas.openxmlformats.org/officeDocument/2006/relationships/notesMaster" Target="/ppt/notesMasters/notesMaster1.xml" Id="R67f616ee1a5e49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64d456c3d8439b" /><Relationship Type="http://schemas.openxmlformats.org/officeDocument/2006/relationships/notesMaster" Target="/ppt/notesMasters/notesMaster1.xml" Id="Ra9dbace71b954d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0cc2dcb1dc4b8d" /><Relationship Type="http://schemas.openxmlformats.org/officeDocument/2006/relationships/notesMaster" Target="/ppt/notesMasters/notesMaster1.xml" Id="R200a1779a1c249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93490d3bef4a6e" /><Relationship Type="http://schemas.openxmlformats.org/officeDocument/2006/relationships/notesMaster" Target="/ppt/notesMasters/notesMaster1.xml" Id="Rcc42ce2c524b43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bbcac0cd1b4f7a" /><Relationship Type="http://schemas.openxmlformats.org/officeDocument/2006/relationships/notesMaster" Target="/ppt/notesMasters/notesMaster1.xml" Id="Rf30db8f6b2994d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cd41bf281d4c6e" /><Relationship Type="http://schemas.openxmlformats.org/officeDocument/2006/relationships/notesMaster" Target="/ppt/notesMasters/notesMaster1.xml" Id="R7630a6e35fa340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f3ee22086d4949" /><Relationship Type="http://schemas.openxmlformats.org/officeDocument/2006/relationships/notesMaster" Target="/ppt/notesMasters/notesMaster1.xml" Id="R9f5c0af31ac04b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3977d8fbc14e74" /><Relationship Type="http://schemas.openxmlformats.org/officeDocument/2006/relationships/notesMaster" Target="/ppt/notesMasters/notesMaster1.xml" Id="R96ec9cd336f14d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c48d40a72b41a2" /><Relationship Type="http://schemas.openxmlformats.org/officeDocument/2006/relationships/notesMaster" Target="/ppt/notesMasters/notesMaster1.xml" Id="R1bda03b65ff242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83e30801594db1" /><Relationship Type="http://schemas.openxmlformats.org/officeDocument/2006/relationships/notesMaster" Target="/ppt/notesMasters/notesMaster1.xml" Id="R2c09fddb3d7040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0e3bc9948b4662" /><Relationship Type="http://schemas.openxmlformats.org/officeDocument/2006/relationships/notesMaster" Target="/ppt/notesMasters/notesMaster1.xml" Id="R72afc1eb34514b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8839a2ba7b4139" /><Relationship Type="http://schemas.openxmlformats.org/officeDocument/2006/relationships/notesMaster" Target="/ppt/notesMasters/notesMaster1.xml" Id="R45b2e25be50740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a9f8b2d0c54759" /><Relationship Type="http://schemas.openxmlformats.org/officeDocument/2006/relationships/notesMaster" Target="/ppt/notesMasters/notesMaster1.xml" Id="Rcb2a7b3fe62d4f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scope contains 11 tasks, three models and three effort levels. The three selected Rust tasks have complete original first-result cohorts. The final corrected Zenoh verifier also completed all nine saved-submission regrades: eight passes and one unchanged failure. These regrades add no model calls or counted sweep trials.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sources: candidates_v2/rs-rerun-chunk-optimizer/instruction.md; research/task-revisions/rs-zenoh-timestamp-instrumentation-v3/instruction.md; research/task-revisions/rs-burn-store-pytorch-reader-v4/instruction.md. These tasks cover data representations, streaming or deferred materialization, public interfaces and independent observable behavior.</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scope: coverage-scope.json (11 tasks × 3 models × 3 efforts). Each number is passes / first counted results, pooled across effort for description only. Outcomes classified as infrastructure do not count. Budgeted timeouts and validated abnormal exits follow the existing counting policy. Repeat trials and superseded revisions are separate. No model ranking or estimated win rate is asserted.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step is one assistant turn in the saved ATIF trajectory. Tool calls and elapsed time are separate measurements. Median is across successful first counted results for each task. Failures, including the service-interrupted Luigi and Diskcache outcomes, are excluded from this chart. These descriptive turn counts do not establish a causal effect of effort or a human completion-time estimate.</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selection is based on task coherence, reproducibility, observed work and audited contract failures. Raw pass counts do not by themselves establish learning headroom. In these three original first-result cohorts, Fable and Opus pass all 18 settings combined; Sonnet passes five of nine. This supports a pilot focused on Sonnet, not demonstrated headroom for every evaluated model. Zenoh v3 outcomes remain historical. All nine corrected-grader replays are complete, with eight passes and the same explicit public-type failure. These saved-submission regrades are separate and add no model trials. The packaged Zenoh sample uses the final corrected validation revision. Its exact mapping is research/zenoh-coverage-followup-2026-09-14/final-revision-mapping-001.json. All three have successful model completions. Steps on success are median assistant turns among successful first results. Exact controls and failure artifacts are described in evidence/shortlist-cases.json.</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Audited trial EeEppp5: Sonnet/medium, 138 assistant steps, reward 0. The diagram shows actual rows-per-output-chunk [6,2] versus expected [4,4] in chunks_that_do_not_fit_together_emit_alone_in_order (optimizer_contract.rs:410). This is not evidence of data loss. Existing regression suites pass; five feature/contract tests fail. Quote: native assistant turn138 / ATIF step140. Compare Sonnet/max iUZ6GKK (383 steps, reward 1). Full hashes and instruction/test links: evidence/shortlist-cases.json. Separate repeat YSSc6xQ (Sonnet/medium) takes 124 turns and fails nine of 96 tests. It measures Arc&lt;Chunk&gt;, whose attributed size varies with reference count, instead of the specified decoded Chunk. This is consistent with the packing and splitting failures; no replay proves it is the sole cause. Opus/max YSPYcnB passes in 132 turns with 148 tool calls. See evidence/repeat-case-audit-20260914T1018.json and evidence/repeat-case-root-review-20260914T1033.json. These repeats do not replace the first-result cohort.</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Audited Sonnet/medium YtCswNv uses ZenohIdProto in TimestampContext.zid; instruction explicitly requires ZenohId. This is distinct from the old hidden-import test mismatch corrected in revision v3. Sonnet/max gSYDMEG passes the historical v3 verifier in 626 steps. The separate revised validation task adds direct malformed/boundary-stack and admin-space Receive tests, plus a reference fix preserving the received timestamp stack in replies. Its confirmed controls are oracle 1 and no-op 0. The completed quality002 review passes all 11 criteria in the officially collected report; this is an automated review judgment, not proof of exhaustive boundary coverage. All eight focused diagnostics are complete: six targeted omissions fail their intended assertions, and both exact saved submissions pass all seven new tests. These checks used the cached build image. All nine saved-source regrades on the normal verifier image are complete: eight pass all 11 verifier groups, and YtCswNv retains reward 0 because of the same explicit public-type mismatch. That failing invocation records a build failure and skips the remaining nine groups. It does not execute all runtime behaviors. The regrades make zero model calls and add zero counted sweep trials. Exact source, tests, normal image, limits, deadline and cleanup checks passed. Controls remain oracle 1 and no-op 0. The final task checksum is 67f1fdca75fd66f4cbdd6e4729a582c9fbbdac428a0299eefc74104dffa59fab. See research/zenoh-coverage-followup-2026-09-14/paired-regrades/run-002/summary.json, final-revision-mapping-001.json (SHA-256 5b6696bec407839159522168904ec22ad393a75058d79522d86a7b4565f45608) and final-revision-mapping-review-001/review.json. The new boundary tests cover Receive/admin-space and malformed protocol cases. They do not establish exhaustive Send/Route cap coverage. See evidence/zenoh-eight-focused-root-review-20260914T0948.json. Original v3 scores remain unchanged. See evidence/zenoh-quality-final-root-review-20260914T0841.json, evidence/zenoh-continuation004-root-review-20260914T0852.json, and research/zenoh-coverage-followup-2026-09-14/reviews-final-002/summary.json. A separate Sonnet/max repeat, 6nTASYR, passes the historical v3 verifier in 621 turns. This is not a corrected-v4 grade. See evidence/repeat-case-audit-20260914T1018.json and evidence/repeat-case-root-review-20260914T1033.json.</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v4. Sonnet/medium vXNtQ5E failed FRAME/TAR/storage-bounds functionality in 42 steps. Sonnet/high BrRKozk completed in 251 steps and passed the functional groups, but retained a prohibited fixture path in baseline-derived inline test code. Raw reward remains 0; this outcome is not a functional failure or evidence of cheating. Sonnet/max X6pyirF passed all eight verifier groups in 323 steps, including 62 matrix cases and 32 rejection cases. Fable/max and Opus/max both pass in 158 steps. See evidence/burn-v4-sonnet-max.json and evidence/shortlist-cases.json. Separate repeat UDNoWje takes 191 turns and passes 217 Rust tests and the 62-case fixture matrix, but an allocation abort on a 125-byte doubling-bomb fixture violates the explicit R12 requirement to return an error. Exact allocation origin was not traced. Sonnet/max kYchPug and Fable/max RBjsods later pass all eight groups in 274 and 171 turns. These repeats remain separate from the first-result cohort. See evidence/repeat-case-audit-20260914T0923.json, evidence/repeat-case-root-review-20260914T0929.json, evidence/repeat-case-audit-20260914T1018.json and evidence/repeat-case-root-review-20260914T1033.json.</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NUL audit: research/sqlite-nul-validity-audit-2026-09-14/{README.md,results.json,sqlite-default-proof.json}. 30 counted attempts span nine cells in two campaigns; all fail NUL, only three exclusively. NUL is valid under the all-strings contract and SQLite supports embedded NUL: https://www.sqlite.org/nulinstr.html . Huey/SQLite held revisions are excluded from the 99-cell gate. Burn Debug and Zenoh import fixes had separate validated revisions.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SWE-Marathon paper, June5 2026, abstract: https://arxiv.org/abs/2606.07682v1 . It reports20tasks and fewer than30% solved by the evaluated frontier coding agents; this is a paper-era result, not a current leaderboard or a result for our three model aliases. Short verbatim quote below is from the abstract. These tasks, budgets and metrics differ from our pilot. Our inference: a narrower task family can test whether agents verify the complete feature contract.</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https://arxiv.org/abs/2509.16941v2 (SWE-Bench Pro, abstract) and https://arxiv.org/abs/2503.14499v4 (METR, abstract). SWE-Bench Pro characterizes complex software tasks involving hours to days of human work. METR defines its horizon using measured human time and a success threshold. This pilot has no human time baseline, so assistant-turn counts cannot be converted into that metric. Public upstream provenance and recent commits do not prove that a model has never seen a task or its implementation.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scaling design, not a measured production yield or budget. Source candidates from public Rust data, storage, serialization and protocol repositories. Deduplicate related PR stacks and templates before splitting. Hold out repositories or families to test transfer. A 20% acceptance scenario needs 5,000 mined candidates for 1,000 accepted tasks; actual yield must be measured in a staged pilot.</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selected Rust tasks have exact-package reference/no-op controls and required task checks. The final Zenoh sample uses the corrected validation revision. All nine saved-submission regrades retain their original outcomes, with eight passes and one explicit public-type failure. The original v3 first-result cohort stays separate. See research/zenoh-coverage-followup-2026-09-14/final-revision-mapping-001.json. Preserve raw Harbor job/trial structure and bytes. Keep discarded candidates in archive. Repeat trials within fixed task/model/effort cells to estimate pass rates, separating infrastructure outcomes and task revisions. The 99-cell snapshot includes Diskcache Fable/max uuqa2f6, interrupted after 24 assistant turns by a provider API usage-limit rejection, and Luigi Fable/max 6ooqjT5, a 7200-second timeout affected by repeated gateway failures. Existing policy counts their completed verifier outcomes as failures. These outcomes do not establish performance under healthy service. Raw outcomes and the first-result selection remain unchanged. Completed-response costs omit any unreported charges. See the separate provider-quota and Luigi timeout evidence reviews.</a:t>
            </a:r>
          </a:p>
          <a:p xmlns:a="http://schemas.openxmlformats.org/drawingml/2006/main">
            <a:r>
              <a:t/>
            </a:r>
          </a:p>
          <a:p xmlns:a="http://schemas.openxmlformats.org/drawingml/2006/main">
            <a:r>
              <a:t>Data: data-snapshots/99-20260914T1319/results.json and its adjacent trials.csv. Raw artifact paths and SHA-256 hashes are preserved there.</a:t>
            </a:r>
          </a:p>
          <a:p xmlns:a="http://schemas.openxmlformats.org/drawingml/2006/main">
            <a:r>
              <a:t>Snapshot 2026-09-14 13:19 UTC · 99/99 combinations ·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b9983b9bde74c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fcf3aaaf8e4e63" /><Relationship Type="http://schemas.openxmlformats.org/officeDocument/2006/relationships/slideLayout" Target="/ppt/slideLayouts/slideLayout1.xml" Id="Rfb0178c7990343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0178c7990343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40f04f72b24ecc" /><Relationship Type="http://schemas.openxmlformats.org/officeDocument/2006/relationships/notesSlide" Target="/ppt/notesSlides/notesSlide1.xml" Id="Rf3c5d79dc0bb44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0454494f454af2" /><Relationship Type="http://schemas.openxmlformats.org/officeDocument/2006/relationships/notesSlide" Target="/ppt/notesSlides/notesSlide2.xml" Id="Re417166468064b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f425b9b5a244b5" /><Relationship Type="http://schemas.openxmlformats.org/officeDocument/2006/relationships/notesSlide" Target="/ppt/notesSlides/notesSlide3.xml" Id="R2b1109073aa643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c87292c15e4803" /><Relationship Type="http://schemas.openxmlformats.org/officeDocument/2006/relationships/chart" Target="/ppt/slides/charts/chart1.xml" Id="R595874446e494fe4" /><Relationship Type="http://schemas.openxmlformats.org/officeDocument/2006/relationships/notesSlide" Target="/ppt/notesSlides/notesSlide4.xml" Id="Refa9ebb373f549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65fefa76c254beb" /><Relationship Type="http://schemas.openxmlformats.org/officeDocument/2006/relationships/notesSlide" Target="/ppt/notesSlides/notesSlide5.xml" Id="R08070b8783c946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89d60defa34026" /><Relationship Type="http://schemas.openxmlformats.org/officeDocument/2006/relationships/notesSlide" Target="/ppt/notesSlides/notesSlide6.xml" Id="Rbb22a7bdc9ca45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2ed483ebb14ad5" /><Relationship Type="http://schemas.openxmlformats.org/officeDocument/2006/relationships/notesSlide" Target="/ppt/notesSlides/notesSlide7.xml" Id="R7f43d8c5b9d945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55b75dd34d4578" /><Relationship Type="http://schemas.openxmlformats.org/officeDocument/2006/relationships/notesSlide" Target="/ppt/notesSlides/notesSlide8.xml" Id="Ra9deea41960f4a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8bdc835d28479c" /><Relationship Type="http://schemas.openxmlformats.org/officeDocument/2006/relationships/notesSlide" Target="/ppt/notesSlides/notesSlide9.xml" Id="R3c9801d39f1847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40629f25c344ccc" /><Relationship Type="http://schemas.openxmlformats.org/officeDocument/2006/relationships/notesSlide" Target="/ppt/notesSlides/notesSlide10.xml" Id="R24fedf2a461543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48d05df5624e7a" /><Relationship Type="http://schemas.openxmlformats.org/officeDocument/2006/relationships/notesSlide" Target="/ppt/notesSlides/notesSlide11.xml" Id="Ra20791c0306d45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bf1cc6a1524cde" /><Relationship Type="http://schemas.openxmlformats.org/officeDocument/2006/relationships/notesSlide" Target="/ppt/notesSlides/notesSlide12.xml" Id="R4e8ce55f2b654a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698a76d88164bbe" /><Relationship Type="http://schemas.openxmlformats.org/officeDocument/2006/relationships/notesSlide" Target="/ppt/notesSlides/notesSlide13.xml" Id="Rd9f46bd25cbc4e6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Median assistant turns</c:v>
          </c:tx>
          <c:spPr>
            <a:solidFill xmlns:a="http://schemas.openxmlformats.org/drawingml/2006/main">
              <a:srgbClr val="007B78"/>
            </a:solidFill>
          </c:spPr>
          <c:cat>
            <c:strRef>
              <c:f>'Chart Data'!$A$2:$A$12</c:f>
              <c:strCache>
                <c:ptCount val="11"/>
                <c:pt idx="0">
                  <c:v>Burn ONNX runtime weights</c:v>
                </c:pt>
                <c:pt idx="1">
                  <c:v>Zenoh timestamps v3</c:v>
                </c:pt>
                <c:pt idx="2">
                  <c:v>Foxglove parameter handler</c:v>
                </c:pt>
                <c:pt idx="3">
                  <c:v>rosbag2 mixed playback</c:v>
                </c:pt>
                <c:pt idx="4">
                  <c:v>Burn checkpoint reader v4</c:v>
                </c:pt>
                <c:pt idx="5">
                  <c:v>Rerun chunk optimizer</c:v>
                </c:pt>
                <c:pt idx="6">
                  <c:v>Zenoh C++ connectivity</c:v>
                </c:pt>
                <c:pt idx="7">
                  <c:v>Zarr value codecs</c:v>
                </c:pt>
                <c:pt idx="8">
                  <c:v>Diskcache resharding v2</c:v>
                </c:pt>
                <c:pt idx="9">
                  <c:v>Luigi generation target</c:v>
                </c:pt>
                <c:pt idx="10">
                  <c:v>Rosbags storage writers</c:v>
                </c:pt>
              </c:strCache>
            </c:strRef>
          </c:cat>
          <c:val>
            <c:numRef>
              <c:f>'Chart Data'!$B$2:$B$12</c:f>
              <c:numCache>
                <c:formatCode>General</c:formatCode>
                <c:ptCount val="11"/>
                <c:pt idx="0">
                  <c:v>225</c:v>
                </c:pt>
                <c:pt idx="1">
                  <c:v>216.5</c:v>
                </c:pt>
                <c:pt idx="2">
                  <c:v>163</c:v>
                </c:pt>
                <c:pt idx="3">
                  <c:v>154</c:v>
                </c:pt>
                <c:pt idx="4">
                  <c:v>144</c:v>
                </c:pt>
                <c:pt idx="5">
                  <c:v>119</c:v>
                </c:pt>
                <c:pt idx="6">
                  <c:v>106</c:v>
                </c:pt>
                <c:pt idx="7">
                  <c:v>100.5</c:v>
                </c:pt>
                <c:pt idx="8">
                  <c:v>93.5</c:v>
                </c:pt>
                <c:pt idx="9">
                  <c:v>52</c:v>
                </c:pt>
                <c:pt idx="10">
                  <c:v>44</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AD9DC"/>
            </a:solidFill>
          </a:ln>
        </c:spPr>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B02277A-559E-4732-83E2-A9A300E4A71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Rust data and protocol integration</a:t>
            </a:r>
          </a:p>
        </p:txBody>
      </p:sp>
      <p:sp>
        <p:nvSpPr>
          <p:cNvPr id="2" name="">
            <a:extLst xmlns:a="http://schemas.openxmlformats.org/drawingml/2006/main">
              <a:ext uri="{FF2B5EF4-FFF2-40B4-BE49-F238E27FC236}">
                <a16:creationId xmlns:a16="http://schemas.microsoft.com/office/drawing/2014/main" id="{BBB1B6C6-DEB8-4455-B0C3-8B24CAEEFE0A}"/>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A pilot for long-horizon software engineering evaluation</a:t>
            </a:r>
          </a:p>
        </p:txBody>
      </p:sp>
      <p:sp>
        <p:nvSpPr>
          <p:cNvPr id="3" name="">
            <a:extLst xmlns:a="http://schemas.openxmlformats.org/drawingml/2006/main">
              <a:ext uri="{FF2B5EF4-FFF2-40B4-BE49-F238E27FC236}">
                <a16:creationId xmlns:a16="http://schemas.microsoft.com/office/drawing/2014/main" id="{4A51247B-4B49-4D69-A7F9-ACEFAA713C2D}"/>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3EA954-AC9F-4D95-85C7-1EA94BC9916B}"/>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D50D6DA6-7761-4ADB-A55F-17EB62A1D9EB}"/>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57C7E7A8-44C2-4A01-9215-592A2F054C8C}"/>
              </a:ext>
            </a:extLst>
          </p:cNvPr>
          <p:cNvSpPr>
            <a:spLocks xmlns:a="http://schemas.openxmlformats.org/drawingml/2006/main" noGrp="1"/>
          </p:cNvSpPr>
          <p:nvPr/>
        </p:nvSpPr>
        <p:spPr>
          <a:xfrm xmlns:a="http://schemas.openxmlformats.org/drawingml/2006/main">
            <a:off x="647700" y="2152650"/>
            <a:ext cx="10572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F3A"/>
                </a:solidFill>
                <a:latin typeface="Helvetica Neue"/>
                <a:ea typeface="Helvetica Neue"/>
                <a:cs typeface="Helvetica Neue"/>
              </a:defRPr>
            </a:pPr>
            <a:r>
              <a:rPr sz="2850" b="1">
                <a:solidFill>
                  <a:srgbClr val="142F3A"/>
                </a:solidFill>
                <a:latin typeface="Helvetica Neue"/>
                <a:ea typeface="Helvetica Neue"/>
                <a:cs typeface="Helvetica Neue"/>
              </a:rPr>
              <a:t>Can an agent preserve a cross-module contract</a:t>
            </a:r>
          </a:p>
          <a:p xmlns:a="http://schemas.openxmlformats.org/drawingml/2006/main">
            <a:pPr>
              <a:defRPr sz="2850" b="1">
                <a:solidFill>
                  <a:srgbClr val="142F3A"/>
                </a:solidFill>
                <a:latin typeface="Helvetica Neue"/>
                <a:ea typeface="Helvetica Neue"/>
                <a:cs typeface="Helvetica Neue"/>
              </a:defRPr>
            </a:pPr>
            <a:r>
              <a:rPr sz="2850" b="1">
                <a:solidFill>
                  <a:srgbClr val="142F3A"/>
                </a:solidFill>
                <a:latin typeface="Helvetica Neue"/>
                <a:ea typeface="Helvetica Neue"/>
                <a:cs typeface="Helvetica Neue"/>
              </a:rPr>
              <a:t>while implementing a substantial feature?</a:t>
            </a:r>
          </a:p>
        </p:txBody>
      </p:sp>
      <p:sp>
        <p:nvSpPr>
          <p:cNvPr id="7" name="">
            <a:extLst xmlns:a="http://schemas.openxmlformats.org/drawingml/2006/main">
              <a:ext uri="{FF2B5EF4-FFF2-40B4-BE49-F238E27FC236}">
                <a16:creationId xmlns:a16="http://schemas.microsoft.com/office/drawing/2014/main" id="{A972C6BC-3B34-46BC-904C-CCFDD68BBF56}"/>
              </a:ext>
            </a:extLst>
          </p:cNvPr>
          <p:cNvSpPr>
            <a:spLocks xmlns:a="http://schemas.openxmlformats.org/drawingml/2006/main" noGrp="1"/>
          </p:cNvSpPr>
          <p:nvPr/>
        </p:nvSpPr>
        <p:spPr>
          <a:xfrm xmlns:a="http://schemas.openxmlformats.org/drawingml/2006/main">
            <a:off x="64770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99/99</a:t>
            </a:r>
          </a:p>
        </p:txBody>
      </p:sp>
      <p:sp>
        <p:nvSpPr>
          <p:cNvPr id="8" name="">
            <a:extLst xmlns:a="http://schemas.openxmlformats.org/drawingml/2006/main">
              <a:ext uri="{FF2B5EF4-FFF2-40B4-BE49-F238E27FC236}">
                <a16:creationId xmlns:a16="http://schemas.microsoft.com/office/drawing/2014/main" id="{CF1BF480-2FE2-4014-980A-2BB64C813B36}"/>
              </a:ext>
            </a:extLst>
          </p:cNvPr>
          <p:cNvSpPr>
            <a:spLocks xmlns:a="http://schemas.openxmlformats.org/drawingml/2006/main" noGrp="1"/>
          </p:cNvSpPr>
          <p:nvPr/>
        </p:nvSpPr>
        <p:spPr>
          <a:xfrm xmlns:a="http://schemas.openxmlformats.org/drawingml/2006/main">
            <a:off x="64770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combinations with counted results</a:t>
            </a:r>
          </a:p>
        </p:txBody>
      </p:sp>
      <p:sp>
        <p:nvSpPr>
          <p:cNvPr id="9" name="">
            <a:extLst xmlns:a="http://schemas.openxmlformats.org/drawingml/2006/main">
              <a:ext uri="{FF2B5EF4-FFF2-40B4-BE49-F238E27FC236}">
                <a16:creationId xmlns:a16="http://schemas.microsoft.com/office/drawing/2014/main" id="{6AA75991-A9E9-4058-BF7C-6264809C9D2A}"/>
              </a:ext>
            </a:extLst>
          </p:cNvPr>
          <p:cNvSpPr>
            <a:spLocks xmlns:a="http://schemas.openxmlformats.org/drawingml/2006/main" noGrp="1"/>
          </p:cNvSpPr>
          <p:nvPr/>
        </p:nvSpPr>
        <p:spPr>
          <a:xfrm xmlns:a="http://schemas.openxmlformats.org/drawingml/2006/main">
            <a:off x="436245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64/76</a:t>
            </a:r>
          </a:p>
        </p:txBody>
      </p:sp>
      <p:sp>
        <p:nvSpPr>
          <p:cNvPr id="10" name="">
            <a:extLst xmlns:a="http://schemas.openxmlformats.org/drawingml/2006/main">
              <a:ext uri="{FF2B5EF4-FFF2-40B4-BE49-F238E27FC236}">
                <a16:creationId xmlns:a16="http://schemas.microsoft.com/office/drawing/2014/main" id="{8B88D34A-0ED9-41E4-9E3E-7AF6593FD932}"/>
              </a:ext>
            </a:extLst>
          </p:cNvPr>
          <p:cNvSpPr>
            <a:spLocks xmlns:a="http://schemas.openxmlformats.org/drawingml/2006/main" noGrp="1"/>
          </p:cNvSpPr>
          <p:nvPr/>
        </p:nvSpPr>
        <p:spPr>
          <a:xfrm xmlns:a="http://schemas.openxmlformats.org/drawingml/2006/main">
            <a:off x="436245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successful trials above 75 steps</a:t>
            </a:r>
          </a:p>
        </p:txBody>
      </p:sp>
      <p:sp>
        <p:nvSpPr>
          <p:cNvPr id="11" name="">
            <a:extLst xmlns:a="http://schemas.openxmlformats.org/drawingml/2006/main">
              <a:ext uri="{FF2B5EF4-FFF2-40B4-BE49-F238E27FC236}">
                <a16:creationId xmlns:a16="http://schemas.microsoft.com/office/drawing/2014/main" id="{F7121D25-78AB-4D07-84FC-86D9A869C97E}"/>
              </a:ext>
            </a:extLst>
          </p:cNvPr>
          <p:cNvSpPr>
            <a:spLocks xmlns:a="http://schemas.openxmlformats.org/drawingml/2006/main" noGrp="1"/>
          </p:cNvSpPr>
          <p:nvPr/>
        </p:nvSpPr>
        <p:spPr>
          <a:xfrm xmlns:a="http://schemas.openxmlformats.org/drawingml/2006/main">
            <a:off x="807720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37EEAF1A-5663-427C-BFB4-256386C72653}"/>
              </a:ext>
            </a:extLst>
          </p:cNvPr>
          <p:cNvSpPr>
            <a:spLocks xmlns:a="http://schemas.openxmlformats.org/drawingml/2006/main" noGrp="1"/>
          </p:cNvSpPr>
          <p:nvPr/>
        </p:nvSpPr>
        <p:spPr>
          <a:xfrm xmlns:a="http://schemas.openxmlformats.org/drawingml/2006/main">
            <a:off x="807720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selected Rust tasks</a:t>
            </a:r>
          </a:p>
        </p:txBody>
      </p:sp>
    </p:spTree>
    <p:extLst>
      <p:ext uri="{BB962C8B-B14F-4D97-AF65-F5344CB8AC3E}">
        <p14:creationId xmlns:p14="http://schemas.microsoft.com/office/powerpoint/2010/main" val="17019307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A71FE5-C979-4148-9AC5-A0827A53129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The capability is maintaining the whole contract</a:t>
            </a:r>
          </a:p>
        </p:txBody>
      </p:sp>
      <p:sp>
        <p:nvSpPr>
          <p:cNvPr id="2" name="">
            <a:extLst xmlns:a="http://schemas.openxmlformats.org/drawingml/2006/main">
              <a:ext uri="{FF2B5EF4-FFF2-40B4-BE49-F238E27FC236}">
                <a16:creationId xmlns:a16="http://schemas.microsoft.com/office/drawing/2014/main" id="{0FEB7E15-0901-4404-99A6-3BB47A43B2C8}"/>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85B4AF5-4AAD-43DC-BCFB-B28712BD1571}"/>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24F4266A-DC24-4F58-8569-EE1F6E99B023}"/>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7250F07F-F1C5-4FE8-9CC7-6AFB17157F84}"/>
              </a:ext>
            </a:extLst>
          </p:cNvPr>
          <p:cNvSpPr>
            <a:spLocks xmlns:a="http://schemas.openxmlformats.org/drawingml/2006/main" noGrp="1"/>
          </p:cNvSpPr>
          <p:nvPr/>
        </p:nvSpPr>
        <p:spPr>
          <a:xfrm xmlns:a="http://schemas.openxmlformats.org/drawingml/2006/main">
            <a:off x="647700"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Rerun</a:t>
            </a:r>
          </a:p>
        </p:txBody>
      </p:sp>
      <p:sp>
        <p:nvSpPr>
          <p:cNvPr id="6" name="">
            <a:extLst xmlns:a="http://schemas.openxmlformats.org/drawingml/2006/main">
              <a:ext uri="{FF2B5EF4-FFF2-40B4-BE49-F238E27FC236}">
                <a16:creationId xmlns:a16="http://schemas.microsoft.com/office/drawing/2014/main" id="{7CCD0360-F261-4D44-A1BB-EC2F504B05B9}"/>
              </a:ext>
            </a:extLst>
          </p:cNvPr>
          <p:cNvSpPr>
            <a:spLocks xmlns:a="http://schemas.openxmlformats.org/drawingml/2006/main" noGrp="1"/>
          </p:cNvSpPr>
          <p:nvPr/>
        </p:nvSpPr>
        <p:spPr>
          <a:xfrm xmlns:a="http://schemas.openxmlformats.org/drawingml/2006/main">
            <a:off x="647700"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Transform recording chunks through a bounded stream while preserving every data cell and the required layout.</a:t>
            </a:r>
          </a:p>
        </p:txBody>
      </p:sp>
      <p:sp>
        <p:nvSpPr>
          <p:cNvPr id="7" name="">
            <a:extLst xmlns:a="http://schemas.openxmlformats.org/drawingml/2006/main">
              <a:ext uri="{FF2B5EF4-FFF2-40B4-BE49-F238E27FC236}">
                <a16:creationId xmlns:a16="http://schemas.microsoft.com/office/drawing/2014/main" id="{1C99FDD4-16B3-450A-8C33-704E90D54FA1}"/>
              </a:ext>
            </a:extLst>
          </p:cNvPr>
          <p:cNvSpPr>
            <a:spLocks xmlns:a="http://schemas.openxmlformats.org/drawingml/2006/main" noGrp="1"/>
          </p:cNvSpPr>
          <p:nvPr/>
        </p:nvSpPr>
        <p:spPr>
          <a:xfrm xmlns:a="http://schemas.openxmlformats.org/drawingml/2006/main">
            <a:off x="4429125"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Zenoh</a:t>
            </a:r>
          </a:p>
        </p:txBody>
      </p:sp>
      <p:sp>
        <p:nvSpPr>
          <p:cNvPr id="8" name="">
            <a:extLst xmlns:a="http://schemas.openxmlformats.org/drawingml/2006/main">
              <a:ext uri="{FF2B5EF4-FFF2-40B4-BE49-F238E27FC236}">
                <a16:creationId xmlns:a16="http://schemas.microsoft.com/office/drawing/2014/main" id="{38284ACF-DEF3-4C54-AD86-17999D537D72}"/>
              </a:ext>
            </a:extLst>
          </p:cNvPr>
          <p:cNvSpPr>
            <a:spLocks xmlns:a="http://schemas.openxmlformats.org/drawingml/2006/main" noGrp="1"/>
          </p:cNvSpPr>
          <p:nvPr/>
        </p:nvSpPr>
        <p:spPr>
          <a:xfrm xmlns:a="http://schemas.openxmlformats.org/drawingml/2006/main">
            <a:off x="4429125"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Carry timestamp metadata through public APIs, wire encoding, and the publish/receive path.</a:t>
            </a:r>
          </a:p>
        </p:txBody>
      </p:sp>
      <p:sp>
        <p:nvSpPr>
          <p:cNvPr id="9" name="">
            <a:extLst xmlns:a="http://schemas.openxmlformats.org/drawingml/2006/main">
              <a:ext uri="{FF2B5EF4-FFF2-40B4-BE49-F238E27FC236}">
                <a16:creationId xmlns:a16="http://schemas.microsoft.com/office/drawing/2014/main" id="{1D6381A0-B5C7-43D2-89E1-C7ACFB43D3C6}"/>
              </a:ext>
            </a:extLst>
          </p:cNvPr>
          <p:cNvSpPr>
            <a:spLocks xmlns:a="http://schemas.openxmlformats.org/drawingml/2006/main" noGrp="1"/>
          </p:cNvSpPr>
          <p:nvPr/>
        </p:nvSpPr>
        <p:spPr>
          <a:xfrm xmlns:a="http://schemas.openxmlformats.org/drawingml/2006/main">
            <a:off x="8220075"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Burn</a:t>
            </a:r>
          </a:p>
        </p:txBody>
      </p:sp>
      <p:sp>
        <p:nvSpPr>
          <p:cNvPr id="10" name="">
            <a:extLst xmlns:a="http://schemas.openxmlformats.org/drawingml/2006/main">
              <a:ext uri="{FF2B5EF4-FFF2-40B4-BE49-F238E27FC236}">
                <a16:creationId xmlns:a16="http://schemas.microsoft.com/office/drawing/2014/main" id="{C78DDD65-D9BC-4327-BB33-0CDCF4488DEC}"/>
              </a:ext>
            </a:extLst>
          </p:cNvPr>
          <p:cNvSpPr>
            <a:spLocks xmlns:a="http://schemas.openxmlformats.org/drawingml/2006/main" noGrp="1"/>
          </p:cNvSpPr>
          <p:nvPr/>
        </p:nvSpPr>
        <p:spPr>
          <a:xfrm xmlns:a="http://schemas.openxmlformats.org/drawingml/2006/main">
            <a:off x="8220075"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Read real checkpoint formats, retain lazy tensors, and reject malformed or dangerous inputs.</a:t>
            </a:r>
          </a:p>
        </p:txBody>
      </p:sp>
      <p:sp>
        <p:nvSpPr>
          <p:cNvPr id="11" name="">
            <a:extLst xmlns:a="http://schemas.openxmlformats.org/drawingml/2006/main">
              <a:ext uri="{FF2B5EF4-FFF2-40B4-BE49-F238E27FC236}">
                <a16:creationId xmlns:a16="http://schemas.microsoft.com/office/drawing/2014/main" id="{60B80FD6-8C71-4C07-AE31-855518A6687E}"/>
              </a:ext>
            </a:extLst>
          </p:cNvPr>
          <p:cNvSpPr>
            <a:spLocks xmlns:a="http://schemas.openxmlformats.org/drawingml/2006/main" noGrp="1"/>
          </p:cNvSpPr>
          <p:nvPr/>
        </p:nvSpPr>
        <p:spPr>
          <a:xfrm xmlns:a="http://schemas.openxmlformats.org/drawingml/2006/main">
            <a:off x="647700" y="4743450"/>
            <a:ext cx="10896600" cy="19050"/>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E6A1A5-E7DD-4B56-A743-DD4639E728E1}"/>
              </a:ext>
            </a:extLst>
          </p:cNvPr>
          <p:cNvSpPr>
            <a:spLocks xmlns:a="http://schemas.openxmlformats.org/drawingml/2006/main" noGrp="1"/>
          </p:cNvSpPr>
          <p:nvPr/>
        </p:nvSpPr>
        <p:spPr>
          <a:xfrm xmlns:a="http://schemas.openxmlformats.org/drawingml/2006/main">
            <a:off x="647700" y="5076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F3A"/>
                </a:solidFill>
                <a:latin typeface="Helvetica Neue"/>
                <a:ea typeface="Helvetica Neue"/>
                <a:cs typeface="Helvetica Neue"/>
              </a:defRPr>
            </a:pPr>
            <a:r>
              <a:rPr sz="2250" b="1">
                <a:solidFill>
                  <a:srgbClr val="142F3A"/>
                </a:solidFill>
                <a:latin typeface="Helvetica Neue"/>
                <a:ea typeface="Helvetica Neue"/>
                <a:cs typeface="Helvetica Neue"/>
              </a:rPr>
              <a:t>The shared demand: implement locally, then verify behavior across module boundaries.</a:t>
            </a:r>
          </a:p>
        </p:txBody>
      </p:sp>
    </p:spTree>
    <p:extLst>
      <p:ext uri="{BB962C8B-B14F-4D97-AF65-F5344CB8AC3E}">
        <p14:creationId xmlns:p14="http://schemas.microsoft.com/office/powerpoint/2010/main" val="18716811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F319E7D-7800-4F4F-ADE2-C6728C85FD7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First-result coverage and recorded passes</a:t>
            </a:r>
          </a:p>
        </p:txBody>
      </p:sp>
      <p:sp>
        <p:nvSpPr>
          <p:cNvPr id="2" name="">
            <a:extLst xmlns:a="http://schemas.openxmlformats.org/drawingml/2006/main">
              <a:ext uri="{FF2B5EF4-FFF2-40B4-BE49-F238E27FC236}">
                <a16:creationId xmlns:a16="http://schemas.microsoft.com/office/drawing/2014/main" id="{143FFB97-D18D-4DE6-87B9-04F86B729413}"/>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Passes / first results. Luigi and Diskcache include service-interrupted failures.</a:t>
            </a:r>
          </a:p>
        </p:txBody>
      </p:sp>
      <p:sp>
        <p:nvSpPr>
          <p:cNvPr id="3" name="">
            <a:extLst xmlns:a="http://schemas.openxmlformats.org/drawingml/2006/main">
              <a:ext uri="{FF2B5EF4-FFF2-40B4-BE49-F238E27FC236}">
                <a16:creationId xmlns:a16="http://schemas.microsoft.com/office/drawing/2014/main" id="{3F1382BB-7D62-48D0-A681-F5E138350672}"/>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DF82D8-6AAE-432A-9F76-F04D78CF061B}"/>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AC8C56BE-99AE-456F-91A9-F1834DAF5CA2}"/>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3</a:t>
            </a:r>
          </a:p>
        </p:txBody>
      </p:sp>
      <p:graphicFrame>
        <p:nvGraphicFramePr>
          <p:cNvPr id="12" name=""/>
          <p:cNvGraphicFramePr/>
          <p:nvPr/>
        </p:nvGraphicFramePr>
        <p:xfrm>
          <a:off xmlns:a="http://schemas.openxmlformats.org/drawingml/2006/main" x="647700" y="1752600"/>
          <a:ext xmlns:a="http://schemas.openxmlformats.org/drawingml/2006/main" cx="10896600" cy="4305300"/>
        </p:xfrm>
        <a:graphic xmlns:a="http://schemas.openxmlformats.org/drawingml/2006/main">
          <a:graphicData uri="http://schemas.openxmlformats.org/drawingml/2006/table">
            <a:tbl>
              <a:tblPr/>
              <a:tblGrid>
                <a:gridCol w="5143500"/>
                <a:gridCol w="1381125"/>
                <a:gridCol w="1381125"/>
                <a:gridCol w="1381125"/>
                <a:gridCol w="1609725"/>
              </a:tblGrid>
              <a:tr h="358775">
                <a:tc>
                  <a:txBody>
                    <a:bodyPr>
                      <a:noAutofit/>
                    </a:bodyPr>
                    <a:lstStyle/>
                    <a:p>
                      <a:r>
                        <a:rPr sz="1425"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Fable</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Opus</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Sonnet</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Covered</a:t>
                      </a:r>
                    </a:p>
                  </a:txBody>
                  <a:tcPr marL="91440" marR="91440" marT="45720" marB="45720">
                    <a:solidFill>
                      <a:srgbClr val="142F3A"/>
                    </a:solidFill>
                  </a:tcPr>
                </a:tc>
              </a:tr>
              <a:tr h="358775">
                <a:tc>
                  <a:txBody>
                    <a:bodyPr>
                      <a:noAutofit/>
                    </a:bodyPr>
                    <a:lstStyle/>
                    <a:p>
                      <a:r>
                        <a:rPr sz="1425" b="0">
                          <a:solidFill>
                            <a:srgbClr val="142F3A"/>
                          </a:solidFill>
                          <a:latin typeface="Helvetica Neue"/>
                          <a:ea typeface="Helvetica Neue"/>
                          <a:cs typeface="Helvetica Neue"/>
                        </a:rPr>
                        <a:t>Foxglove parameter handler</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rosbag2 mixed playback</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Zenoh C++ connectivity</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Diskcache resharding v2</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0/3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Luigi generation target</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0/3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Rosbags storage writers</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Zarr value codecs</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Burn ONNX runtime weights</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Rerun chunk optimizer</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Zenoh timestamps v3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bl>
          </a:graphicData>
        </a:graphic>
      </p:graphicFrame>
    </p:spTree>
    <p:extLst>
      <p:ext uri="{BB962C8B-B14F-4D97-AF65-F5344CB8AC3E}">
        <p14:creationId xmlns:p14="http://schemas.microsoft.com/office/powerpoint/2010/main" val="1940221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D17792-BDD0-440C-87F5-575DDFF68D15}"/>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Successful runs often take more than 75 steps</a:t>
            </a:r>
          </a:p>
        </p:txBody>
      </p:sp>
      <p:sp>
        <p:nvSpPr>
          <p:cNvPr id="2" name="">
            <a:extLst xmlns:a="http://schemas.openxmlformats.org/drawingml/2006/main">
              <a:ext uri="{FF2B5EF4-FFF2-40B4-BE49-F238E27FC236}">
                <a16:creationId xmlns:a16="http://schemas.microsoft.com/office/drawing/2014/main" id="{3ADC128F-9851-452D-AB85-31FE5DDFACE5}"/>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Median turns on success · 64/76 successful trials exceed 75 turns</a:t>
            </a:r>
          </a:p>
        </p:txBody>
      </p:sp>
      <p:sp>
        <p:nvSpPr>
          <p:cNvPr id="3" name="">
            <a:extLst xmlns:a="http://schemas.openxmlformats.org/drawingml/2006/main">
              <a:ext uri="{FF2B5EF4-FFF2-40B4-BE49-F238E27FC236}">
                <a16:creationId xmlns:a16="http://schemas.microsoft.com/office/drawing/2014/main" id="{637103A2-7BB5-44A6-BDBB-742F51D1D8EE}"/>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D55F0D-7B9A-42F8-9D5C-948193CA9079}"/>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B06B397F-3D7A-4BDF-BE59-1E062E73CA88}"/>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4</a:t>
            </a:r>
          </a:p>
        </p:txBody>
      </p:sp>
      <p:graphicFrame>
        <p:nvGraphicFramePr>
          <p:cNvPr id="12" name="Chart"/>
          <p:cNvGraphicFramePr/>
          <p:nvPr/>
        </p:nvGraphicFramePr>
        <p:xfrm>
          <a:off xmlns:a="http://schemas.openxmlformats.org/drawingml/2006/main" x="647700" y="1952625"/>
          <a:ext xmlns:a="http://schemas.openxmlformats.org/drawingml/2006/main" cx="10896600" cy="4048125"/>
        </p:xfrm>
        <a:graphic xmlns:a="http://schemas.openxmlformats.org/drawingml/2006/main">
          <a:graphicData uri="http://schemas.openxmlformats.org/drawingml/2006/chart">
            <c:chart xmlns:r="http://schemas.openxmlformats.org/officeDocument/2006/relationships" xmlns:c="http://schemas.openxmlformats.org/drawingml/2006/chart" r:id="R595874446e494fe4"/>
          </a:graphicData>
        </a:graphic>
      </p:graphicFrame>
    </p:spTree>
    <p:extLst>
      <p:ext uri="{BB962C8B-B14F-4D97-AF65-F5344CB8AC3E}">
        <p14:creationId xmlns:p14="http://schemas.microsoft.com/office/powerpoint/2010/main" val="282126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25E007-7898-4B0F-9C60-D1EF19C0685E}"/>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Three Rust candidates with observed Sonnet failures</a:t>
            </a:r>
          </a:p>
        </p:txBody>
      </p:sp>
      <p:sp>
        <p:nvSpPr>
          <p:cNvPr id="2" name="">
            <a:extLst xmlns:a="http://schemas.openxmlformats.org/drawingml/2006/main">
              <a:ext uri="{FF2B5EF4-FFF2-40B4-BE49-F238E27FC236}">
                <a16:creationId xmlns:a16="http://schemas.microsoft.com/office/drawing/2014/main" id="{1446F0CE-4E48-4928-B18A-3F5238F1E892}"/>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Original first-result cohorts · passes and median steps on success</a:t>
            </a:r>
          </a:p>
        </p:txBody>
      </p:sp>
      <p:sp>
        <p:nvSpPr>
          <p:cNvPr id="3" name="">
            <a:extLst xmlns:a="http://schemas.openxmlformats.org/drawingml/2006/main">
              <a:ext uri="{FF2B5EF4-FFF2-40B4-BE49-F238E27FC236}">
                <a16:creationId xmlns:a16="http://schemas.microsoft.com/office/drawing/2014/main" id="{39F7A650-B59E-4BC6-B7D0-B0C0E593EFB9}"/>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EB1B6C9-1673-48BC-A5DB-73450D807DD1}"/>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EF1F295C-60E1-43C7-91C5-CE2094DBA97D}"/>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5</a:t>
            </a:r>
          </a:p>
        </p:txBody>
      </p:sp>
      <p:graphicFrame>
        <p:nvGraphicFramePr>
          <p:cNvPr id="14" name=""/>
          <p:cNvGraphicFramePr/>
          <p:nvPr/>
        </p:nvGraphicFramePr>
        <p:xfrm>
          <a:off xmlns:a="http://schemas.openxmlformats.org/drawingml/2006/main" x="647700" y="1847850"/>
          <a:ext xmlns:a="http://schemas.openxmlformats.org/drawingml/2006/main" cx="10896600" cy="2743200"/>
        </p:xfrm>
        <a:graphic xmlns:a="http://schemas.openxmlformats.org/drawingml/2006/main">
          <a:graphicData uri="http://schemas.openxmlformats.org/drawingml/2006/table">
            <a:tbl>
              <a:tblPr/>
              <a:tblGrid>
                <a:gridCol w="3143250"/>
                <a:gridCol w="1905000"/>
                <a:gridCol w="1714500"/>
                <a:gridCol w="4133850"/>
              </a:tblGrid>
              <a:tr h="685800">
                <a:tc>
                  <a:txBody>
                    <a:bodyPr>
                      <a:noAutofit/>
                    </a:bodyPr>
                    <a:lstStyle/>
                    <a:p>
                      <a:r>
                        <a:rPr sz="1800" b="1">
                          <a:solidFill>
                            <a:srgbClr val="FFFFFF"/>
                          </a:solidFill>
                          <a:latin typeface="Helvetica Neue"/>
                          <a:ea typeface="Helvetica Neue"/>
                          <a:cs typeface="Helvetica Neue"/>
                        </a:rPr>
                        <a:t>Candidate</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Pass / first trials</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Steps on success</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Reason to retain</a:t>
                      </a:r>
                    </a:p>
                  </a:txBody>
                  <a:tcPr marL="91440" marR="91440" marT="45720" marB="45720">
                    <a:solidFill>
                      <a:srgbClr val="142F3A"/>
                    </a:solidFill>
                  </a:tcPr>
                </a:tc>
              </a:tr>
              <a:tr h="685800">
                <a:tc>
                  <a:txBody>
                    <a:bodyPr>
                      <a:noAutofit/>
                    </a:bodyPr>
                    <a:lstStyle/>
                    <a:p>
                      <a:r>
                        <a:rPr sz="1800" b="0">
                          <a:solidFill>
                            <a:srgbClr val="142F3A"/>
                          </a:solidFill>
                          <a:latin typeface="Helvetica Neue"/>
                          <a:ea typeface="Helvetica Neue"/>
                          <a:cs typeface="Helvetica Neue"/>
                        </a:rPr>
                        <a:t>Rerun chunk optimizer</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8/9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119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Streaming layout + data preservation</a:t>
                      </a:r>
                    </a:p>
                  </a:txBody>
                  <a:tcPr marL="91440" marR="91440" marT="45720" marB="45720">
                    <a:solidFill>
                      <a:srgbClr val="E9F3F1"/>
                    </a:solidFill>
                  </a:tcPr>
                </a:tc>
              </a:tr>
              <a:tr h="685800">
                <a:tc>
                  <a:txBody>
                    <a:bodyPr>
                      <a:noAutofit/>
                    </a:bodyPr>
                    <a:lstStyle/>
                    <a:p>
                      <a:r>
                        <a:rPr sz="1800" b="0">
                          <a:solidFill>
                            <a:srgbClr val="142F3A"/>
                          </a:solidFill>
                          <a:latin typeface="Helvetica Neue"/>
                          <a:ea typeface="Helvetica Neue"/>
                          <a:cs typeface="Helvetica Neue"/>
                        </a:rPr>
                        <a:t>Zenoh timestamps v3</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8/9</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216.5</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Wire protocol + public API integration</a:t>
                      </a:r>
                    </a:p>
                  </a:txBody>
                  <a:tcPr marL="91440" marR="91440" marT="45720" marB="45720">
                    <a:solidFill>
                      <a:srgbClr val="FFFFFF"/>
                    </a:solidFill>
                  </a:tcPr>
                </a:tc>
              </a:tr>
              <a:tr h="685800">
                <a:tc>
                  <a:txBody>
                    <a:bodyPr>
                      <a:noAutofit/>
                    </a:bodyPr>
                    <a:lstStyle/>
                    <a:p>
                      <a:r>
                        <a:rPr sz="1800"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7/9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144</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Format compatibility + bounds validation</a:t>
                      </a:r>
                    </a:p>
                  </a:txBody>
                  <a:tcPr marL="91440" marR="91440" marT="45720" marB="45720">
                    <a:solidFill>
                      <a:srgbClr val="E9F3F1"/>
                    </a:solidFill>
                  </a:tcPr>
                </a:tc>
              </a:tr>
            </a:tbl>
          </a:graphicData>
        </a:graphic>
      </p:graphicFrame>
      <p:sp>
        <p:nvSpPr>
          <p:cNvPr id="7" name="">
            <a:extLst xmlns:a="http://schemas.openxmlformats.org/drawingml/2006/main">
              <a:ext uri="{FF2B5EF4-FFF2-40B4-BE49-F238E27FC236}">
                <a16:creationId xmlns:a16="http://schemas.microsoft.com/office/drawing/2014/main" id="{4E579CD7-2366-49DC-803A-4DDEAD46551F}"/>
              </a:ext>
            </a:extLst>
          </p:cNvPr>
          <p:cNvSpPr>
            <a:spLocks xmlns:a="http://schemas.openxmlformats.org/drawingml/2006/main" noGrp="1"/>
          </p:cNvSpPr>
          <p:nvPr/>
        </p:nvSpPr>
        <p:spPr>
          <a:xfrm xmlns:a="http://schemas.openxmlformats.org/drawingml/2006/main">
            <a:off x="647700" y="4914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D6520"/>
                </a:solidFill>
                <a:latin typeface="Helvetica Neue"/>
                <a:ea typeface="Helvetica Neue"/>
                <a:cs typeface="Helvetica Neue"/>
              </a:defRPr>
            </a:pPr>
            <a:r>
              <a:rPr sz="2025" b="1">
                <a:solidFill>
                  <a:srgbClr val="AD6520"/>
                </a:solidFill>
                <a:latin typeface="Helvetica Neue"/>
                <a:ea typeface="Helvetica Neue"/>
                <a:cs typeface="Helvetica Neue"/>
              </a:rPr>
              <a:t>Observed failures are concentrated in Sonnet</a:t>
            </a:r>
          </a:p>
        </p:txBody>
      </p:sp>
      <p:sp>
        <p:nvSpPr>
          <p:cNvPr id="8" name="">
            <a:extLst xmlns:a="http://schemas.openxmlformats.org/drawingml/2006/main">
              <a:ext uri="{FF2B5EF4-FFF2-40B4-BE49-F238E27FC236}">
                <a16:creationId xmlns:a16="http://schemas.microsoft.com/office/drawing/2014/main" id="{F9C85502-0FF0-4DD9-A749-3102454F8668}"/>
              </a:ext>
            </a:extLst>
          </p:cNvPr>
          <p:cNvSpPr>
            <a:spLocks xmlns:a="http://schemas.openxmlformats.org/drawingml/2006/main" noGrp="1"/>
          </p:cNvSpPr>
          <p:nvPr/>
        </p:nvSpPr>
        <p:spPr>
          <a:xfrm xmlns:a="http://schemas.openxmlformats.org/drawingml/2006/main">
            <a:off x="647700" y="53816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Fable and Opus: 18/18 passes. Sonnet: 5/9 passes.</a:t>
            </a:r>
          </a:p>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Repeated trials and corrected Zenoh regrades remain separate.</a:t>
            </a:r>
          </a:p>
        </p:txBody>
      </p:sp>
    </p:spTree>
    <p:extLst>
      <p:ext uri="{BB962C8B-B14F-4D97-AF65-F5344CB8AC3E}">
        <p14:creationId xmlns:p14="http://schemas.microsoft.com/office/powerpoint/2010/main" val="16220472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A0689D6-A1C5-4C7F-8534-F4D0E673F2E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Rerun: a concrete integration failure</a:t>
            </a:r>
          </a:p>
        </p:txBody>
      </p:sp>
      <p:sp>
        <p:nvSpPr>
          <p:cNvPr id="2" name="">
            <a:extLst xmlns:a="http://schemas.openxmlformats.org/drawingml/2006/main">
              <a:ext uri="{FF2B5EF4-FFF2-40B4-BE49-F238E27FC236}">
                <a16:creationId xmlns:a16="http://schemas.microsoft.com/office/drawing/2014/main" id="{1E948095-201E-484A-952B-FF3B806469B9}"/>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BD9E64-D628-4364-AE02-3C6B6B626C98}"/>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004084C8-F7C9-4B9F-9F33-6CE3C6F9D5F3}"/>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6</a:t>
            </a:r>
          </a:p>
        </p:txBody>
      </p:sp>
      <p:sp>
        <p:nvSpPr>
          <p:cNvPr id="5" name="">
            <a:extLst xmlns:a="http://schemas.openxmlformats.org/drawingml/2006/main">
              <a:ext uri="{FF2B5EF4-FFF2-40B4-BE49-F238E27FC236}">
                <a16:creationId xmlns:a16="http://schemas.microsoft.com/office/drawing/2014/main" id="{80C1C732-568A-450E-9436-AC2F231A299B}"/>
              </a:ext>
            </a:extLst>
          </p:cNvPr>
          <p:cNvSpPr>
            <a:spLocks xmlns:a="http://schemas.openxmlformats.org/drawingml/2006/main" noGrp="1"/>
          </p:cNvSpPr>
          <p:nvPr/>
        </p:nvSpPr>
        <p:spPr>
          <a:xfrm xmlns:a="http://schemas.openxmlformats.org/drawingml/2006/main">
            <a:off x="647700" y="18192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F3A"/>
                </a:solidFill>
                <a:latin typeface="Helvetica Neue"/>
                <a:ea typeface="Helvetica Neue"/>
                <a:cs typeface="Helvetica Neue"/>
              </a:defRPr>
            </a:pPr>
            <a:r>
              <a:rPr sz="1875" b="1">
                <a:solidFill>
                  <a:srgbClr val="142F3A"/>
                </a:solidFill>
                <a:latin typeface="Helvetica Neue"/>
                <a:ea typeface="Helvetica Neue"/>
                <a:cs typeface="Helvetica Neue"/>
              </a:rPr>
              <a:t>Returned layout · rows per chunk</a:t>
            </a:r>
          </a:p>
        </p:txBody>
      </p:sp>
      <p:sp>
        <p:nvSpPr>
          <p:cNvPr id="6" name="">
            <a:extLst xmlns:a="http://schemas.openxmlformats.org/drawingml/2006/main">
              <a:ext uri="{FF2B5EF4-FFF2-40B4-BE49-F238E27FC236}">
                <a16:creationId xmlns:a16="http://schemas.microsoft.com/office/drawing/2014/main" id="{0993FAC6-5BAA-43F4-BC76-E441EABFDB6F}"/>
              </a:ext>
            </a:extLst>
          </p:cNvPr>
          <p:cNvSpPr>
            <a:spLocks xmlns:a="http://schemas.openxmlformats.org/drawingml/2006/main" noGrp="1"/>
          </p:cNvSpPr>
          <p:nvPr/>
        </p:nvSpPr>
        <p:spPr>
          <a:xfrm xmlns:a="http://schemas.openxmlformats.org/drawingml/2006/main">
            <a:off x="647700" y="2238375"/>
            <a:ext cx="3143250" cy="542925"/>
          </a:xfrm>
          <a:prstGeom xmlns:a="http://schemas.openxmlformats.org/drawingml/2006/main" prst="rect">
            <a:avLst/>
          </a:prstGeom>
          <a:solidFill xmlns:a="http://schemas.openxmlformats.org/drawingml/2006/main">
            <a:srgbClr val="AD652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9CD7DC-EAFE-4C1B-927A-A4BDC8EC54FE}"/>
              </a:ext>
            </a:extLst>
          </p:cNvPr>
          <p:cNvSpPr>
            <a:spLocks xmlns:a="http://schemas.openxmlformats.org/drawingml/2006/main" noGrp="1"/>
          </p:cNvSpPr>
          <p:nvPr/>
        </p:nvSpPr>
        <p:spPr>
          <a:xfrm xmlns:a="http://schemas.openxmlformats.org/drawingml/2006/main">
            <a:off x="762000" y="2333625"/>
            <a:ext cx="297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6</a:t>
            </a:r>
          </a:p>
        </p:txBody>
      </p:sp>
      <p:sp>
        <p:nvSpPr>
          <p:cNvPr id="8" name="">
            <a:extLst xmlns:a="http://schemas.openxmlformats.org/drawingml/2006/main">
              <a:ext uri="{FF2B5EF4-FFF2-40B4-BE49-F238E27FC236}">
                <a16:creationId xmlns:a16="http://schemas.microsoft.com/office/drawing/2014/main" id="{B0D6982E-F3F1-49C3-9C22-25A6665D1C3A}"/>
              </a:ext>
            </a:extLst>
          </p:cNvPr>
          <p:cNvSpPr>
            <a:spLocks xmlns:a="http://schemas.openxmlformats.org/drawingml/2006/main" noGrp="1"/>
          </p:cNvSpPr>
          <p:nvPr/>
        </p:nvSpPr>
        <p:spPr>
          <a:xfrm xmlns:a="http://schemas.openxmlformats.org/drawingml/2006/main">
            <a:off x="3905250" y="2238375"/>
            <a:ext cx="1047750" cy="542925"/>
          </a:xfrm>
          <a:prstGeom xmlns:a="http://schemas.openxmlformats.org/drawingml/2006/main" prst="rect">
            <a:avLst/>
          </a:prstGeom>
          <a:solidFill xmlns:a="http://schemas.openxmlformats.org/drawingml/2006/main">
            <a:srgbClr val="AD652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F8CBD9-CE0B-4381-ACD7-944A38468CB0}"/>
              </a:ext>
            </a:extLst>
          </p:cNvPr>
          <p:cNvSpPr>
            <a:spLocks xmlns:a="http://schemas.openxmlformats.org/drawingml/2006/main" noGrp="1"/>
          </p:cNvSpPr>
          <p:nvPr/>
        </p:nvSpPr>
        <p:spPr>
          <a:xfrm xmlns:a="http://schemas.openxmlformats.org/drawingml/2006/main">
            <a:off x="4019550" y="2333625"/>
            <a:ext cx="876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367D6391-3FB1-4698-968B-187D9E766B58}"/>
              </a:ext>
            </a:extLst>
          </p:cNvPr>
          <p:cNvSpPr>
            <a:spLocks xmlns:a="http://schemas.openxmlformats.org/drawingml/2006/main" noGrp="1"/>
          </p:cNvSpPr>
          <p:nvPr/>
        </p:nvSpPr>
        <p:spPr>
          <a:xfrm xmlns:a="http://schemas.openxmlformats.org/drawingml/2006/main">
            <a:off x="647700" y="30956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F3A"/>
                </a:solidFill>
                <a:latin typeface="Helvetica Neue"/>
                <a:ea typeface="Helvetica Neue"/>
                <a:cs typeface="Helvetica Neue"/>
              </a:defRPr>
            </a:pPr>
            <a:r>
              <a:rPr sz="1875" b="1">
                <a:solidFill>
                  <a:srgbClr val="142F3A"/>
                </a:solidFill>
                <a:latin typeface="Helvetica Neue"/>
                <a:ea typeface="Helvetica Neue"/>
                <a:cs typeface="Helvetica Neue"/>
              </a:rPr>
              <a:t>Required layout · rows per chunk</a:t>
            </a:r>
          </a:p>
        </p:txBody>
      </p:sp>
      <p:sp>
        <p:nvSpPr>
          <p:cNvPr id="11" name="">
            <a:extLst xmlns:a="http://schemas.openxmlformats.org/drawingml/2006/main">
              <a:ext uri="{FF2B5EF4-FFF2-40B4-BE49-F238E27FC236}">
                <a16:creationId xmlns:a16="http://schemas.microsoft.com/office/drawing/2014/main" id="{5C709942-325B-47A5-990A-E3BFF5C46491}"/>
              </a:ext>
            </a:extLst>
          </p:cNvPr>
          <p:cNvSpPr>
            <a:spLocks xmlns:a="http://schemas.openxmlformats.org/drawingml/2006/main" noGrp="1"/>
          </p:cNvSpPr>
          <p:nvPr/>
        </p:nvSpPr>
        <p:spPr>
          <a:xfrm xmlns:a="http://schemas.openxmlformats.org/drawingml/2006/main">
            <a:off x="647700" y="3514725"/>
            <a:ext cx="2095500" cy="542925"/>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0EC7F9F-7C45-46B6-AB11-57935BAD4B6C}"/>
              </a:ext>
            </a:extLst>
          </p:cNvPr>
          <p:cNvSpPr>
            <a:spLocks xmlns:a="http://schemas.openxmlformats.org/drawingml/2006/main" noGrp="1"/>
          </p:cNvSpPr>
          <p:nvPr/>
        </p:nvSpPr>
        <p:spPr>
          <a:xfrm xmlns:a="http://schemas.openxmlformats.org/drawingml/2006/main">
            <a:off x="762000" y="36099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13" name="">
            <a:extLst xmlns:a="http://schemas.openxmlformats.org/drawingml/2006/main">
              <a:ext uri="{FF2B5EF4-FFF2-40B4-BE49-F238E27FC236}">
                <a16:creationId xmlns:a16="http://schemas.microsoft.com/office/drawing/2014/main" id="{326D1544-8468-4750-9A7B-E6518E0D48AA}"/>
              </a:ext>
            </a:extLst>
          </p:cNvPr>
          <p:cNvSpPr>
            <a:spLocks xmlns:a="http://schemas.openxmlformats.org/drawingml/2006/main" noGrp="1"/>
          </p:cNvSpPr>
          <p:nvPr/>
        </p:nvSpPr>
        <p:spPr>
          <a:xfrm xmlns:a="http://schemas.openxmlformats.org/drawingml/2006/main">
            <a:off x="2857500" y="3514725"/>
            <a:ext cx="2095500" cy="542925"/>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E5D491B-9E82-4AA2-BEF5-0D94CFF09649}"/>
              </a:ext>
            </a:extLst>
          </p:cNvPr>
          <p:cNvSpPr>
            <a:spLocks xmlns:a="http://schemas.openxmlformats.org/drawingml/2006/main" noGrp="1"/>
          </p:cNvSpPr>
          <p:nvPr/>
        </p:nvSpPr>
        <p:spPr>
          <a:xfrm xmlns:a="http://schemas.openxmlformats.org/drawingml/2006/main">
            <a:off x="2971800" y="36099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15" name="">
            <a:extLst xmlns:a="http://schemas.openxmlformats.org/drawingml/2006/main">
              <a:ext uri="{FF2B5EF4-FFF2-40B4-BE49-F238E27FC236}">
                <a16:creationId xmlns:a16="http://schemas.microsoft.com/office/drawing/2014/main" id="{92FFB0BC-FA9C-4E99-A1D5-DA1E662B4828}"/>
              </a:ext>
            </a:extLst>
          </p:cNvPr>
          <p:cNvSpPr>
            <a:spLocks xmlns:a="http://schemas.openxmlformats.org/drawingml/2006/main" noGrp="1"/>
          </p:cNvSpPr>
          <p:nvPr/>
        </p:nvSpPr>
        <p:spPr>
          <a:xfrm xmlns:a="http://schemas.openxmlformats.org/drawingml/2006/main">
            <a:off x="6286500" y="1943100"/>
            <a:ext cx="52197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F3A"/>
                </a:solidFill>
                <a:latin typeface="Helvetica Neue"/>
                <a:ea typeface="Helvetica Neue"/>
                <a:cs typeface="Helvetica Neue"/>
              </a:defRPr>
            </a:pPr>
            <a:r>
              <a:rPr sz="2175" b="1">
                <a:solidFill>
                  <a:srgbClr val="142F3A"/>
                </a:solidFill>
                <a:latin typeface="Helvetica Neue"/>
                <a:ea typeface="Helvetica Neue"/>
                <a:cs typeface="Helvetica Neue"/>
              </a:rPr>
              <a:t>“All existing tests for the three crates pass, plus my own smoke tests”</a:t>
            </a:r>
          </a:p>
        </p:txBody>
      </p:sp>
      <p:sp>
        <p:nvSpPr>
          <p:cNvPr id="16" name="">
            <a:extLst xmlns:a="http://schemas.openxmlformats.org/drawingml/2006/main">
              <a:ext uri="{FF2B5EF4-FFF2-40B4-BE49-F238E27FC236}">
                <a16:creationId xmlns:a16="http://schemas.microsoft.com/office/drawing/2014/main" id="{5E992F4B-69C6-45B0-8D65-AC89346E2147}"/>
              </a:ext>
            </a:extLst>
          </p:cNvPr>
          <p:cNvSpPr>
            <a:spLocks xmlns:a="http://schemas.openxmlformats.org/drawingml/2006/main" noGrp="1"/>
          </p:cNvSpPr>
          <p:nvPr/>
        </p:nvSpPr>
        <p:spPr>
          <a:xfrm xmlns:a="http://schemas.openxmlformats.org/drawingml/2006/main">
            <a:off x="6286500" y="328612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The hidden verifier found five split, packing and row-limit failures. The existing regression suites still passed.</a:t>
            </a:r>
          </a:p>
        </p:txBody>
      </p:sp>
      <p:graphicFrame>
        <p:nvGraphicFramePr>
          <p:cNvPr id="34" name=""/>
          <p:cNvGraphicFramePr/>
          <p:nvPr/>
        </p:nvGraphicFramePr>
        <p:xfrm>
          <a:off xmlns:a="http://schemas.openxmlformats.org/drawingml/2006/main" x="647700" y="4562475"/>
          <a:ext xmlns:a="http://schemas.openxmlformats.org/drawingml/2006/main" cx="10896600" cy="1333500"/>
        </p:xfrm>
        <a:graphic xmlns:a="http://schemas.openxmlformats.org/drawingml/2006/main">
          <a:graphicData uri="http://schemas.openxmlformats.org/drawingml/2006/table">
            <a:tbl>
              <a:tblPr/>
              <a:tblGrid>
                <a:gridCol w="5619750"/>
                <a:gridCol w="5276850"/>
              </a:tblGrid>
              <a:tr h="444500">
                <a:tc>
                  <a:txBody>
                    <a:bodyPr>
                      <a:noAutofit/>
                    </a:bodyPr>
                    <a:lstStyle/>
                    <a:p>
                      <a:r>
                        <a:rPr sz="1725" b="1">
                          <a:solidFill>
                            <a:srgbClr val="FFFFFF"/>
                          </a:solidFill>
                          <a:latin typeface="Helvetica Neue"/>
                          <a:ea typeface="Helvetica Neue"/>
                          <a:cs typeface="Helvetica Neue"/>
                        </a:rPr>
                        <a:t>Same task, different effort</a:t>
                      </a:r>
                    </a:p>
                  </a:txBody>
                  <a:tcPr marL="91440" marR="91440" marT="45720" marB="45720">
                    <a:solidFill>
                      <a:srgbClr val="142F3A"/>
                    </a:solidFill>
                  </a:tcPr>
                </a:tc>
                <a:tc>
                  <a:txBody>
                    <a:bodyPr>
                      <a:noAutofit/>
                    </a:bodyPr>
                    <a:lstStyle/>
                    <a:p>
                      <a:r>
                        <a:rPr sz="1725" b="1">
                          <a:solidFill>
                            <a:srgbClr val="FFFFFF"/>
                          </a:solidFill>
                          <a:latin typeface="Helvetica Neue"/>
                          <a:ea typeface="Helvetica Neue"/>
                          <a:cs typeface="Helvetica Neue"/>
                        </a:rPr>
                        <a:t>Observed result</a:t>
                      </a:r>
                    </a:p>
                  </a:txBody>
                  <a:tcPr marL="91440" marR="91440" marT="45720" marB="45720">
                    <a:solidFill>
                      <a:srgbClr val="142F3A"/>
                    </a:solidFill>
                  </a:tcPr>
                </a:tc>
              </a:tr>
              <a:tr h="444500">
                <a:tc>
                  <a:txBody>
                    <a:bodyPr>
                      <a:noAutofit/>
                    </a:bodyPr>
                    <a:lstStyle/>
                    <a:p>
                      <a:r>
                        <a:rPr sz="1725" b="0">
                          <a:solidFill>
                            <a:srgbClr val="142F3A"/>
                          </a:solidFill>
                          <a:latin typeface="Helvetica Neue"/>
                          <a:ea typeface="Helvetica Neue"/>
                          <a:cs typeface="Helvetica Neue"/>
                        </a:rPr>
                        <a:t>sonnet/medium · 138 steps · fail</a:t>
                      </a:r>
                    </a:p>
                  </a:txBody>
                  <a:tcPr marL="91440" marR="91440" marT="45720" marB="45720">
                    <a:solidFill>
                      <a:srgbClr val="E9F3F1"/>
                    </a:solidFill>
                  </a:tcPr>
                </a:tc>
                <a:tc>
                  <a:txBody>
                    <a:bodyPr>
                      <a:noAutofit/>
                    </a:bodyPr>
                    <a:lstStyle/>
                    <a:p>
                      <a:r>
                        <a:rPr sz="1725" b="0">
                          <a:solidFill>
                            <a:srgbClr val="142F3A"/>
                          </a:solidFill>
                          <a:latin typeface="Helvetica Neue"/>
                          <a:ea typeface="Helvetica Neue"/>
                          <a:cs typeface="Helvetica Neue"/>
                        </a:rPr>
                        <a:t>Layout contract failures</a:t>
                      </a:r>
                    </a:p>
                  </a:txBody>
                  <a:tcPr marL="91440" marR="91440" marT="45720" marB="45720">
                    <a:solidFill>
                      <a:srgbClr val="E9F3F1"/>
                    </a:solidFill>
                  </a:tcPr>
                </a:tc>
              </a:tr>
              <a:tr h="444500">
                <a:tc>
                  <a:txBody>
                    <a:bodyPr>
                      <a:noAutofit/>
                    </a:bodyPr>
                    <a:lstStyle/>
                    <a:p>
                      <a:r>
                        <a:rPr sz="1725" b="0">
                          <a:solidFill>
                            <a:srgbClr val="142F3A"/>
                          </a:solidFill>
                          <a:latin typeface="Helvetica Neue"/>
                          <a:ea typeface="Helvetica Neue"/>
                          <a:cs typeface="Helvetica Neue"/>
                        </a:rPr>
                        <a:t>sonnet/max · 383 steps · pass</a:t>
                      </a:r>
                    </a:p>
                  </a:txBody>
                  <a:tcPr marL="91440" marR="91440" marT="45720" marB="45720">
                    <a:solidFill>
                      <a:srgbClr val="FFFFFF"/>
                    </a:solidFill>
                  </a:tcPr>
                </a:tc>
                <a:tc>
                  <a:txBody>
                    <a:bodyPr>
                      <a:noAutofit/>
                    </a:bodyPr>
                    <a:lstStyle/>
                    <a:p>
                      <a:r>
                        <a:rPr sz="1725" b="0">
                          <a:solidFill>
                            <a:srgbClr val="142F3A"/>
                          </a:solidFill>
                          <a:latin typeface="Helvetica Neue"/>
                          <a:ea typeface="Helvetica Neue"/>
                          <a:cs typeface="Helvetica Neue"/>
                        </a:rPr>
                        <a:t>All verifier groups passed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176986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BC1D23-CCBC-4F45-9274-B88276EFB36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Zenoh: the public type was wrong after 377 steps</a:t>
            </a:r>
          </a:p>
        </p:txBody>
      </p:sp>
      <p:sp>
        <p:nvSpPr>
          <p:cNvPr id="2" name="">
            <a:extLst xmlns:a="http://schemas.openxmlformats.org/drawingml/2006/main">
              <a:ext uri="{FF2B5EF4-FFF2-40B4-BE49-F238E27FC236}">
                <a16:creationId xmlns:a16="http://schemas.microsoft.com/office/drawing/2014/main" id="{A416BC71-82D9-4D70-A9DA-FF6B50BB3B8A}"/>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Corrected verifier: 8 passes and 1 unchanged API failure across 9 saved submissions</a:t>
            </a:r>
          </a:p>
        </p:txBody>
      </p:sp>
      <p:sp>
        <p:nvSpPr>
          <p:cNvPr id="3" name="">
            <a:extLst xmlns:a="http://schemas.openxmlformats.org/drawingml/2006/main">
              <a:ext uri="{FF2B5EF4-FFF2-40B4-BE49-F238E27FC236}">
                <a16:creationId xmlns:a16="http://schemas.microsoft.com/office/drawing/2014/main" id="{B6398B93-C70E-438A-AF86-F47E91CABA66}"/>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68183D-1BE6-4F38-A76D-3B313070270C}"/>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5" name="">
            <a:extLst xmlns:a="http://schemas.openxmlformats.org/drawingml/2006/main">
              <a:ext uri="{FF2B5EF4-FFF2-40B4-BE49-F238E27FC236}">
                <a16:creationId xmlns:a16="http://schemas.microsoft.com/office/drawing/2014/main" id="{3EEC1EFC-53FE-49EA-A99D-409D481DDA8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D2AC63C6-B3CA-4D32-8A12-CBFDADA1F784}"/>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Contract boundary</a:t>
            </a:r>
          </a:p>
        </p:txBody>
      </p:sp>
      <p:sp>
        <p:nvSpPr>
          <p:cNvPr id="7" name="">
            <a:extLst xmlns:a="http://schemas.openxmlformats.org/drawingml/2006/main">
              <a:ext uri="{FF2B5EF4-FFF2-40B4-BE49-F238E27FC236}">
                <a16:creationId xmlns:a16="http://schemas.microsoft.com/office/drawing/2014/main" id="{4D9E6FF7-0939-45BE-B2EC-16A1231B3E49}"/>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TimestampContext.zid must expose ZenohId. A wire representation is not interchangeable with the required public type.</a:t>
            </a:r>
          </a:p>
        </p:txBody>
      </p:sp>
      <p:sp>
        <p:nvSpPr>
          <p:cNvPr id="8" name="">
            <a:extLst xmlns:a="http://schemas.openxmlformats.org/drawingml/2006/main">
              <a:ext uri="{FF2B5EF4-FFF2-40B4-BE49-F238E27FC236}">
                <a16:creationId xmlns:a16="http://schemas.microsoft.com/office/drawing/2014/main" id="{B77FE091-7AF7-4B52-8717-087CB5DF3607}"/>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Why it matters</a:t>
            </a:r>
          </a:p>
        </p:txBody>
      </p:sp>
      <p:sp>
        <p:nvSpPr>
          <p:cNvPr id="9" name="">
            <a:extLst xmlns:a="http://schemas.openxmlformats.org/drawingml/2006/main">
              <a:ext uri="{FF2B5EF4-FFF2-40B4-BE49-F238E27FC236}">
                <a16:creationId xmlns:a16="http://schemas.microsoft.com/office/drawing/2014/main" id="{7B4D0258-1C5B-4D25-BCDD-DBBE6E218BB9}"/>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Downstream consumers compile against the stated API. A mostly complete implementation still fails that integration boundary.</a:t>
            </a:r>
          </a:p>
        </p:txBody>
      </p:sp>
      <p:sp>
        <p:nvSpPr>
          <p:cNvPr id="10" name="">
            <a:extLst xmlns:a="http://schemas.openxmlformats.org/drawingml/2006/main">
              <a:ext uri="{FF2B5EF4-FFF2-40B4-BE49-F238E27FC236}">
                <a16:creationId xmlns:a16="http://schemas.microsoft.com/office/drawing/2014/main" id="{BCA31BDE-A328-4FE3-841C-F00FBFCCADDC}"/>
              </a:ext>
            </a:extLst>
          </p:cNvPr>
          <p:cNvSpPr>
            <a:spLocks xmlns:a="http://schemas.openxmlformats.org/drawingml/2006/main" noGrp="1"/>
          </p:cNvSpPr>
          <p:nvPr/>
        </p:nvSpPr>
        <p:spPr>
          <a:xfrm xmlns:a="http://schemas.openxmlformats.org/drawingml/2006/main">
            <a:off x="647700" y="38290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“Everything is green with both feature configurations.”</a:t>
            </a:r>
          </a:p>
        </p:txBody>
      </p:sp>
      <p:graphicFrame>
        <p:nvGraphicFramePr>
          <p:cNvPr id="22" name=""/>
          <p:cNvGraphicFramePr/>
          <p:nvPr/>
        </p:nvGraphicFramePr>
        <p:xfrm>
          <a:off xmlns:a="http://schemas.openxmlformats.org/drawingml/2006/main" x="647700" y="4562475"/>
          <a:ext xmlns:a="http://schemas.openxmlformats.org/drawingml/2006/main" cx="10896600" cy="1333500"/>
        </p:xfrm>
        <a:graphic xmlns:a="http://schemas.openxmlformats.org/drawingml/2006/main">
          <a:graphicData uri="http://schemas.openxmlformats.org/drawingml/2006/table">
            <a:tbl>
              <a:tblPr/>
              <a:tblGrid>
                <a:gridCol w="5619750"/>
                <a:gridCol w="5276850"/>
              </a:tblGrid>
              <a:tr h="444500">
                <a:tc>
                  <a:txBody>
                    <a:bodyPr>
                      <a:noAutofit/>
                    </a:bodyPr>
                    <a:lstStyle/>
                    <a:p>
                      <a:r>
                        <a:rPr sz="1725" b="1">
                          <a:solidFill>
                            <a:srgbClr val="FFFFFF"/>
                          </a:solidFill>
                          <a:latin typeface="Helvetica Neue"/>
                          <a:ea typeface="Helvetica Neue"/>
                          <a:cs typeface="Helvetica Neue"/>
                        </a:rPr>
                        <a:t>Sonnet effort</a:t>
                      </a:r>
                    </a:p>
                  </a:txBody>
                  <a:tcPr marL="91440" marR="91440" marT="45720" marB="45720">
                    <a:solidFill>
                      <a:srgbClr val="142F3A"/>
                    </a:solidFill>
                  </a:tcPr>
                </a:tc>
                <a:tc>
                  <a:txBody>
                    <a:bodyPr>
                      <a:noAutofit/>
                    </a:bodyPr>
                    <a:lstStyle/>
                    <a:p>
                      <a:r>
                        <a:rPr sz="1725" b="1">
                          <a:solidFill>
                            <a:srgbClr val="FFFFFF"/>
                          </a:solidFill>
                          <a:latin typeface="Helvetica Neue"/>
                          <a:ea typeface="Helvetica Neue"/>
                          <a:cs typeface="Helvetica Neue"/>
                        </a:rPr>
                        <a:t>Observed result</a:t>
                      </a:r>
                    </a:p>
                  </a:txBody>
                  <a:tcPr marL="91440" marR="91440" marT="45720" marB="45720">
                    <a:solidFill>
                      <a:srgbClr val="142F3A"/>
                    </a:solidFill>
                  </a:tcPr>
                </a:tc>
              </a:tr>
              <a:tr h="444500">
                <a:tc>
                  <a:txBody>
                    <a:bodyPr>
                      <a:noAutofit/>
                    </a:bodyPr>
                    <a:lstStyle/>
                    <a:p>
                      <a:r>
                        <a:rPr sz="1725" b="0">
                          <a:solidFill>
                            <a:srgbClr val="142F3A"/>
                          </a:solidFill>
                          <a:latin typeface="Helvetica Neue"/>
                          <a:ea typeface="Helvetica Neue"/>
                          <a:cs typeface="Helvetica Neue"/>
                        </a:rPr>
                        <a:t>Medium · 377 steps</a:t>
                      </a:r>
                    </a:p>
                  </a:txBody>
                  <a:tcPr marL="91440" marR="91440" marT="45720" marB="45720">
                    <a:solidFill>
                      <a:srgbClr val="E9F3F1"/>
                    </a:solidFill>
                  </a:tcPr>
                </a:tc>
                <a:tc>
                  <a:txBody>
                    <a:bodyPr>
                      <a:noAutofit/>
                    </a:bodyPr>
                    <a:lstStyle/>
                    <a:p>
                      <a:r>
                        <a:rPr sz="1725" b="0">
                          <a:solidFill>
                            <a:srgbClr val="142F3A"/>
                          </a:solidFill>
                          <a:latin typeface="Helvetica Neue"/>
                          <a:ea typeface="Helvetica Neue"/>
                          <a:cs typeface="Helvetica Neue"/>
                        </a:rPr>
                        <a:t>Public-type failure in both verifiers</a:t>
                      </a:r>
                    </a:p>
                  </a:txBody>
                  <a:tcPr marL="91440" marR="91440" marT="45720" marB="45720">
                    <a:solidFill>
                      <a:srgbClr val="E9F3F1"/>
                    </a:solidFill>
                  </a:tcPr>
                </a:tc>
              </a:tr>
              <a:tr h="444500">
                <a:tc>
                  <a:txBody>
                    <a:bodyPr>
                      <a:noAutofit/>
                    </a:bodyPr>
                    <a:lstStyle/>
                    <a:p>
                      <a:r>
                        <a:rPr sz="1725" b="0">
                          <a:solidFill>
                            <a:srgbClr val="142F3A"/>
                          </a:solidFill>
                          <a:latin typeface="Helvetica Neue"/>
                          <a:ea typeface="Helvetica Neue"/>
                          <a:cs typeface="Helvetica Neue"/>
                        </a:rPr>
                        <a:t>Max · 626 steps</a:t>
                      </a:r>
                    </a:p>
                  </a:txBody>
                  <a:tcPr marL="91440" marR="91440" marT="45720" marB="45720">
                    <a:solidFill>
                      <a:srgbClr val="FFFFFF"/>
                    </a:solidFill>
                  </a:tcPr>
                </a:tc>
                <a:tc>
                  <a:txBody>
                    <a:bodyPr>
                      <a:noAutofit/>
                    </a:bodyPr>
                    <a:lstStyle/>
                    <a:p>
                      <a:r>
                        <a:rPr sz="1725" b="0">
                          <a:solidFill>
                            <a:srgbClr val="142F3A"/>
                          </a:solidFill>
                          <a:latin typeface="Helvetica Neue"/>
                          <a:ea typeface="Helvetica Neue"/>
                          <a:cs typeface="Helvetica Neue"/>
                        </a:rPr>
                        <a:t>Passes both v3 and corrected verifiers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7966493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BFE8E3-9E02-46B3-B057-E35C3E3399A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Burn: functional and source-constraint outcomes</a:t>
            </a:r>
          </a:p>
        </p:txBody>
      </p:sp>
      <p:sp>
        <p:nvSpPr>
          <p:cNvPr id="2" name="">
            <a:extLst xmlns:a="http://schemas.openxmlformats.org/drawingml/2006/main">
              <a:ext uri="{FF2B5EF4-FFF2-40B4-BE49-F238E27FC236}">
                <a16:creationId xmlns:a16="http://schemas.microsoft.com/office/drawing/2014/main" id="{74849589-60C9-4691-8A85-CB7955EF8101}"/>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1B431F-4431-454C-92D0-423E2307B6BC}"/>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CB3A2500-D2C1-42B5-9740-1F33426C0F5F}"/>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8</a:t>
            </a:r>
          </a:p>
        </p:txBody>
      </p:sp>
      <p:graphicFrame>
        <p:nvGraphicFramePr>
          <p:cNvPr id="11" name=""/>
          <p:cNvGraphicFramePr/>
          <p:nvPr/>
        </p:nvGraphicFramePr>
        <p:xfrm>
          <a:off xmlns:a="http://schemas.openxmlformats.org/drawingml/2006/main" x="647700" y="1847850"/>
          <a:ext xmlns:a="http://schemas.openxmlformats.org/drawingml/2006/main" cx="10896600" cy="3333750"/>
        </p:xfrm>
        <a:graphic xmlns:a="http://schemas.openxmlformats.org/drawingml/2006/main">
          <a:graphicData uri="http://schemas.openxmlformats.org/drawingml/2006/table">
            <a:tbl>
              <a:tblPr/>
              <a:tblGrid>
                <a:gridCol w="4381500"/>
                <a:gridCol w="6515100"/>
              </a:tblGrid>
              <a:tr h="666750">
                <a:tc>
                  <a:txBody>
                    <a:bodyPr>
                      <a:noAutofit/>
                    </a:bodyPr>
                    <a:lstStyle/>
                    <a:p>
                      <a:r>
                        <a:rPr sz="1875" b="1">
                          <a:solidFill>
                            <a:srgbClr val="FFFFFF"/>
                          </a:solidFill>
                          <a:latin typeface="Helvetica Neue"/>
                          <a:ea typeface="Helvetica Neue"/>
                          <a:cs typeface="Helvetica Neue"/>
                        </a:rPr>
                        <a:t>Observation</a:t>
                      </a:r>
                    </a:p>
                  </a:txBody>
                  <a:tcPr marL="91440" marR="91440" marT="45720" marB="45720">
                    <a:solidFill>
                      <a:srgbClr val="142F3A"/>
                    </a:solidFill>
                  </a:tcPr>
                </a:tc>
                <a:tc>
                  <a:txBody>
                    <a:bodyPr>
                      <a:noAutofit/>
                    </a:bodyPr>
                    <a:lstStyle/>
                    <a:p>
                      <a:r>
                        <a:rPr sz="1875" b="1">
                          <a:solidFill>
                            <a:srgbClr val="FFFFFF"/>
                          </a:solidFill>
                          <a:latin typeface="Helvetica Neue"/>
                          <a:ea typeface="Helvetica Neue"/>
                          <a:cs typeface="Helvetica Neue"/>
                        </a:rPr>
                        <a:t>Interpretation</a:t>
                      </a:r>
                    </a:p>
                  </a:txBody>
                  <a:tcPr marL="91440" marR="91440" marT="45720" marB="45720">
                    <a:solidFill>
                      <a:srgbClr val="142F3A"/>
                    </a:solidFill>
                  </a:tcPr>
                </a:tc>
              </a:tr>
              <a:tr h="666750">
                <a:tc>
                  <a:txBody>
                    <a:bodyPr>
                      <a:noAutofit/>
                    </a:bodyPr>
                    <a:lstStyle/>
                    <a:p>
                      <a:r>
                        <a:rPr sz="1875" b="0">
                          <a:solidFill>
                            <a:srgbClr val="142F3A"/>
                          </a:solidFill>
                          <a:latin typeface="Helvetica Neue"/>
                          <a:ea typeface="Helvetica Neue"/>
                          <a:cs typeface="Helvetica Neue"/>
                        </a:rPr>
                        <a:t>Sonnet medium · 42 steps</a:t>
                      </a:r>
                    </a:p>
                  </a:txBody>
                  <a:tcPr marL="91440" marR="91440" marT="45720" marB="45720">
                    <a:solidFill>
                      <a:srgbClr val="E9F3F1"/>
                    </a:solidFill>
                  </a:tcPr>
                </a:tc>
                <a:tc>
                  <a:txBody>
                    <a:bodyPr>
                      <a:noAutofit/>
                    </a:bodyPr>
                    <a:lstStyle/>
                    <a:p>
                      <a:r>
                        <a:rPr sz="1875" b="0">
                          <a:solidFill>
                            <a:srgbClr val="142F3A"/>
                          </a:solidFill>
                          <a:latin typeface="Helvetica Neue"/>
                          <a:ea typeface="Helvetica Neue"/>
                          <a:cs typeface="Helvetica Neue"/>
                        </a:rPr>
                        <a:t>Functional parser and validation gaps</a:t>
                      </a:r>
                    </a:p>
                  </a:txBody>
                  <a:tcPr marL="91440" marR="91440" marT="45720" marB="45720">
                    <a:solidFill>
                      <a:srgbClr val="E9F3F1"/>
                    </a:solidFill>
                  </a:tcPr>
                </a:tc>
              </a:tr>
              <a:tr h="666750">
                <a:tc>
                  <a:txBody>
                    <a:bodyPr>
                      <a:noAutofit/>
                    </a:bodyPr>
                    <a:lstStyle/>
                    <a:p>
                      <a:r>
                        <a:rPr sz="1875" b="0">
                          <a:solidFill>
                            <a:srgbClr val="142F3A"/>
                          </a:solidFill>
                          <a:latin typeface="Helvetica Neue"/>
                          <a:ea typeface="Helvetica Neue"/>
                          <a:cs typeface="Helvetica Neue"/>
                        </a:rPr>
                        <a:t>Sonnet high · 251 steps</a:t>
                      </a:r>
                    </a:p>
                  </a:txBody>
                  <a:tcPr marL="91440" marR="91440" marT="45720" marB="45720">
                    <a:solidFill>
                      <a:srgbClr val="FFFFFF"/>
                    </a:solidFill>
                  </a:tcPr>
                </a:tc>
                <a:tc>
                  <a:txBody>
                    <a:bodyPr>
                      <a:noAutofit/>
                    </a:bodyPr>
                    <a:lstStyle/>
                    <a:p>
                      <a:r>
                        <a:rPr sz="1875" b="0">
                          <a:solidFill>
                            <a:srgbClr val="142F3A"/>
                          </a:solidFill>
                          <a:latin typeface="Helvetica Neue"/>
                          <a:ea typeface="Helvetica Neue"/>
                          <a:cs typeface="Helvetica Neue"/>
                        </a:rPr>
                        <a:t>Functional checks passed; source constraint failed</a:t>
                      </a:r>
                    </a:p>
                  </a:txBody>
                  <a:tcPr marL="91440" marR="91440" marT="45720" marB="45720">
                    <a:solidFill>
                      <a:srgbClr val="FFFFFF"/>
                    </a:solidFill>
                  </a:tcPr>
                </a:tc>
              </a:tr>
              <a:tr h="666750">
                <a:tc>
                  <a:txBody>
                    <a:bodyPr>
                      <a:noAutofit/>
                    </a:bodyPr>
                    <a:lstStyle/>
                    <a:p>
                      <a:r>
                        <a:rPr sz="1875" b="0">
                          <a:solidFill>
                            <a:srgbClr val="142F3A"/>
                          </a:solidFill>
                          <a:latin typeface="Helvetica Neue"/>
                          <a:ea typeface="Helvetica Neue"/>
                          <a:cs typeface="Helvetica Neue"/>
                        </a:rPr>
                        <a:t>Sonnet max · 323 steps</a:t>
                      </a:r>
                    </a:p>
                  </a:txBody>
                  <a:tcPr marL="91440" marR="91440" marT="45720" marB="45720">
                    <a:solidFill>
                      <a:srgbClr val="E9F3F1"/>
                    </a:solidFill>
                  </a:tcPr>
                </a:tc>
                <a:tc>
                  <a:txBody>
                    <a:bodyPr>
                      <a:noAutofit/>
                    </a:bodyPr>
                    <a:lstStyle/>
                    <a:p>
                      <a:r>
                        <a:rPr sz="1875" b="0">
                          <a:solidFill>
                            <a:srgbClr val="142F3A"/>
                          </a:solidFill>
                          <a:latin typeface="Helvetica Neue"/>
                          <a:ea typeface="Helvetica Neue"/>
                          <a:cs typeface="Helvetica Neue"/>
                        </a:rPr>
                        <a:t>Clean pass across all verifier groups</a:t>
                      </a:r>
                    </a:p>
                  </a:txBody>
                  <a:tcPr marL="91440" marR="91440" marT="45720" marB="45720">
                    <a:solidFill>
                      <a:srgbClr val="E9F3F1"/>
                    </a:solidFill>
                  </a:tcPr>
                </a:tc>
              </a:tr>
              <a:tr h="666750">
                <a:tc>
                  <a:txBody>
                    <a:bodyPr>
                      <a:noAutofit/>
                    </a:bodyPr>
                    <a:lstStyle/>
                    <a:p>
                      <a:r>
                        <a:rPr sz="1875" b="0">
                          <a:solidFill>
                            <a:srgbClr val="142F3A"/>
                          </a:solidFill>
                          <a:latin typeface="Helvetica Neue"/>
                          <a:ea typeface="Helvetica Neue"/>
                          <a:cs typeface="Helvetica Neue"/>
                        </a:rPr>
                        <a:t>Fable / Opus max · 158 steps each</a:t>
                      </a:r>
                    </a:p>
                  </a:txBody>
                  <a:tcPr marL="91440" marR="91440" marT="45720" marB="45720">
                    <a:solidFill>
                      <a:srgbClr val="FFFFFF"/>
                    </a:solidFill>
                  </a:tcPr>
                </a:tc>
                <a:tc>
                  <a:txBody>
                    <a:bodyPr>
                      <a:noAutofit/>
                    </a:bodyPr>
                    <a:lstStyle/>
                    <a:p>
                      <a:r>
                        <a:rPr sz="1875" b="0">
                          <a:solidFill>
                            <a:srgbClr val="142F3A"/>
                          </a:solidFill>
                          <a:latin typeface="Helvetica Neue"/>
                          <a:ea typeface="Helvetica Neue"/>
                          <a:cs typeface="Helvetica Neue"/>
                        </a:rPr>
                        <a:t>Additional clean passes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25AE28DA-D5E4-45DA-A940-24BBCCE193F7}"/>
              </a:ext>
            </a:extLst>
          </p:cNvPr>
          <p:cNvSpPr>
            <a:spLocks xmlns:a="http://schemas.openxmlformats.org/drawingml/2006/main" noGrp="1"/>
          </p:cNvSpPr>
          <p:nvPr/>
        </p:nvSpPr>
        <p:spPr>
          <a:xfrm xmlns:a="http://schemas.openxmlformats.org/drawingml/2006/main">
            <a:off x="647700" y="54959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F3A"/>
                </a:solidFill>
                <a:latin typeface="Helvetica Neue"/>
                <a:ea typeface="Helvetica Neue"/>
                <a:cs typeface="Helvetica Neue"/>
              </a:defRPr>
            </a:pPr>
            <a:r>
              <a:rPr sz="1950" b="1">
                <a:solidFill>
                  <a:srgbClr val="142F3A"/>
                </a:solidFill>
                <a:latin typeface="Helvetica Neue"/>
                <a:ea typeface="Helvetica Neue"/>
                <a:cs typeface="Helvetica Neue"/>
              </a:rPr>
              <a:t>The task has depth. These outcomes alone do not prove that every failure requires long-horizon reasoning.</a:t>
            </a:r>
          </a:p>
        </p:txBody>
      </p:sp>
    </p:spTree>
    <p:extLst>
      <p:ext uri="{BB962C8B-B14F-4D97-AF65-F5344CB8AC3E}">
        <p14:creationId xmlns:p14="http://schemas.microsoft.com/office/powerpoint/2010/main" val="5312730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747509-30AF-434D-BDF4-A8A85B7CD0B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Failure validity and task headroom</a:t>
            </a:r>
          </a:p>
        </p:txBody>
      </p:sp>
      <p:sp>
        <p:nvSpPr>
          <p:cNvPr id="2" name="">
            <a:extLst xmlns:a="http://schemas.openxmlformats.org/drawingml/2006/main">
              <a:ext uri="{FF2B5EF4-FFF2-40B4-BE49-F238E27FC236}">
                <a16:creationId xmlns:a16="http://schemas.microsoft.com/office/drawing/2014/main" id="{9D6C1FD9-0795-48C3-80EC-AAD6E88AAEAE}"/>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5942E5-11D0-4ABE-97AB-93EF27803063}"/>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B13922FD-5935-41CA-9D37-848172C0862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9</a:t>
            </a:r>
          </a:p>
        </p:txBody>
      </p:sp>
      <p:sp>
        <p:nvSpPr>
          <p:cNvPr id="5" name="">
            <a:extLst xmlns:a="http://schemas.openxmlformats.org/drawingml/2006/main">
              <a:ext uri="{FF2B5EF4-FFF2-40B4-BE49-F238E27FC236}">
                <a16:creationId xmlns:a16="http://schemas.microsoft.com/office/drawing/2014/main" id="{21ECE8E1-51AF-4CCE-911A-66ED34C9DA8C}"/>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real failure can be a weak headline</a:t>
            </a:r>
          </a:p>
        </p:txBody>
      </p:sp>
      <p:sp>
        <p:nvSpPr>
          <p:cNvPr id="6" name="">
            <a:extLst xmlns:a="http://schemas.openxmlformats.org/drawingml/2006/main">
              <a:ext uri="{FF2B5EF4-FFF2-40B4-BE49-F238E27FC236}">
                <a16:creationId xmlns:a16="http://schemas.microsoft.com/office/drawing/2014/main" id="{B4D633B7-CD5F-4108-BDA4-C8A968836E10}"/>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SQLite’s NUL default is a valid literal-string case. All 30 attempts missed it, but one serializer edge case is not 30 independent failure modes.</a:t>
            </a:r>
          </a:p>
        </p:txBody>
      </p:sp>
      <p:sp>
        <p:nvSpPr>
          <p:cNvPr id="7" name="">
            <a:extLst xmlns:a="http://schemas.openxmlformats.org/drawingml/2006/main">
              <a:ext uri="{FF2B5EF4-FFF2-40B4-BE49-F238E27FC236}">
                <a16:creationId xmlns:a16="http://schemas.microsoft.com/office/drawing/2014/main" id="{33BB1476-02C1-412D-B877-CC80362E5584}"/>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A test can also overreach</a:t>
            </a:r>
          </a:p>
        </p:txBody>
      </p:sp>
      <p:sp>
        <p:nvSpPr>
          <p:cNvPr id="8" name="">
            <a:extLst xmlns:a="http://schemas.openxmlformats.org/drawingml/2006/main">
              <a:ext uri="{FF2B5EF4-FFF2-40B4-BE49-F238E27FC236}">
                <a16:creationId xmlns:a16="http://schemas.microsoft.com/office/drawing/2014/main" id="{7B99C73A-767D-415A-B793-2A6A60649964}"/>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Hidden internal imports, an unstated Debug bound, and an empty-rename rejection needed correction. Corrected revisions keep separate cohorts.</a:t>
            </a:r>
          </a:p>
        </p:txBody>
      </p:sp>
      <p:sp>
        <p:nvSpPr>
          <p:cNvPr id="9" name="">
            <a:extLst xmlns:a="http://schemas.openxmlformats.org/drawingml/2006/main">
              <a:ext uri="{FF2B5EF4-FFF2-40B4-BE49-F238E27FC236}">
                <a16:creationId xmlns:a16="http://schemas.microsoft.com/office/drawing/2014/main" id="{1691FD0F-CB23-4DFF-83D7-7DAE5150DFFE}"/>
              </a:ext>
            </a:extLst>
          </p:cNvPr>
          <p:cNvSpPr>
            <a:spLocks xmlns:a="http://schemas.openxmlformats.org/drawingml/2006/main" noGrp="1"/>
          </p:cNvSpPr>
          <p:nvPr/>
        </p:nvSpPr>
        <p:spPr>
          <a:xfrm xmlns:a="http://schemas.openxmlformats.org/drawingml/2006/main">
            <a:off x="647700" y="52387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B78"/>
                </a:solidFill>
                <a:latin typeface="Helvetica Neue"/>
                <a:ea typeface="Helvetica Neue"/>
                <a:cs typeface="Helvetica Neue"/>
              </a:defRPr>
            </a:pPr>
            <a:r>
              <a:rPr sz="2100" b="1">
                <a:solidFill>
                  <a:srgbClr val="007B78"/>
                </a:solidFill>
                <a:latin typeface="Helvetica Neue"/>
                <a:ea typeface="Helvetica Neue"/>
                <a:cs typeface="Helvetica Neue"/>
              </a:rPr>
              <a:t>Classify each outcome: implementation defect · stated constraint · test/spec mismatch · infrastructure.</a:t>
            </a:r>
          </a:p>
        </p:txBody>
      </p:sp>
    </p:spTree>
    <p:extLst>
      <p:ext uri="{BB962C8B-B14F-4D97-AF65-F5344CB8AC3E}">
        <p14:creationId xmlns:p14="http://schemas.microsoft.com/office/powerpoint/2010/main" val="14915779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8E6380-4420-45AF-8A9D-FE1920FEB44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External evidence motivates a self-verification probe</a:t>
            </a:r>
          </a:p>
        </p:txBody>
      </p:sp>
      <p:sp>
        <p:nvSpPr>
          <p:cNvPr id="2" name="">
            <a:extLst xmlns:a="http://schemas.openxmlformats.org/drawingml/2006/main">
              <a:ext uri="{FF2B5EF4-FFF2-40B4-BE49-F238E27FC236}">
                <a16:creationId xmlns:a16="http://schemas.microsoft.com/office/drawing/2014/main" id="{42C9FE08-32A2-4E93-9AA6-0A19B9BA5B1A}"/>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E2E6424-D041-4C48-B369-DBCB00D10BDA}"/>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5CCD4969-AEA9-4A19-B22B-BF01BCB5CABC}"/>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6217355D-A58E-40B6-A30A-508CA64508AE}"/>
              </a:ext>
            </a:extLst>
          </p:cNvPr>
          <p:cNvSpPr>
            <a:spLocks xmlns:a="http://schemas.openxmlformats.org/drawingml/2006/main" noGrp="1"/>
          </p:cNvSpPr>
          <p:nvPr/>
        </p:nvSpPr>
        <p:spPr>
          <a:xfrm xmlns:a="http://schemas.openxmlformats.org/drawingml/2006/main">
            <a:off x="647700" y="1962150"/>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7B78"/>
                </a:solidFill>
                <a:latin typeface="Helvetica Neue"/>
                <a:ea typeface="Helvetica Neue"/>
                <a:cs typeface="Helvetica Neue"/>
              </a:defRPr>
            </a:pPr>
            <a:r>
              <a:rPr sz="5250" b="1">
                <a:solidFill>
                  <a:srgbClr val="007B78"/>
                </a:solidFill>
                <a:latin typeface="Helvetica Neue"/>
                <a:ea typeface="Helvetica Neue"/>
                <a:cs typeface="Helvetica Neue"/>
              </a:rPr>
              <a:t>20</a:t>
            </a:r>
          </a:p>
        </p:txBody>
      </p:sp>
      <p:sp>
        <p:nvSpPr>
          <p:cNvPr id="6" name="">
            <a:extLst xmlns:a="http://schemas.openxmlformats.org/drawingml/2006/main">
              <a:ext uri="{FF2B5EF4-FFF2-40B4-BE49-F238E27FC236}">
                <a16:creationId xmlns:a16="http://schemas.microsoft.com/office/drawing/2014/main" id="{224E632F-1E66-4B5D-BC5A-03468B3A2260}"/>
              </a:ext>
            </a:extLst>
          </p:cNvPr>
          <p:cNvSpPr>
            <a:spLocks xmlns:a="http://schemas.openxmlformats.org/drawingml/2006/main" noGrp="1"/>
          </p:cNvSpPr>
          <p:nvPr/>
        </p:nvSpPr>
        <p:spPr>
          <a:xfrm xmlns:a="http://schemas.openxmlformats.org/drawingml/2006/main">
            <a:off x="647700" y="300037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tasks in SWE-Marathon</a:t>
            </a:r>
          </a:p>
        </p:txBody>
      </p:sp>
      <p:sp>
        <p:nvSpPr>
          <p:cNvPr id="7" name="">
            <a:extLst xmlns:a="http://schemas.openxmlformats.org/drawingml/2006/main">
              <a:ext uri="{FF2B5EF4-FFF2-40B4-BE49-F238E27FC236}">
                <a16:creationId xmlns:a16="http://schemas.microsoft.com/office/drawing/2014/main" id="{F8DE950A-3264-4C52-8A5D-4D28DCF8EDEB}"/>
              </a:ext>
            </a:extLst>
          </p:cNvPr>
          <p:cNvSpPr>
            <a:spLocks xmlns:a="http://schemas.openxmlformats.org/drawingml/2006/main" noGrp="1"/>
          </p:cNvSpPr>
          <p:nvPr/>
        </p:nvSpPr>
        <p:spPr>
          <a:xfrm xmlns:a="http://schemas.openxmlformats.org/drawingml/2006/main">
            <a:off x="6448425" y="1962150"/>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7B78"/>
                </a:solidFill>
                <a:latin typeface="Helvetica Neue"/>
                <a:ea typeface="Helvetica Neue"/>
                <a:cs typeface="Helvetica Neue"/>
              </a:defRPr>
            </a:pPr>
            <a:r>
              <a:rPr sz="5250" b="1">
                <a:solidFill>
                  <a:srgbClr val="007B78"/>
                </a:solidFill>
                <a:latin typeface="Helvetica Neue"/>
                <a:ea typeface="Helvetica Neue"/>
                <a:cs typeface="Helvetica Neue"/>
              </a:rPr>
              <a:t>&lt;30%</a:t>
            </a:r>
          </a:p>
        </p:txBody>
      </p:sp>
      <p:sp>
        <p:nvSpPr>
          <p:cNvPr id="8" name="">
            <a:extLst xmlns:a="http://schemas.openxmlformats.org/drawingml/2006/main">
              <a:ext uri="{FF2B5EF4-FFF2-40B4-BE49-F238E27FC236}">
                <a16:creationId xmlns:a16="http://schemas.microsoft.com/office/drawing/2014/main" id="{066F9A1E-895B-4DF1-87A3-E97898FB5A2D}"/>
              </a:ext>
            </a:extLst>
          </p:cNvPr>
          <p:cNvSpPr>
            <a:spLocks xmlns:a="http://schemas.openxmlformats.org/drawingml/2006/main" noGrp="1"/>
          </p:cNvSpPr>
          <p:nvPr/>
        </p:nvSpPr>
        <p:spPr>
          <a:xfrm xmlns:a="http://schemas.openxmlformats.org/drawingml/2006/main">
            <a:off x="6448425" y="3000375"/>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solved by agents evaluated in the paper</a:t>
            </a:r>
          </a:p>
        </p:txBody>
      </p:sp>
      <p:sp>
        <p:nvSpPr>
          <p:cNvPr id="9" name="">
            <a:extLst xmlns:a="http://schemas.openxmlformats.org/drawingml/2006/main">
              <a:ext uri="{FF2B5EF4-FFF2-40B4-BE49-F238E27FC236}">
                <a16:creationId xmlns:a16="http://schemas.microsoft.com/office/drawing/2014/main" id="{C0EAFA54-0842-424D-95E1-C802782C1072}"/>
              </a:ext>
            </a:extLst>
          </p:cNvPr>
          <p:cNvSpPr>
            <a:spLocks xmlns:a="http://schemas.openxmlformats.org/drawingml/2006/main" noGrp="1"/>
          </p:cNvSpPr>
          <p:nvPr/>
        </p:nvSpPr>
        <p:spPr>
          <a:xfrm xmlns:a="http://schemas.openxmlformats.org/drawingml/2006/main">
            <a:off x="647700" y="41719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F3A"/>
                </a:solidFill>
                <a:latin typeface="Helvetica Neue"/>
                <a:ea typeface="Helvetica Neue"/>
                <a:cs typeface="Helvetica Neue"/>
              </a:defRPr>
            </a:pPr>
            <a:r>
              <a:rPr sz="2325" b="1">
                <a:solidFill>
                  <a:srgbClr val="142F3A"/>
                </a:solidFill>
                <a:latin typeface="Helvetica Neue"/>
                <a:ea typeface="Helvetica Neue"/>
                <a:cs typeface="Helvetica Neue"/>
              </a:rPr>
              <a:t>“poor self-verification, self-reported infeasibility, and premature termination”</a:t>
            </a:r>
          </a:p>
        </p:txBody>
      </p:sp>
      <p:sp>
        <p:nvSpPr>
          <p:cNvPr id="10" name="">
            <a:extLst xmlns:a="http://schemas.openxmlformats.org/drawingml/2006/main">
              <a:ext uri="{FF2B5EF4-FFF2-40B4-BE49-F238E27FC236}">
                <a16:creationId xmlns:a16="http://schemas.microsoft.com/office/drawing/2014/main" id="{24EF6157-0349-4DC2-AA55-5DD31E0E1492}"/>
              </a:ext>
            </a:extLst>
          </p:cNvPr>
          <p:cNvSpPr>
            <a:spLocks xmlns:a="http://schemas.openxmlformats.org/drawingml/2006/main" noGrp="1"/>
          </p:cNvSpPr>
          <p:nvPr/>
        </p:nvSpPr>
        <p:spPr>
          <a:xfrm xmlns:a="http://schemas.openxmlformats.org/drawingml/2006/main">
            <a:off x="647700" y="52863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C75"/>
                </a:solidFill>
                <a:latin typeface="Helvetica Neue"/>
                <a:ea typeface="Helvetica Neue"/>
                <a:cs typeface="Helvetica Neue"/>
              </a:defRPr>
            </a:pPr>
            <a:r>
              <a:rPr sz="2100" b="0">
                <a:solidFill>
                  <a:srgbClr val="536C75"/>
                </a:solidFill>
                <a:latin typeface="Helvetica Neue"/>
                <a:ea typeface="Helvetica Neue"/>
                <a:cs typeface="Helvetica Neue"/>
              </a:rPr>
              <a:t>Our probe narrows this to Rust implementations that pass local checks yet violate explicit integration contracts.</a:t>
            </a:r>
          </a:p>
        </p:txBody>
      </p:sp>
    </p:spTree>
    <p:extLst>
      <p:ext uri="{BB962C8B-B14F-4D97-AF65-F5344CB8AC3E}">
        <p14:creationId xmlns:p14="http://schemas.microsoft.com/office/powerpoint/2010/main" val="3541718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A9C67DB-09F1-4D15-A8F0-26EC454708B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What the pilot establishes</a:t>
            </a:r>
          </a:p>
        </p:txBody>
      </p:sp>
      <p:sp>
        <p:nvSpPr>
          <p:cNvPr id="2" name="">
            <a:extLst xmlns:a="http://schemas.openxmlformats.org/drawingml/2006/main">
              <a:ext uri="{FF2B5EF4-FFF2-40B4-BE49-F238E27FC236}">
                <a16:creationId xmlns:a16="http://schemas.microsoft.com/office/drawing/2014/main" id="{F23B5927-E8D5-41D4-ABFD-1B1A4D72CE23}"/>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3E9ACD-C871-4745-827B-EA2808799E29}"/>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C9906842-CF4C-4EAE-9F30-01E84C7B1417}"/>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A95BBD6C-5650-404A-AE12-991D79BBE625}"/>
              </a:ext>
            </a:extLst>
          </p:cNvPr>
          <p:cNvSpPr>
            <a:spLocks xmlns:a="http://schemas.openxmlformats.org/drawingml/2006/main" noGrp="1"/>
          </p:cNvSpPr>
          <p:nvPr/>
        </p:nvSpPr>
        <p:spPr>
          <a:xfrm xmlns:a="http://schemas.openxmlformats.org/drawingml/2006/main">
            <a:off x="647700" y="1866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What the observations establish</a:t>
            </a:r>
          </a:p>
        </p:txBody>
      </p:sp>
      <p:sp>
        <p:nvSpPr>
          <p:cNvPr id="6" name="">
            <a:extLst xmlns:a="http://schemas.openxmlformats.org/drawingml/2006/main">
              <a:ext uri="{FF2B5EF4-FFF2-40B4-BE49-F238E27FC236}">
                <a16:creationId xmlns:a16="http://schemas.microsoft.com/office/drawing/2014/main" id="{2125A600-94C8-48B5-ADBE-0551F5C39620}"/>
              </a:ext>
            </a:extLst>
          </p:cNvPr>
          <p:cNvSpPr>
            <a:spLocks xmlns:a="http://schemas.openxmlformats.org/drawingml/2006/main" noGrp="1"/>
          </p:cNvSpPr>
          <p:nvPr/>
        </p:nvSpPr>
        <p:spPr>
          <a:xfrm xmlns:a="http://schemas.openxmlformats.org/drawingml/2006/main">
            <a:off x="647700" y="239077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Several completed attempts took many assistant turns. Some submissions fail explicit contracts. Successful completions show that those tasks are solvable.</a:t>
            </a:r>
          </a:p>
        </p:txBody>
      </p:sp>
      <p:sp>
        <p:nvSpPr>
          <p:cNvPr id="7" name="">
            <a:extLst xmlns:a="http://schemas.openxmlformats.org/drawingml/2006/main">
              <a:ext uri="{FF2B5EF4-FFF2-40B4-BE49-F238E27FC236}">
                <a16:creationId xmlns:a16="http://schemas.microsoft.com/office/drawing/2014/main" id="{0171C8FD-65BB-435C-8A95-597912280387}"/>
              </a:ext>
            </a:extLst>
          </p:cNvPr>
          <p:cNvSpPr>
            <a:spLocks xmlns:a="http://schemas.openxmlformats.org/drawingml/2006/main" noGrp="1"/>
          </p:cNvSpPr>
          <p:nvPr/>
        </p:nvSpPr>
        <p:spPr>
          <a:xfrm xmlns:a="http://schemas.openxmlformats.org/drawingml/2006/main">
            <a:off x="6448425" y="18669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What remains unmeasured</a:t>
            </a:r>
          </a:p>
        </p:txBody>
      </p:sp>
      <p:sp>
        <p:nvSpPr>
          <p:cNvPr id="8" name="">
            <a:extLst xmlns:a="http://schemas.openxmlformats.org/drawingml/2006/main">
              <a:ext uri="{FF2B5EF4-FFF2-40B4-BE49-F238E27FC236}">
                <a16:creationId xmlns:a16="http://schemas.microsoft.com/office/drawing/2014/main" id="{CE4C0A4E-0B68-44E0-8F83-8162D2768C55}"/>
              </a:ext>
            </a:extLst>
          </p:cNvPr>
          <p:cNvSpPr>
            <a:spLocks xmlns:a="http://schemas.openxmlformats.org/drawingml/2006/main" noGrp="1"/>
          </p:cNvSpPr>
          <p:nvPr/>
        </p:nvSpPr>
        <p:spPr>
          <a:xfrm xmlns:a="http://schemas.openxmlformats.org/drawingml/2006/main">
            <a:off x="6448425" y="239077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Reliable per-cell pass rates, causal effects of effort, broad model ordering, human completion time, and gains from training.</a:t>
            </a:r>
          </a:p>
        </p:txBody>
      </p:sp>
      <p:sp>
        <p:nvSpPr>
          <p:cNvPr id="9" name="">
            <a:extLst xmlns:a="http://schemas.openxmlformats.org/drawingml/2006/main">
              <a:ext uri="{FF2B5EF4-FFF2-40B4-BE49-F238E27FC236}">
                <a16:creationId xmlns:a16="http://schemas.microsoft.com/office/drawing/2014/main" id="{2DBC16A8-7ACB-4634-98A5-0D606642C17D}"/>
              </a:ext>
            </a:extLst>
          </p:cNvPr>
          <p:cNvSpPr>
            <a:spLocks xmlns:a="http://schemas.openxmlformats.org/drawingml/2006/main" noGrp="1"/>
          </p:cNvSpPr>
          <p:nvPr/>
        </p:nvSpPr>
        <p:spPr>
          <a:xfrm xmlns:a="http://schemas.openxmlformats.org/drawingml/2006/main">
            <a:off x="647700" y="41624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D6520"/>
                </a:solidFill>
                <a:latin typeface="Helvetica Neue"/>
                <a:ea typeface="Helvetica Neue"/>
                <a:cs typeface="Helvetica Neue"/>
              </a:defRPr>
            </a:pPr>
            <a:r>
              <a:rPr sz="1875" b="1">
                <a:solidFill>
                  <a:srgbClr val="AD6520"/>
                </a:solidFill>
                <a:latin typeface="Helvetica Neue"/>
                <a:ea typeface="Helvetica Neue"/>
                <a:cs typeface="Helvetica Neue"/>
              </a:rPr>
              <a:t>Service interruptions affect the Fable/max outcomes in Luigi and Diskcache.</a:t>
            </a:r>
          </a:p>
        </p:txBody>
      </p:sp>
      <p:sp>
        <p:nvSpPr>
          <p:cNvPr id="10" name="">
            <a:extLst xmlns:a="http://schemas.openxmlformats.org/drawingml/2006/main">
              <a:ext uri="{FF2B5EF4-FFF2-40B4-BE49-F238E27FC236}">
                <a16:creationId xmlns:a16="http://schemas.microsoft.com/office/drawing/2014/main" id="{8D262088-F317-4C9B-9A77-B26D58B265DF}"/>
              </a:ext>
            </a:extLst>
          </p:cNvPr>
          <p:cNvSpPr>
            <a:spLocks xmlns:a="http://schemas.openxmlformats.org/drawingml/2006/main" noGrp="1"/>
          </p:cNvSpPr>
          <p:nvPr/>
        </p:nvSpPr>
        <p:spPr>
          <a:xfrm xmlns:a="http://schemas.openxmlformats.org/drawingml/2006/main">
            <a:off x="647700" y="4848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SWE-Bench Pro: “patches across multiple files and substantial code modifications.”</a:t>
            </a:r>
          </a:p>
        </p:txBody>
      </p:sp>
      <p:sp>
        <p:nvSpPr>
          <p:cNvPr id="11" name="">
            <a:extLst xmlns:a="http://schemas.openxmlformats.org/drawingml/2006/main">
              <a:ext uri="{FF2B5EF4-FFF2-40B4-BE49-F238E27FC236}">
                <a16:creationId xmlns:a16="http://schemas.microsoft.com/office/drawing/2014/main" id="{25B5B1D0-1B1C-4FD3-9FE1-2A46D1543DFB}"/>
              </a:ext>
            </a:extLst>
          </p:cNvPr>
          <p:cNvSpPr>
            <a:spLocks xmlns:a="http://schemas.openxmlformats.org/drawingml/2006/main" noGrp="1"/>
          </p:cNvSpPr>
          <p:nvPr/>
        </p:nvSpPr>
        <p:spPr>
          <a:xfrm xmlns:a="http://schemas.openxmlformats.org/drawingml/2006/main">
            <a:off x="647700" y="54864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METR’s time horizon is human-time calibrated; our step count is a different measurement.</a:t>
            </a:r>
          </a:p>
        </p:txBody>
      </p:sp>
    </p:spTree>
    <p:extLst>
      <p:ext uri="{BB962C8B-B14F-4D97-AF65-F5344CB8AC3E}">
        <p14:creationId xmlns:p14="http://schemas.microsoft.com/office/powerpoint/2010/main" val="20361882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816088-8B03-4215-9FE4-BFA82CF67DE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Scaling to 1,000 accepted tasks</a:t>
            </a:r>
          </a:p>
        </p:txBody>
      </p:sp>
      <p:sp>
        <p:nvSpPr>
          <p:cNvPr id="2" name="">
            <a:extLst xmlns:a="http://schemas.openxmlformats.org/drawingml/2006/main">
              <a:ext uri="{FF2B5EF4-FFF2-40B4-BE49-F238E27FC236}">
                <a16:creationId xmlns:a16="http://schemas.microsoft.com/office/drawing/2014/main" id="{D49ADCFF-745D-4C30-AE5B-7E93163F5327}"/>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EE1787-AD54-4848-9AE8-047A9E3CE89F}"/>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B0B98604-984E-43BF-B303-0174D44F4F83}"/>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CFA63028-9CA3-40D7-8CDE-A8439FD3425A}"/>
              </a:ext>
            </a:extLst>
          </p:cNvPr>
          <p:cNvSpPr>
            <a:spLocks xmlns:a="http://schemas.openxmlformats.org/drawingml/2006/main" noGrp="1"/>
          </p:cNvSpPr>
          <p:nvPr/>
        </p:nvSpPr>
        <p:spPr>
          <a:xfrm xmlns:a="http://schemas.openxmlformats.org/drawingml/2006/main">
            <a:off x="6477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CAA80B2-DE0F-46E9-8F03-E468F1B99FC8}"/>
              </a:ext>
            </a:extLst>
          </p:cNvPr>
          <p:cNvSpPr>
            <a:spLocks xmlns:a="http://schemas.openxmlformats.org/drawingml/2006/main" noGrp="1"/>
          </p:cNvSpPr>
          <p:nvPr/>
        </p:nvSpPr>
        <p:spPr>
          <a:xfrm xmlns:a="http://schemas.openxmlformats.org/drawingml/2006/main">
            <a:off x="6477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Mine issues + PR stacks</a:t>
            </a:r>
          </a:p>
        </p:txBody>
      </p:sp>
      <p:sp>
        <p:nvSpPr>
          <p:cNvPr id="7" name="">
            <a:extLst xmlns:a="http://schemas.openxmlformats.org/drawingml/2006/main">
              <a:ext uri="{FF2B5EF4-FFF2-40B4-BE49-F238E27FC236}">
                <a16:creationId xmlns:a16="http://schemas.microsoft.com/office/drawing/2014/main" id="{F141DE0A-895C-4F44-AC4D-115BBB8FFB05}"/>
              </a:ext>
            </a:extLst>
          </p:cNvPr>
          <p:cNvSpPr>
            <a:spLocks xmlns:a="http://schemas.openxmlformats.org/drawingml/2006/main" noGrp="1"/>
          </p:cNvSpPr>
          <p:nvPr/>
        </p:nvSpPr>
        <p:spPr>
          <a:xfrm xmlns:a="http://schemas.openxmlformats.org/drawingml/2006/main">
            <a:off x="34671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5BFA41D4-82BC-425A-8C9B-964432CC44B9}"/>
              </a:ext>
            </a:extLst>
          </p:cNvPr>
          <p:cNvSpPr>
            <a:spLocks xmlns:a="http://schemas.openxmlformats.org/drawingml/2006/main" noGrp="1"/>
          </p:cNvSpPr>
          <p:nvPr/>
        </p:nvSpPr>
        <p:spPr>
          <a:xfrm xmlns:a="http://schemas.openxmlformats.org/drawingml/2006/main">
            <a:off x="34671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Compose dependent changes</a:t>
            </a:r>
          </a:p>
        </p:txBody>
      </p:sp>
      <p:sp>
        <p:nvSpPr>
          <p:cNvPr id="9" name="">
            <a:extLst xmlns:a="http://schemas.openxmlformats.org/drawingml/2006/main">
              <a:ext uri="{FF2B5EF4-FFF2-40B4-BE49-F238E27FC236}">
                <a16:creationId xmlns:a16="http://schemas.microsoft.com/office/drawing/2014/main" id="{B69F4D7F-8AFB-49CA-832B-320F7FF45293}"/>
              </a:ext>
            </a:extLst>
          </p:cNvPr>
          <p:cNvSpPr>
            <a:spLocks xmlns:a="http://schemas.openxmlformats.org/drawingml/2006/main" noGrp="1"/>
          </p:cNvSpPr>
          <p:nvPr/>
        </p:nvSpPr>
        <p:spPr>
          <a:xfrm xmlns:a="http://schemas.openxmlformats.org/drawingml/2006/main">
            <a:off x="62865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C6A6EC79-36B5-4B3E-BC33-687C0A44F98C}"/>
              </a:ext>
            </a:extLst>
          </p:cNvPr>
          <p:cNvSpPr>
            <a:spLocks xmlns:a="http://schemas.openxmlformats.org/drawingml/2006/main" noGrp="1"/>
          </p:cNvSpPr>
          <p:nvPr/>
        </p:nvSpPr>
        <p:spPr>
          <a:xfrm xmlns:a="http://schemas.openxmlformats.org/drawingml/2006/main">
            <a:off x="62865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Audit properties + controls</a:t>
            </a:r>
          </a:p>
        </p:txBody>
      </p:sp>
      <p:sp>
        <p:nvSpPr>
          <p:cNvPr id="11" name="">
            <a:extLst xmlns:a="http://schemas.openxmlformats.org/drawingml/2006/main">
              <a:ext uri="{FF2B5EF4-FFF2-40B4-BE49-F238E27FC236}">
                <a16:creationId xmlns:a16="http://schemas.microsoft.com/office/drawing/2014/main" id="{C65A66D9-6C3C-432F-8876-4FA2ED2FF978}"/>
              </a:ext>
            </a:extLst>
          </p:cNvPr>
          <p:cNvSpPr>
            <a:spLocks xmlns:a="http://schemas.openxmlformats.org/drawingml/2006/main" noGrp="1"/>
          </p:cNvSpPr>
          <p:nvPr/>
        </p:nvSpPr>
        <p:spPr>
          <a:xfrm xmlns:a="http://schemas.openxmlformats.org/drawingml/2006/main">
            <a:off x="91059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04</a:t>
            </a:r>
          </a:p>
        </p:txBody>
      </p:sp>
      <p:sp>
        <p:nvSpPr>
          <p:cNvPr id="12" name="">
            <a:extLst xmlns:a="http://schemas.openxmlformats.org/drawingml/2006/main">
              <a:ext uri="{FF2B5EF4-FFF2-40B4-BE49-F238E27FC236}">
                <a16:creationId xmlns:a16="http://schemas.microsoft.com/office/drawing/2014/main" id="{4B06743F-AFC8-4FBE-ADB0-97E0E5C610E4}"/>
              </a:ext>
            </a:extLst>
          </p:cNvPr>
          <p:cNvSpPr>
            <a:spLocks xmlns:a="http://schemas.openxmlformats.org/drawingml/2006/main" noGrp="1"/>
          </p:cNvSpPr>
          <p:nvPr/>
        </p:nvSpPr>
        <p:spPr>
          <a:xfrm xmlns:a="http://schemas.openxmlformats.org/drawingml/2006/main">
            <a:off x="91059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Hold out task families</a:t>
            </a:r>
          </a:p>
        </p:txBody>
      </p:sp>
      <p:sp>
        <p:nvSpPr>
          <p:cNvPr id="13" name="">
            <a:extLst xmlns:a="http://schemas.openxmlformats.org/drawingml/2006/main">
              <a:ext uri="{FF2B5EF4-FFF2-40B4-BE49-F238E27FC236}">
                <a16:creationId xmlns:a16="http://schemas.microsoft.com/office/drawing/2014/main" id="{325FF6E1-55E9-43D9-997F-37E2996720D6}"/>
              </a:ext>
            </a:extLst>
          </p:cNvPr>
          <p:cNvSpPr>
            <a:spLocks xmlns:a="http://schemas.openxmlformats.org/drawingml/2006/main" noGrp="1"/>
          </p:cNvSpPr>
          <p:nvPr/>
        </p:nvSpPr>
        <p:spPr>
          <a:xfrm xmlns:a="http://schemas.openxmlformats.org/drawingml/2006/main">
            <a:off x="647700" y="37814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Public sources: Rerun · Burn · Zenoh</a:t>
            </a:r>
          </a:p>
        </p:txBody>
      </p:sp>
      <p:sp>
        <p:nvSpPr>
          <p:cNvPr id="14" name="">
            <a:extLst xmlns:a="http://schemas.openxmlformats.org/drawingml/2006/main">
              <a:ext uri="{FF2B5EF4-FFF2-40B4-BE49-F238E27FC236}">
                <a16:creationId xmlns:a16="http://schemas.microsoft.com/office/drawing/2014/main" id="{0DCA234C-CB0B-40C2-8368-0E968418328A}"/>
              </a:ext>
            </a:extLst>
          </p:cNvPr>
          <p:cNvSpPr>
            <a:spLocks xmlns:a="http://schemas.openxmlformats.org/drawingml/2006/main" noGrp="1"/>
          </p:cNvSpPr>
          <p:nvPr/>
        </p:nvSpPr>
        <p:spPr>
          <a:xfrm xmlns:a="http://schemas.openxmlformats.org/drawingml/2006/main">
            <a:off x="647700" y="42957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F3A"/>
                </a:solidFill>
                <a:latin typeface="Helvetica Neue"/>
                <a:ea typeface="Helvetica Neue"/>
                <a:cs typeface="Helvetica Neue"/>
              </a:defRPr>
            </a:pPr>
            <a:r>
              <a:rPr sz="2550" b="1">
                <a:solidFill>
                  <a:srgbClr val="142F3A"/>
                </a:solidFill>
                <a:latin typeface="Helvetica Neue"/>
                <a:ea typeface="Helvetica Neue"/>
                <a:cs typeface="Helvetica Neue"/>
              </a:rPr>
              <a:t>Pilot batches of 25 → 100 → 1,000 accepted tasks</a:t>
            </a:r>
          </a:p>
        </p:txBody>
      </p:sp>
      <p:sp>
        <p:nvSpPr>
          <p:cNvPr id="15" name="">
            <a:extLst xmlns:a="http://schemas.openxmlformats.org/drawingml/2006/main">
              <a:ext uri="{FF2B5EF4-FFF2-40B4-BE49-F238E27FC236}">
                <a16:creationId xmlns:a16="http://schemas.microsoft.com/office/drawing/2014/main" id="{E04D6781-B3F8-4209-909C-1E2CBA1B1568}"/>
              </a:ext>
            </a:extLst>
          </p:cNvPr>
          <p:cNvSpPr>
            <a:spLocks xmlns:a="http://schemas.openxmlformats.org/drawingml/2006/main" noGrp="1"/>
          </p:cNvSpPr>
          <p:nvPr/>
        </p:nvSpPr>
        <p:spPr>
          <a:xfrm xmlns:a="http://schemas.openxmlformats.org/drawingml/2006/main">
            <a:off x="647700" y="50958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Track acceptance yield, authoring time, task validity, runtime cost and distinct failure mechanisms at each stage.</a:t>
            </a:r>
          </a:p>
        </p:txBody>
      </p:sp>
    </p:spTree>
    <p:extLst>
      <p:ext uri="{BB962C8B-B14F-4D97-AF65-F5344CB8AC3E}">
        <p14:creationId xmlns:p14="http://schemas.microsoft.com/office/powerpoint/2010/main" val="18191137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BE80421-0ADF-40DD-A54F-2A704EE80F37}"/>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Task pack and next experiment</a:t>
            </a:r>
          </a:p>
        </p:txBody>
      </p:sp>
      <p:sp>
        <p:nvSpPr>
          <p:cNvPr id="2" name="">
            <a:extLst xmlns:a="http://schemas.openxmlformats.org/drawingml/2006/main">
              <a:ext uri="{FF2B5EF4-FFF2-40B4-BE49-F238E27FC236}">
                <a16:creationId xmlns:a16="http://schemas.microsoft.com/office/drawing/2014/main" id="{F1644928-8364-43D2-8E48-D0584DA1BA88}"/>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77F236-2FC4-4846-9D87-D5964ACEB273}"/>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 99/99 combinations · first counted result per combination</a:t>
            </a:r>
          </a:p>
        </p:txBody>
      </p:sp>
      <p:sp>
        <p:nvSpPr>
          <p:cNvPr id="4" name="">
            <a:extLst xmlns:a="http://schemas.openxmlformats.org/drawingml/2006/main">
              <a:ext uri="{FF2B5EF4-FFF2-40B4-BE49-F238E27FC236}">
                <a16:creationId xmlns:a16="http://schemas.microsoft.com/office/drawing/2014/main" id="{11CD0191-99FF-47C3-8146-3C89ABE1D9D9}"/>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DCE79628-EB1A-4742-AAC7-4B44E0C02571}"/>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Evidence provided</a:t>
            </a:r>
          </a:p>
        </p:txBody>
      </p:sp>
      <p:sp>
        <p:nvSpPr>
          <p:cNvPr id="6" name="">
            <a:extLst xmlns:a="http://schemas.openxmlformats.org/drawingml/2006/main">
              <a:ext uri="{FF2B5EF4-FFF2-40B4-BE49-F238E27FC236}">
                <a16:creationId xmlns:a16="http://schemas.microsoft.com/office/drawing/2014/main" id="{BC8648C3-F80E-4204-805D-B6AA1FA3CB9B}"/>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Frozen first-result selection, raw artifact hashes, step and cost measurements, failure-to-contract mappings, and successful contrast trajectories.</a:t>
            </a:r>
          </a:p>
        </p:txBody>
      </p:sp>
      <p:sp>
        <p:nvSpPr>
          <p:cNvPr id="7" name="">
            <a:extLst xmlns:a="http://schemas.openxmlformats.org/drawingml/2006/main">
              <a:ext uri="{FF2B5EF4-FFF2-40B4-BE49-F238E27FC236}">
                <a16:creationId xmlns:a16="http://schemas.microsoft.com/office/drawing/2014/main" id="{79C07F03-6D7D-4FCE-BB01-6A7C61A44D7C}"/>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Next experiment</a:t>
            </a:r>
          </a:p>
        </p:txBody>
      </p:sp>
      <p:sp>
        <p:nvSpPr>
          <p:cNvPr id="8" name="">
            <a:extLst xmlns:a="http://schemas.openxmlformats.org/drawingml/2006/main">
              <a:ext uri="{FF2B5EF4-FFF2-40B4-BE49-F238E27FC236}">
                <a16:creationId xmlns:a16="http://schemas.microsoft.com/office/drawing/2014/main" id="{24A9C068-39C1-4AB1-A969-1F290BD67B95}"/>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Restore provider access, then repeat fixed task/model/effort combinations. Estimate pass rates with uncertainty and audit recurring failures against the contract.</a:t>
            </a:r>
          </a:p>
        </p:txBody>
      </p:sp>
      <p:sp>
        <p:nvSpPr>
          <p:cNvPr id="9" name="">
            <a:extLst xmlns:a="http://schemas.openxmlformats.org/drawingml/2006/main">
              <a:ext uri="{FF2B5EF4-FFF2-40B4-BE49-F238E27FC236}">
                <a16:creationId xmlns:a16="http://schemas.microsoft.com/office/drawing/2014/main" id="{39E53A1F-B5D1-47B4-BD74-069D23568898}"/>
              </a:ext>
            </a:extLst>
          </p:cNvPr>
          <p:cNvSpPr>
            <a:spLocks xmlns:a="http://schemas.openxmlformats.org/drawingml/2006/main" noGrp="1"/>
          </p:cNvSpPr>
          <p:nvPr/>
        </p:nvSpPr>
        <p:spPr>
          <a:xfrm xmlns:a="http://schemas.openxmlformats.org/drawingml/2006/main">
            <a:off x="647700" y="52387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D6520"/>
                </a:solidFill>
                <a:latin typeface="Helvetica Neue"/>
                <a:ea typeface="Helvetica Neue"/>
                <a:cs typeface="Helvetica Neue"/>
              </a:defRPr>
            </a:pPr>
            <a:r>
              <a:rPr sz="2100" b="1">
                <a:solidFill>
                  <a:srgbClr val="AD6520"/>
                </a:solidFill>
                <a:latin typeface="Helvetica Neue"/>
                <a:ea typeface="Helvetica Neue"/>
                <a:cs typeface="Helvetica Neue"/>
              </a:rPr>
              <a:t>99/99 counted combinations. Provider usage limits now interrupt model calls.</a:t>
            </a:r>
          </a:p>
        </p:txBody>
      </p:sp>
    </p:spTree>
    <p:extLst>
      <p:ext uri="{BB962C8B-B14F-4D97-AF65-F5344CB8AC3E}">
        <p14:creationId xmlns:p14="http://schemas.microsoft.com/office/powerpoint/2010/main" val="19772640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2026-09-14T13:43:57.3970000Z</dcterms:created>
  <dcterms:modified xsi:type="dcterms:W3CDTF">2026-09-14T13:43:57.3970000Z</dcterms:modified>
</coreProperties>
</file>