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48297acf42d4f87" /><Relationship Type="http://schemas.openxmlformats.org/officeDocument/2006/relationships/extended-properties" Target="/docProps/app.xml" Id="Re54ded21e8434fbe" /><Relationship Type="http://schemas.openxmlformats.org/officeDocument/2006/relationships/officeDocument" Target="/ppt/presentation.xml" Id="R55983827d19b49d4" /></Relationships>
</file>

<file path=ppt/presentation.xml><?xml version="1.0" encoding="utf-8"?>
<p:presentation xmlns:p="http://schemas.openxmlformats.org/presentationml/2006/main">
  <p:sldMasterIdLst>
    <p:sldMasterId xmlns:r="http://schemas.openxmlformats.org/officeDocument/2006/relationships" id="2147483648" r:id="R6a7dd6aad64d46ed"/>
  </p:sldMasterIdLst>
  <p:notesMasterIdLst>
    <p:notesMasterId xmlns:r="http://schemas.openxmlformats.org/officeDocument/2006/relationships" r:id="Rea2147f00f694b55"/>
  </p:notesMasterIdLst>
  <p:sldIdLst>
    <p:sldId xmlns:r="http://schemas.openxmlformats.org/officeDocument/2006/relationships" id="256" r:id="R6cb388bacebf4879"/>
    <p:sldId xmlns:r="http://schemas.openxmlformats.org/officeDocument/2006/relationships" id="257" r:id="R3c46f2d369f340c8"/>
    <p:sldId xmlns:r="http://schemas.openxmlformats.org/officeDocument/2006/relationships" id="258" r:id="Ref09125b21bd4760"/>
    <p:sldId xmlns:r="http://schemas.openxmlformats.org/officeDocument/2006/relationships" id="259" r:id="R13af2b7678344fd6"/>
    <p:sldId xmlns:r="http://schemas.openxmlformats.org/officeDocument/2006/relationships" id="260" r:id="R2e2428aa373b4972"/>
    <p:sldId xmlns:r="http://schemas.openxmlformats.org/officeDocument/2006/relationships" id="261" r:id="R3e32a247ac3f44c2"/>
    <p:sldId xmlns:r="http://schemas.openxmlformats.org/officeDocument/2006/relationships" id="262" r:id="R42d83ac565ec498d"/>
    <p:sldId xmlns:r="http://schemas.openxmlformats.org/officeDocument/2006/relationships" id="263" r:id="Rf04f08b0ea844e56"/>
    <p:sldId xmlns:r="http://schemas.openxmlformats.org/officeDocument/2006/relationships" id="264" r:id="R529bf3293bc14f5a"/>
    <p:sldId xmlns:r="http://schemas.openxmlformats.org/officeDocument/2006/relationships" id="265" r:id="Ra70a7b70088146f3"/>
    <p:sldId xmlns:r="http://schemas.openxmlformats.org/officeDocument/2006/relationships" id="266" r:id="Reb875a31ad0941ac"/>
    <p:sldId xmlns:r="http://schemas.openxmlformats.org/officeDocument/2006/relationships" id="267" r:id="R7f6599ee047d4642"/>
    <p:sldId xmlns:r="http://schemas.openxmlformats.org/officeDocument/2006/relationships" id="268" r:id="R480dc92802494c7c"/>
    <p:sldId xmlns:r="http://schemas.openxmlformats.org/officeDocument/2006/relationships" id="269" r:id="R43b50c1cd5cc4a5e"/>
    <p:sldId xmlns:r="http://schemas.openxmlformats.org/officeDocument/2006/relationships" id="270" r:id="Rcddb8bda09c74b5a"/>
    <p:sldId xmlns:r="http://schemas.openxmlformats.org/officeDocument/2006/relationships" id="271" r:id="Rd675e577b61d40b6"/>
    <p:sldId xmlns:r="http://schemas.openxmlformats.org/officeDocument/2006/relationships" id="272" r:id="Rade8b2c67cb545bd"/>
    <p:sldId xmlns:r="http://schemas.openxmlformats.org/officeDocument/2006/relationships" id="273" r:id="R08c3a8c5984c49de"/>
    <p:sldId xmlns:r="http://schemas.openxmlformats.org/officeDocument/2006/relationships" id="274" r:id="R9cd403c9607c41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da18adbb9c14d8a" /><Relationship Type="http://schemas.openxmlformats.org/officeDocument/2006/relationships/slideMaster" Target="/ppt/slideMasters/slideMaster1.xml" Id="R6a7dd6aad64d46ed" /><Relationship Type="http://schemas.openxmlformats.org/officeDocument/2006/relationships/notesMaster" Target="/ppt/notesMasters/notesMaster1.xml" Id="Rea2147f00f694b55" /><Relationship Type="http://schemas.openxmlformats.org/officeDocument/2006/relationships/presProps" Target="/ppt/presProps.xml" Id="R654d025ff60849c2" /><Relationship Type="http://schemas.openxmlformats.org/officeDocument/2006/relationships/tableStyles" Target="/ppt/tableStyles.xml" Id="Rc03de156ebc84cf6" /><Relationship Type="http://schemas.openxmlformats.org/officeDocument/2006/relationships/slide" Target="/ppt/slides/slide1.xml" Id="R6cb388bacebf4879" /><Relationship Type="http://schemas.openxmlformats.org/officeDocument/2006/relationships/slide" Target="/ppt/slides/slide2.xml" Id="R3c46f2d369f340c8" /><Relationship Type="http://schemas.openxmlformats.org/officeDocument/2006/relationships/slide" Target="/ppt/slides/slide3.xml" Id="Ref09125b21bd4760" /><Relationship Type="http://schemas.openxmlformats.org/officeDocument/2006/relationships/slide" Target="/ppt/slides/slide4.xml" Id="R13af2b7678344fd6" /><Relationship Type="http://schemas.openxmlformats.org/officeDocument/2006/relationships/slide" Target="/ppt/slides/slide5.xml" Id="R2e2428aa373b4972" /><Relationship Type="http://schemas.openxmlformats.org/officeDocument/2006/relationships/slide" Target="/ppt/slides/slide6.xml" Id="R3e32a247ac3f44c2" /><Relationship Type="http://schemas.openxmlformats.org/officeDocument/2006/relationships/slide" Target="/ppt/slides/slide7.xml" Id="R42d83ac565ec498d" /><Relationship Type="http://schemas.openxmlformats.org/officeDocument/2006/relationships/slide" Target="/ppt/slides/slide8.xml" Id="Rf04f08b0ea844e56" /><Relationship Type="http://schemas.openxmlformats.org/officeDocument/2006/relationships/slide" Target="/ppt/slides/slide9.xml" Id="R529bf3293bc14f5a" /><Relationship Type="http://schemas.openxmlformats.org/officeDocument/2006/relationships/slide" Target="/ppt/slides/slide10.xml" Id="Ra70a7b70088146f3" /><Relationship Type="http://schemas.openxmlformats.org/officeDocument/2006/relationships/slide" Target="/ppt/slides/slide11.xml" Id="Reb875a31ad0941ac" /><Relationship Type="http://schemas.openxmlformats.org/officeDocument/2006/relationships/slide" Target="/ppt/slides/slide12.xml" Id="R7f6599ee047d4642" /><Relationship Type="http://schemas.openxmlformats.org/officeDocument/2006/relationships/slide" Target="/ppt/slides/slide13.xml" Id="R480dc92802494c7c" /><Relationship Type="http://schemas.openxmlformats.org/officeDocument/2006/relationships/slide" Target="/ppt/slides/slide14.xml" Id="R43b50c1cd5cc4a5e" /><Relationship Type="http://schemas.openxmlformats.org/officeDocument/2006/relationships/slide" Target="/ppt/slides/slide15.xml" Id="Rcddb8bda09c74b5a" /><Relationship Type="http://schemas.openxmlformats.org/officeDocument/2006/relationships/slide" Target="/ppt/slides/slide16.xml" Id="Rd675e577b61d40b6" /><Relationship Type="http://schemas.openxmlformats.org/officeDocument/2006/relationships/slide" Target="/ppt/slides/slide17.xml" Id="Rade8b2c67cb545bd" /><Relationship Type="http://schemas.openxmlformats.org/officeDocument/2006/relationships/slide" Target="/ppt/slides/slide18.xml" Id="R08c3a8c5984c49de" /><Relationship Type="http://schemas.openxmlformats.org/officeDocument/2006/relationships/slide" Target="/ppt/slides/slide19.xml" Id="R9cd403c9607c41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e135b3120946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bd3713c47943cf" /><Relationship Type="http://schemas.openxmlformats.org/officeDocument/2006/relationships/notesMaster" Target="/ppt/notesMasters/notesMaster1.xml" Id="Rba8c95cb29bf40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63923a45524984" /><Relationship Type="http://schemas.openxmlformats.org/officeDocument/2006/relationships/notesMaster" Target="/ppt/notesMasters/notesMaster1.xml" Id="R0fa2e67b98fa4b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e89d30f81840f8" /><Relationship Type="http://schemas.openxmlformats.org/officeDocument/2006/relationships/notesMaster" Target="/ppt/notesMasters/notesMaster1.xml" Id="R24ebe87195d144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250c78af8b494d" /><Relationship Type="http://schemas.openxmlformats.org/officeDocument/2006/relationships/notesMaster" Target="/ppt/notesMasters/notesMaster1.xml" Id="Rfe014718698347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1b9cc8fe614fe3" /><Relationship Type="http://schemas.openxmlformats.org/officeDocument/2006/relationships/notesMaster" Target="/ppt/notesMasters/notesMaster1.xml" Id="R2ab625dc1c064e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07b833d41440d8" /><Relationship Type="http://schemas.openxmlformats.org/officeDocument/2006/relationships/notesMaster" Target="/ppt/notesMasters/notesMaster1.xml" Id="R3850e6bd74b547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72871f224f4865" /><Relationship Type="http://schemas.openxmlformats.org/officeDocument/2006/relationships/notesMaster" Target="/ppt/notesMasters/notesMaster1.xml" Id="R05ba2bc851fd46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4ef241fffa467e" /><Relationship Type="http://schemas.openxmlformats.org/officeDocument/2006/relationships/notesMaster" Target="/ppt/notesMasters/notesMaster1.xml" Id="Rdfb30f5733bd40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89cec66e9d486b" /><Relationship Type="http://schemas.openxmlformats.org/officeDocument/2006/relationships/notesMaster" Target="/ppt/notesMasters/notesMaster1.xml" Id="Rddcb45a1f4234de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9f13f199724a57" /><Relationship Type="http://schemas.openxmlformats.org/officeDocument/2006/relationships/notesMaster" Target="/ppt/notesMasters/notesMaster1.xml" Id="R16a2c65469644b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e6dbac76984ae0" /><Relationship Type="http://schemas.openxmlformats.org/officeDocument/2006/relationships/notesMaster" Target="/ppt/notesMasters/notesMaster1.xml" Id="Rb786a0682ed246b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ec0884c592e4f01" /><Relationship Type="http://schemas.openxmlformats.org/officeDocument/2006/relationships/notesMaster" Target="/ppt/notesMasters/notesMaster1.xml" Id="Rd80bde66acdb436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3d4ceae02ea4290" /><Relationship Type="http://schemas.openxmlformats.org/officeDocument/2006/relationships/notesMaster" Target="/ppt/notesMasters/notesMaster1.xml" Id="R065b0db7d7404d5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e21e7bb5c1049b7" /><Relationship Type="http://schemas.openxmlformats.org/officeDocument/2006/relationships/notesMaster" Target="/ppt/notesMasters/notesMaster1.xml" Id="R78ffd7360be349a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e762a27cc5a4a62" /><Relationship Type="http://schemas.openxmlformats.org/officeDocument/2006/relationships/notesMaster" Target="/ppt/notesMasters/notesMaster1.xml" Id="R086c631075074bb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99313d8ad144e4e" /><Relationship Type="http://schemas.openxmlformats.org/officeDocument/2006/relationships/notesMaster" Target="/ppt/notesMasters/notesMaster1.xml" Id="Rc3612bdb0d33484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a980c79238242dd" /><Relationship Type="http://schemas.openxmlformats.org/officeDocument/2006/relationships/notesMaster" Target="/ppt/notesMasters/notesMaster1.xml" Id="R4725eb26b60a4f7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e78d5ac9b094a6a" /><Relationship Type="http://schemas.openxmlformats.org/officeDocument/2006/relationships/notesMaster" Target="/ppt/notesMasters/notesMaster1.xml" Id="Re32d74fb1a9d411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3bbfc3ac1a64bf0" /><Relationship Type="http://schemas.openxmlformats.org/officeDocument/2006/relationships/notesMaster" Target="/ppt/notesMasters/notesMaster1.xml" Id="R693ec77128f149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recommend Rerun chunk optimizer, Zenoh timestamp instrumentation and Burn checkpoint reader as Harbor samples. The report covers all 11 task cohorts in the frozen data, with three models and three effort levels per task. One counted result per setting gives 99 first results. Agents passed 76, and 64 of the 76 successful attempts exceeded 75 assistant turns. Requirement audits identify chunk-layout failures, the Zenoh public-type mismatch and Burn parser/validation failures. Burn also includes a source-restriction failure. The sample first-result cohorts have 18/18 Fable/Opus passes and 5/9 Sonnet passes. We recommend a pilot from this evidence. We need repeated trials to estimate pass rates or test effects of model and effort. Provider interruptions affect the Diskcache and Luigi Fable/max outcomes. Corrected Zenoh verification regraded nine saved submissions, with eight passes and the same type failure, adding zero model trials. Sources: evidence/completed-task-report-scope-001.json, evidence/completed-task-profiles-001.json, evidence/shortlist-cases.json, report-support-all-completed-tasks.md and research/zenoh-coverage-followup-2026-09-14/final-revision-mapping-001.json. Provider quota interrupted Diskcache Fable/max uuqa2f6 after 24 assistant turns. Gateway failures affected Luigi Fable/max 6ooqjT5 before its 7200-second timeout. The existing policy counts both outcomes as failures. We cannot infer performance under healthy service from these trials. We preserve the raw outcomes and first-result selection. Recorded costs exclude unreported charges. See the provider-quota and Luigi timeout evidence reviews.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report one counted outcome for each of 11 tasks, three models and three effort levels: nine settings per task. The sweep contains one first result per setting. It does not contain 20 repeats per setting. Three Rust tasks remain detailed case studies and recommended Harbor samples. The final corrected Zenoh verifier also completed all nine saved-submission regrades: eight passes and one unchanged failure. These regrades add no model calls or counted sweep trials. Provider quota interrupted Diskcache Fable/max uuqa2f6 after 24 assistant turns. Gateway failures affected Luigi Fable/max 6ooqjT5 before its 7200-second timeout. The existing policy counts both outcomes as failures. We cannot infer performance under healthy service from these trials. We preserve the raw outcomes and first-result selection. Recorded costs exclude unreported charges. See the provider-quota and Luigi timeout evidence reviews.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and task-level evidence: report-support-all-completed-tasks.md and evidence/completed-task-report-scope-001.json. Three detailed task sources: candidates_v2/rs-rerun-chunk-optimizer/instruction.md; research/task-revisions/rs-zenoh-timestamp-instrumentation-v3/instruction.md; research/task-revisions/rs-burn-store-pytorch-reader-v4/instruction.md. The full population contains three C++ tasks, four Python tasks and four Rust tasks. Each has nine counted first-result cells. The three detailed Rust cases cover data representations, streaming or deferred materialization, public interfaces and independent observable behavior.</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Frozen scope: coverage-scope.json (11 tasks × 3 models × 3 efforts). Each number is passes / first counted results, pooled across effort for description only. Outcomes classified as infrastructure do not count. Budgeted timeouts and validated abnormal exits follow the existing counting policy. Repeat trials and superseded revisions are separate. No model ranking or estimated win rate is asserted. Provider quota interrupted Diskcache Fable/max uuqa2f6 after 24 assistant turns. Gateway failures affected Luigi Fable/max 6ooqjT5 before its 7200-second timeout. The existing policy counts both outcomes as failures. We cannot infer performance under healthy service from these trials. We preserve the raw outcomes and first-result selection. Recorded costs exclude unreported charges. See the provider-quota and Luigi timeout evidence reviews.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cell is the exact first counted result from the frozen 99 snapshot, displayed as pass/fail and assistant turns. The population is 11 tasks × three models × three effort levels. Model aliases are fable-5-1, opus-5 and sonnet-5. Medium/high/max are configured effort levels. Counted failures include policy-counted agent timeouts, a verifier timeout, and validated abnormal exits. They are not all ordinary assertion failures. Diskcache Sonnet/high is a verifier timeout; Diskcache Sonnet/max, Luigi Sonnet/max and Luigi Fable/max are agent timeouts. Historical Zenoh v3 is the agent-run cohort. Corrected saved-submission regrades add no new model trials. Provider quota interrupted Diskcache Fable/max uuqa2f6 after 24 assistant turns. Gateway failures affected Luigi Fable/max 6ooqjT5 before its 7200-second timeout. The existing policy counts both outcomes as failures. We cannot infer performance under healthy service from these trials. We preserve the raw outcomes and first-result selection. Recorded costs exclude unreported charges. See the provider-quota and Luigi timeout evidence reviews.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cell is the exact first counted result from the frozen 99 snapshot, displayed as pass/fail and assistant turns. The population is 11 tasks × three models × three effort levels. Model aliases are fable-5-1, opus-5 and sonnet-5. Medium/high/max are configured effort levels. Counted failures include policy-counted agent timeouts, a verifier timeout, and validated abnormal exits. They are not all ordinary assertion failures. Diskcache Sonnet/high is a verifier timeout; Diskcache Sonnet/max, Luigi Sonnet/max and Luigi Fable/max are agent timeouts. Historical Zenoh v3 is the agent-run cohort. Corrected saved-submission regrades add no new model trials. Provider quota interrupted Diskcache Fable/max uuqa2f6 after 24 assistant turns. Gateway failures affected Luigi Fable/max 6ooqjT5 before its 7200-second timeout. The existing policy counts both outcomes as failures. We cannot infer performance under healthy service from these trials. We preserve the raw outcomes and first-result selection. Recorded costs exclude unreported charges. See the provider-quota and Luigi timeout evidence reviews.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language-group overview covers every task in the frozen 99 population, not only the three recommended sample tasks. Each first-result cohort has exactly nine model/effort cells. Median turns are among successful first results. Interpretations distinguish observed test failures from independently established causes. Sources: report-support-all-completed-tasks.md, evidence/completed-task-report-scope-001.json, evidence/completed-task-profiles-001.json and the task instructions and raw artifacts cited there. cpp-foxglove-sdk-parameter-handler: Expose the existing Rust responder-based parameter API through the C FFI and C++ SDK so WebSocket and remote-access handlers can finish get/set requests later from another thread. Preserve ownership, drop/error behavior, generated-header/build integration and legacy callback behavior. All nine first cells pass, and every success exceeds 75 assistant turns (median 163, range 79–364). This supports sustained implementation depth across the tested settings; the first grid provides no observed first-result failures. The gateway path is compile/API checked rather than exercised end to end, as the instructions disclose. No failed first-result cell. The Opus/medium result comes from the explicitly adopted Python-startup repair job, not an omitted cell or an extra first result.</a:t>
            </a:r>
          </a:p>
          <a:p xmlns:a="http://schemas.openxmlformats.org/drawingml/2006/main">
            <a:r>
              <a:t/>
            </a:r>
          </a:p>
          <a:p xmlns:a="http://schemas.openxmlformats.org/drawingml/2006/main">
            <a:r>
              <a:t>cpp-rosbag2-mixed-serialization-playback: Read and play bags containing mixed serialization formats, tag messages with delivered formats, identify undeliverable topics, resolve requested/excluded topics before playback, and preserve raw rewrite behavior with equivalent SQLite3 and MCAP results. Seven of nine first cells pass; all nine attempts exceed 75 turns and successful depth is median 154 (112–381). Opus/medium XonizBd fails four CLI warning checks despite passing differential checks: explicitly excluded or unselected incompatible topics are still mentioned. Sonnet/high 8tAPNNm fails only the writer-side converted-format assertion; the existing contract review calls that extension ambiguous. Do not present both zeros as equally established behavioral headroom. C6 explicitly forbids mentioning explicitly excluded topics; its requested/implicit selection distinction supports the warning failures. The Sonnet/high writer-boundary assertion is not an unambiguous reader-contract violation. A later Fable/max repeat uqBGJ4B aborts in a pre-existing action playback fixture; that repeat is outside this first grid and its source/teardown cause is unresolved.</a:t>
            </a:r>
          </a:p>
          <a:p xmlns:a="http://schemas.openxmlformats.org/drawingml/2006/main">
            <a:r>
              <a:t/>
            </a:r>
          </a:p>
          <a:p xmlns:a="http://schemas.openxmlformats.org/drawingml/2006/main">
            <a:r>
              <a:t>cpp-zenoh-cpp-connectivity-api: Wrap transport/link information and connectivity events in the header-only C++ API over zenoh-c and zenoh-pico, including ownership, callback/background listeners, history and undeclare behavior, and repair the specified optional interop helpers. Match Python connectivity reports and preserve both backend regression suites. Eight of nine first cells pass; successful depth is median 106 (62–331), with 7/8 successes above 75 turns. The only first failure is Opus/max 4gQVPQy: an existing zenoh-pico advanced pub/sub test segfaults after 13.36s, leaving 31/32 CTests passing. Both new connectivity tests and the Python parity group pass. This establishes observed depth but not a diagnosed connectivity implementation defect. Existing upstream regressions are explicitly required, so the failing suite is in scope. A segfault without an assertion/stack or replay does not distinguish a submitted-source regression from a pre-existing or timing-dependent problem. No hidden-test/spec mismatch is established by this inspection.</a:t>
            </a:r>
          </a:p>
          <a:p xmlns:a="http://schemas.openxmlformats.org/drawingml/2006/main">
            <a:r>
              <a:t/>
            </a:r>
          </a:p>
          <a:p xmlns:a="http://schemas.openxmlformats.org/drawingml/2006/main">
            <a:r>
              <a:t>Provider quota interrupted Diskcache Fable/max uuqa2f6 after 24 assistant turns. Gateway failures affected Luigi Fable/max 6ooqjT5 before its 7200-second timeout. The existing policy counts both outcomes as failures. We cannot infer performance under healthy service from these trials. We preserve the raw outcomes and first-result selection. Recorded costs exclude unreported charges. See the provider-quota and Luigi timeout evidence reviews.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language-group overview covers every task in the frozen 99 population, not only the three recommended sample tasks. Each first-result cohort has exactly nine model/effort cells. Median turns are among successful first results. Interpretations distinguish observed test failures from independently established causes. Sources: report-support-all-completed-tasks.md, evidence/completed-task-report-scope-001.json, evidence/completed-task-profiles-001.json and the task instructions and raw artifacts cited there. diskcache-online-reshard-v2: Add a managed FanoutCache that persists topology and incrementally copies/reconciles data to a new shard count while reads and writes continue. Use epoch fencing, nonblocking process leases, atomic topology publication, crash recovery and bounded migration work while preserving TTLs, serialization, native transactions and named stores. Two of nine first cells pass; success median 93.5 (70–117), with only 1/2 successes above 75 turns. The grid contains seven scored outcomes, one agent timeout and one verifier timeout. Its Fable/max uuqa2f6 zero follows a provider usage-limit rejection after 24 accepted turns, not a clean completed model attempt. Some ordinary failures also show stale values resurrecting after clear/cull/migration and configuration/adoption property disagreements. Mutation reconciliation and non-resurrection are explicit requirements. The several size_limit/property assertions have only been observed here, not independently adjudicated against native FanoutCache property semantics; do not count each as proven contract-grounded headroom. The quota-interrupted and timeout cells remain policy-counted with their confounds visible.</a:t>
            </a:r>
          </a:p>
          <a:p xmlns:a="http://schemas.openxmlformats.org/drawingml/2006/main">
            <a:r>
              <a:t/>
            </a:r>
          </a:p>
          <a:p xmlns:a="http://schemas.openxmlformats.org/drawingml/2006/main">
            <a:r>
              <a:t>luigi-generation-target: Add LocalGenerationTarget for atomically publishing a complete collection of local output files. Support compare-and-swap writers, integrity manifests, stable pinned snapshots, interprocess locks, pruning and crash-safe CURRENT publication while working with ordinary Luigi task/worker scheduling. Four of nine first cells pass; successful depth is median 52 (41–110), with 1/4 successes above 75 turns. Three scored zeros concern observed retention, absent-read side effects, unclosed writer streams and symlink handling; two other cells time out. Fable/max 6ooqjT5 timed out after 20 accepted turns amid repeated gateway failures, so the policy zero is service/budget confounded. No-store creation on absent reads, closing owned streams after failure and rejecting symlink corruption are explicit. Not every lifecycle exception-type or retention assertion has received an independent contract/source audit; do not label all remaining checks proven defects. Preserve the first timeout separately from excluded transport attempts and the standalone streaming canary.</a:t>
            </a:r>
          </a:p>
          <a:p xmlns:a="http://schemas.openxmlformats.org/drawingml/2006/main">
            <a:r>
              <a:t/>
            </a:r>
          </a:p>
          <a:p xmlns:a="http://schemas.openxmlformats.org/drawingml/2006/main">
            <a:r>
              <a:t>py-rosbags-rosbag2-storage-writers: Implement the missing storage writer backends beneath the existing rosbags Writer. Produce genuine rosbag2 SQLite schema-v4 and indexed/chunked MCAP files, preserving metadata, opaque payloads, timestamps, compression modes and round trips through independent readers and recorded ROS2 bags. All nine first cells pass. Successful depth is median 44 (20–173); only 3/9 exceed 75 turns. The task demonstrates broad interoperability work, but this first grid supplies neither observed failures nor consistent long-solution depth at the tested settings. No failed first-result cell. Passing groups cover upstream tests and independent SQLite/MCAP checks as specified; this is not a claim that every possible file or compression corner case is proved.</a:t>
            </a:r>
          </a:p>
          <a:p xmlns:a="http://schemas.openxmlformats.org/drawingml/2006/main">
            <a:r>
              <a:t/>
            </a:r>
          </a:p>
          <a:p xmlns:a="http://schemas.openxmlformats.org/drawingml/2006/main">
            <a:r>
              <a:t>py-zarr-python-cast-value-scale-offset: Implement composable Zarr v3 array-to-array numeric conversion and affine scale/offset codecs, including exact JSON metadata, scalar maps, rounding and range policies, validation and dtype preservation. Match an independent Rust cast-value implementation byte for byte and exact integer scale/offset arithmetic. Six of nine first cells pass; success median 100.5 (88–335), and all 6 successes exceed 75 turns. All three failed first runs still pass 3790 cast-value comparisons, 12 foreign-metadata checks and 505 upstream tests. Fable/medium and Sonnet/medium fail specified validation/error-contract checks (and Sonnet/medium JSON form); Sonnet/high q7MZcL8 additionally fails integer scale/offset paths with int.astype errors and passes only 32/100 exact-reference cases. CV-4 explicitly fixes normalized JSON form; CV-6 and SO-4 require ValueError messages for unsupported/unrepresentable inputs; SO-5 requires working exact integer arithmetic and dtype preservation. These observed failure classes map to the written contract, but no exhaustive submitted-source/root-cause audit or replay was performed. Do not treat all numeric conversion as broken when its differential matrix passes.</a:t>
            </a:r>
          </a:p>
          <a:p xmlns:a="http://schemas.openxmlformats.org/drawingml/2006/main">
            <a:r>
              <a:t/>
            </a:r>
          </a:p>
          <a:p xmlns:a="http://schemas.openxmlformats.org/drawingml/2006/main">
            <a:r>
              <a:t>Provider quota interrupted Diskcache Fable/max uuqa2f6 after 24 assistant turns. Gateway failures affected Luigi Fable/max 6ooqjT5 before its 7200-second timeout. The existing policy counts both outcomes as failures. We cannot infer performance under healthy service from these trials. We preserve the raw outcomes and first-result selection. Recorded costs exclude unreported charges. See the provider-quota and Luigi timeout evidence reviews.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language-group overview covers every task in the frozen 99 population, not only the three recommended sample tasks. Each first-result cohort has exactly nine model/effort cells. Median turns are among successful first results. Interpretations distinguish observed test failures from independently established causes. Sources: report-support-all-completed-tasks.md, evidence/completed-task-report-scope-001.json, evidence/completed-task-profiles-001.json and the task instructions and raw artifacts cited there. rs-burn-onnx-rnn-runtime-weights: Make generated GRU/LSTM/RNN models consume runtime W/R/B inputs rather than uninitialized module parameters, repair batch-first layout axes and direction/output-subset handling, reject unsupported or mixed weight configurations, and preserve initializer and upstream regression behavior. Eight of nine first cells pass; success median 225 (134–446), and all 8 successes exceed 75 turns. This built alternative has a median of 225 turns among successful first results. The sole first failure, Sonnet/medium FT2MwFs at 217 turns, passes runtime/numerical groups but fails nine opset snapshots after adding runtime_weights:false to the rendered IR. These are one observed snapshot regression cluster, not nine independent runtime defects. Preserving the existing onnx-ir integration/snapshot regressions is explicit. The prior review does not dismiss that zero as an invalid hidden test, while distinguishing it from numerical correctness. Greater median depth alone does not establish that this is a stronger final task than the reader task.</a:t>
            </a:r>
          </a:p>
          <a:p xmlns:a="http://schemas.openxmlformats.org/drawingml/2006/main">
            <a:r>
              <a:t/>
            </a:r>
          </a:p>
          <a:p xmlns:a="http://schemas.openxmlformats.org/drawingml/2006/main">
            <a:r>
              <a:t>rs-burn-store-pytorch-reader-v4: Read checkpoint data on demand, reject unsafe input and honor source constraints. One functional failure and one source restriction failure. Sonnet max passes.</a:t>
            </a:r>
          </a:p>
          <a:p xmlns:a="http://schemas.openxmlformats.org/drawingml/2006/main">
            <a:r>
              <a:t/>
            </a:r>
          </a:p>
          <a:p xmlns:a="http://schemas.openxmlformats.org/drawingml/2006/main">
            <a:r>
              <a:t>rs-rerun-chunk-optimizer: Stream and repack chunks while preserving cells, memory bounds and layout. One required layout failure. Sonnet max passes after a longer trajectory.</a:t>
            </a:r>
          </a:p>
          <a:p xmlns:a="http://schemas.openxmlformats.org/drawingml/2006/main">
            <a:r>
              <a:t/>
            </a:r>
          </a:p>
          <a:p xmlns:a="http://schemas.openxmlformats.org/drawingml/2006/main">
            <a:r>
              <a:t>rs-zenoh-timestamp-instrumentation-v3: Carry timestamps through public APIs, wire encoding and receive paths. The same public-type failure persists. All eight other saved regrades pass.</a:t>
            </a:r>
          </a:p>
          <a:p xmlns:a="http://schemas.openxmlformats.org/drawingml/2006/main">
            <a:r>
              <a:t/>
            </a:r>
          </a:p>
          <a:p xmlns:a="http://schemas.openxmlformats.org/drawingml/2006/main">
            <a:r>
              <a:t>Provider quota interrupted Diskcache Fable/max uuqa2f6 after 24 assistant turns. Gateway failures affected Luigi Fable/max 6ooqjT5 before its 7200-second timeout. The existing policy counts both outcomes as failures. We cannot infer performance under healthy service from these trials. We preserve the raw outcomes and first-result selection. Recorded costs exclude unreported charges. See the provider-quota and Luigi timeout evidence reviews.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count one assistant turn in the saved ATIF trajectory as one step. We record tool calls and elapsed time as separate measurements. The chart gives the median among successful first results for each task. We omit failures, including the Luigi and Diskcache service interruptions. We cannot infer a causal effort effect or human completion time from these turn counts.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report all 11 completed task cohorts. These three Rust tasks are the detailed case studies and recommended Harbor samples, based on task coherence, reproducibility, observed work and audited contract failures. We need failure audits and repeated trials to assess learning headroom. In the three sample cohorts, Fable and Opus pass all 18 settings combined. Sonnet passes five of nine. We recommend a pilot focused on Sonnet. We observed no Fable or Opus failures in these sample cohorts. Zenoh v3 outcomes remain historical. All nine corrected-grader replays are complete, with eight passes and the same explicit public-type failure. These saved-submission regrades are separate and add no model trials. The packaged Zenoh sample uses the final corrected validation revision. Its exact mapping is research/zenoh-coverage-followup-2026-09-14/final-revision-mapping-001.json. All three have successful model completions. Steps on success are median assistant turns among successful first results. See evidence/shortlist-cases.json for the exact controls and failure artifacts.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Audited trial EeEppp5: Sonnet/medium, 138 assistant steps, reward 0. The diagram shows actual rows-per-output-chunk [6,2] versus expected [4,4] in chunks_that_do_not_fit_together_emit_alone_in_order (optimizer_contract.rs:410). We did not establish data loss. The submission passes existing regressions and fails five feature/contract tests. Quotation source: native assistant turn 138 / ATIF step 140. Compare Sonnet/max iUZ6GKK (383 steps, reward 1). Full hashes and instruction/test links: evidence/shortlist-cases.json. Separate repeat YSSc6xQ (Sonnet/medium) takes 124 turns and fails nine of 96 tests. It measures Arc&lt;Chunk&gt;, whose attributed size varies with reference count, instead of the specified decoded Chunk. The size discrepancy could account for the packing and splitting failures. We did not run a replay to establish the sole cause. Opus/max YSPYcnB passes in 132 turns with 148 tool calls. See evidence/repeat-case-audit-20260914T1018.json and evidence/repeat-case-root-review-20260914T1033.json. These repeats do not replace the first-result cohort.</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Sonnet/medium YtCswNv uses ZenohIdProto in TimestampContext.zid. The instruction requires ZenohId. This is distinct from the old hidden-import test mismatch corrected in revision v3. Sonnet/max gSYDMEG passes the historical v3 verifier in 626 steps. The separate revised validation task adds direct malformed/boundary-stack and admin-space Receive tests, plus a reference fix preserving the received timestamp stack in replies. Its confirmed controls are oracle 1 and no-op 0. The collected quality002 report records passes for all 11 criteria. This automated judgment does not establish exhaustive boundary coverage. All eight focused diagnostics are complete: six targeted omissions fail their intended assertions, and both exact saved submissions pass all seven new tests. These checks used the cached build image. We completed nine saved-source regrades on the normal verifier image. Eight submissions pass all 11 verifier groups. YtCswNv retains reward 0 because of the same required public-type mismatch. The failing invocation stops at compilation and skips the remaining nine groups. We therefore have no runtime result for those groups. The regrades make zero model calls and add zero counted sweep trials. We verified the source and test hashes, normal image, resource limits, deadline and cleanup. Controls remain oracle 1 and no-op 0. The final task checksum is 67f1fdca75fd66f4cbdd6e4729a582c9fbbdac428a0299eefc74104dffa59fab. See research/zenoh-coverage-followup-2026-09-14/paired-regrades/run-002/summary.json, final-revision-mapping-001.json (SHA-256 5b6696bec407839159522168904ec22ad393a75058d79522d86a7b4565f45608) and final-revision-mapping-review-001/review.json. The new boundary tests cover Receive/admin-space and malformed protocol cases. We have not established exhaustive Send/Route cap coverage. See evidence/zenoh-eight-focused-root-review-20260914T0948.json. Original v3 scores remain unchanged. See evidence/zenoh-quality-final-root-review-20260914T0841.json, evidence/zenoh-continuation004-root-review-20260914T0852.json, and research/zenoh-coverage-followup-2026-09-14/reviews-final-002/summary.json. A separate Sonnet/max repeat, 6nTASYR, passes the historical v3 verifier in 621 turns. The repeat used v3, not the corrected v4 verifier. See evidence/repeat-case-audit-20260914T1018.json and evidence/repeat-case-root-review-20260914T1033.json.</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v4. Sonnet/medium vXNtQ5E failed FRAME/TAR/storage-bounds functionality in 42 steps. Sonnet/high BrRKozk completed in 251 steps and passed the functional groups, but retained a prohibited fixture path in baseline-derived inline test code. We retain raw reward 0 for the source restriction. The functional checks passed. We found no evidence of cheating. Sonnet/max X6pyirF passed all eight verifier groups in 323 steps, including 62 matrix cases and 32 rejection cases. Fable/max and Opus/max both pass in 158 steps. See evidence/burn-v4-sonnet-max.json and evidence/shortlist-cases.json. Separate repeat UDNoWje takes 191 turns and passes 217 Rust tests and the 62-case fixture matrix, but an allocation abort on a 125-byte doubling-bomb fixture violates the explicit R12 requirement to return an error. We did not trace the allocation origin. Sonnet/max kYchPug and Fable/max RBjsods later pass all eight groups in 274 and 171 turns. These repeats remain separate from the first-result cohort. See evidence/repeat-case-audit-20260914T0923.json, evidence/repeat-case-root-review-20260914T0929.json, evidence/repeat-case-audit-20260914T1018.json and evidence/repeat-case-root-review-20260914T1033.json.</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SQLite NUL audit: research/sqlite-nul-validity-audit-2026-09-14/{README.md,results.json,sqlite-default-proof.json}. We reviewed 30 counted attempts across nine cells in two campaigns. All 30 fail NUL. Three fail no other tests. NUL is valid under the all-strings contract and SQLite supports embedded NUL: https://www.sqlite.org/nulinstr.html . We exclude the held Huey/SQLite revisions from the 99-cell grid. We validated the Burn Debug and Zenoh import corrections as separate revisions.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SWE-Marathon paper, June 5, 2026, abstract: https://arxiv.org/abs/2606.07682v1 . The authors evaluated frontier coding agents on 20 tasks and reported fewer than 30% solved. These results describe the agents evaluated in the paper. They do not describe a current leaderboard or our three model aliases. The quoted words come from the abstract. These tasks, budgets and metrics differ from our pilot. We use the paper to motivate a test of how agents verify complete feature requirements. This connection is our inference.</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https://arxiv.org/abs/2509.16941v2 (SWE-Bench Pro, abstract) and https://arxiv.org/abs/2503.14499v4 (METR, abstract). SWE-Bench Pro characterizes complex software tasks involving hours to days of human work. METR defines its horizon using measured human time and a success threshold. We did not measure a human time baseline, so we cannot convert assistant turns into that metric. We cannot establish task novelty to a model from public upstream provenance or recent commit dates. Provider quota interrupted Diskcache Fable/max uuqa2f6 after 24 assistant turns. Gateway failures affected Luigi Fable/max 6ooqjT5 before its 7200-second timeout. The existing policy counts both outcomes as failures. We cannot infer performance under healthy service from these trials. We preserve the raw outcomes and first-result selection. Recorded costs exclude unreported charges. See the provider-quota and Luigi timeout evidence reviews.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propose this scaling design. We have not measured its production yield or budget. Source candidates from public C++, Rust and Python data, storage, serialization and protocol repositories. Deduplicate related PR stacks and templates before splitting. Hold out repositories or families to test transfer. At 20% acceptance, 5,000 mined candidates would yield 1,000 accepted tasks. We need staged pilot batches to measure the actual yield.</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report all 11 completed task cohorts. The three recommended Rust samples have exact-package reference/no-op controls and required task checks. The final Zenoh sample uses the corrected validation revision. All nine saved-submission regrades retain their original outcomes, with eight passes and one explicit public-type failure. The original v3 first-result cohort stays separate. See research/zenoh-coverage-followup-2026-09-14/final-revision-mapping-001.json. Preserve raw Harbor job/trial structure and bytes. Keep discarded candidates in archive. Repeat trials within fixed task/model/effort cells to estimate pass rates, separating infrastructure outcomes and task revisions. Provider quota interrupted Diskcache Fable/max uuqa2f6 after 24 assistant turns. Gateway failures affected Luigi Fable/max 6ooqjT5 before its 7200-second timeout. The existing policy counts both outcomes as failures. We cannot infer performance under healthy service from these trials. We preserve the raw outcomes and first-result selection. Recorded costs exclude unreported charges. See the provider-quota and Luigi timeout evidence reviews.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a4f9d68c614f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7c8d6a41904979" /><Relationship Type="http://schemas.openxmlformats.org/officeDocument/2006/relationships/slideLayout" Target="/ppt/slideLayouts/slideLayout1.xml" Id="R594f2d7fd5ff42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4f2d7fd5ff42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c1cd5b846a4d0e" /><Relationship Type="http://schemas.openxmlformats.org/officeDocument/2006/relationships/notesSlide" Target="/ppt/notesSlides/notesSlide1.xml" Id="Rda232181451a4f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2511450c71540d3" /><Relationship Type="http://schemas.openxmlformats.org/officeDocument/2006/relationships/notesSlide" Target="/ppt/notesSlides/notesSlide2.xml" Id="R448999c9cd584b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b33234f22834f10" /><Relationship Type="http://schemas.openxmlformats.org/officeDocument/2006/relationships/notesSlide" Target="/ppt/notesSlides/notesSlide3.xml" Id="Ref5bf5901c03413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08e039cb51744a9" /><Relationship Type="http://schemas.openxmlformats.org/officeDocument/2006/relationships/notesSlide" Target="/ppt/notesSlides/notesSlide4.xml" Id="Ra20065b9986048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c301819c9b340d5" /><Relationship Type="http://schemas.openxmlformats.org/officeDocument/2006/relationships/notesSlide" Target="/ppt/notesSlides/notesSlide5.xml" Id="Re1a6ae40501e4d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67c5e69e4424377" /><Relationship Type="http://schemas.openxmlformats.org/officeDocument/2006/relationships/notesSlide" Target="/ppt/notesSlides/notesSlide6.xml" Id="Rbb48752145dc42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ddf4a8598dd4410" /><Relationship Type="http://schemas.openxmlformats.org/officeDocument/2006/relationships/notesSlide" Target="/ppt/notesSlides/notesSlide7.xml" Id="Raf1d1aaf6cf845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0d1eb6d77d941f8" /><Relationship Type="http://schemas.openxmlformats.org/officeDocument/2006/relationships/notesSlide" Target="/ppt/notesSlides/notesSlide8.xml" Id="Rcae99d5eddbb44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4c92ed0ede04215" /><Relationship Type="http://schemas.openxmlformats.org/officeDocument/2006/relationships/notesSlide" Target="/ppt/notesSlides/notesSlide9.xml" Id="Re963497565ff49e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0be976054074cb9" /><Relationship Type="http://schemas.openxmlformats.org/officeDocument/2006/relationships/chart" Target="/ppt/slides/charts/chart1.xml" Id="Rb89f2d605bce4e40" /><Relationship Type="http://schemas.openxmlformats.org/officeDocument/2006/relationships/notesSlide" Target="/ppt/notesSlides/notesSlide10.xml" Id="Rc6d46a946f674ad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6ebb28bfcd84d6a" /><Relationship Type="http://schemas.openxmlformats.org/officeDocument/2006/relationships/notesSlide" Target="/ppt/notesSlides/notesSlide11.xml" Id="Rcefb212613a0429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d1140cd119f42ff" /><Relationship Type="http://schemas.openxmlformats.org/officeDocument/2006/relationships/notesSlide" Target="/ppt/notesSlides/notesSlide12.xml" Id="R5f0f9f35ef05468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82f9977555e449d" /><Relationship Type="http://schemas.openxmlformats.org/officeDocument/2006/relationships/notesSlide" Target="/ppt/notesSlides/notesSlide13.xml" Id="R3a9652eff3c74a8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92ec70bd4c944ce" /><Relationship Type="http://schemas.openxmlformats.org/officeDocument/2006/relationships/notesSlide" Target="/ppt/notesSlides/notesSlide14.xml" Id="R85f595f39b87467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6f3b749f9c54819" /><Relationship Type="http://schemas.openxmlformats.org/officeDocument/2006/relationships/notesSlide" Target="/ppt/notesSlides/notesSlide15.xml" Id="Rb09ecc6f969645a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cd9c62f74424cc7" /><Relationship Type="http://schemas.openxmlformats.org/officeDocument/2006/relationships/notesSlide" Target="/ppt/notesSlides/notesSlide16.xml" Id="R507766c894944dd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02df27ee781481e" /><Relationship Type="http://schemas.openxmlformats.org/officeDocument/2006/relationships/notesSlide" Target="/ppt/notesSlides/notesSlide17.xml" Id="R1388e6aec96c4c6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8cbe8f8e6bc4b7e" /><Relationship Type="http://schemas.openxmlformats.org/officeDocument/2006/relationships/notesSlide" Target="/ppt/notesSlides/notesSlide18.xml" Id="R63370d4f6aea499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01834ef5aca46a8" /><Relationship Type="http://schemas.openxmlformats.org/officeDocument/2006/relationships/notesSlide" Target="/ppt/notesSlides/notesSlide19.xml" Id="R4024bc2873d44c8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Median assistant turns</c:v>
          </c:tx>
          <c:spPr>
            <a:solidFill xmlns:a="http://schemas.openxmlformats.org/drawingml/2006/main">
              <a:srgbClr val="007B78"/>
            </a:solidFill>
          </c:spPr>
          <c:cat>
            <c:strRef>
              <c:f>'Chart Data'!$A$2:$A$12</c:f>
              <c:strCache>
                <c:ptCount val="11"/>
                <c:pt idx="0">
                  <c:v>Burn ONNX runtime weights</c:v>
                </c:pt>
                <c:pt idx="1">
                  <c:v>Zenoh timestamps v3</c:v>
                </c:pt>
                <c:pt idx="2">
                  <c:v>Foxglove parameter handler</c:v>
                </c:pt>
                <c:pt idx="3">
                  <c:v>rosbag2 mixed playback</c:v>
                </c:pt>
                <c:pt idx="4">
                  <c:v>Burn checkpoint reader v4</c:v>
                </c:pt>
                <c:pt idx="5">
                  <c:v>Rerun chunk optimizer</c:v>
                </c:pt>
                <c:pt idx="6">
                  <c:v>Zenoh C++ connectivity</c:v>
                </c:pt>
                <c:pt idx="7">
                  <c:v>Zarr value codecs</c:v>
                </c:pt>
                <c:pt idx="8">
                  <c:v>Diskcache resharding v2</c:v>
                </c:pt>
                <c:pt idx="9">
                  <c:v>Luigi generation target</c:v>
                </c:pt>
                <c:pt idx="10">
                  <c:v>Rosbags storage writers</c:v>
                </c:pt>
              </c:strCache>
            </c:strRef>
          </c:cat>
          <c:val>
            <c:numRef>
              <c:f>'Chart Data'!$B$2:$B$12</c:f>
              <c:numCache>
                <c:formatCode>General</c:formatCode>
                <c:ptCount val="11"/>
                <c:pt idx="0">
                  <c:v>225</c:v>
                </c:pt>
                <c:pt idx="1">
                  <c:v>216.5</c:v>
                </c:pt>
                <c:pt idx="2">
                  <c:v>163</c:v>
                </c:pt>
                <c:pt idx="3">
                  <c:v>154</c:v>
                </c:pt>
                <c:pt idx="4">
                  <c:v>144</c:v>
                </c:pt>
                <c:pt idx="5">
                  <c:v>119</c:v>
                </c:pt>
                <c:pt idx="6">
                  <c:v>106</c:v>
                </c:pt>
                <c:pt idx="7">
                  <c:v>100.5</c:v>
                </c:pt>
                <c:pt idx="8">
                  <c:v>93.5</c:v>
                </c:pt>
                <c:pt idx="9">
                  <c:v>52</c:v>
                </c:pt>
                <c:pt idx="10">
                  <c:v>44</c:v>
                </c:pt>
              </c:numCache>
            </c:numRef>
          </c:val>
        </c:ser>
        <c:dLbls>
          <c:txPr>
            <a:bodyPr xmlns:a="http://schemas.openxmlformats.org/drawingml/2006/main" anchorCtr="1"/>
            <a:lstStyle xmlns:a="http://schemas.openxmlformats.org/drawingml/2006/main"/>
            <a:p xmlns:a="http://schemas.openxmlformats.org/drawingml/2006/main">
              <a:pPr>
                <a:defRPr sz="1350">
                  <a:solidFill>
                    <a:srgbClr val="142F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F3A"/>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AD9DC"/>
            </a:solidFill>
          </a:ln>
        </c:spPr>
        <c:txPr>
          <a:bodyPr xmlns:a="http://schemas.openxmlformats.org/drawingml/2006/main" anchorCtr="1"/>
          <a:lstStyle xmlns:a="http://schemas.openxmlformats.org/drawingml/2006/main"/>
          <a:p xmlns:a="http://schemas.openxmlformats.org/drawingml/2006/main">
            <a:pPr>
              <a:defRPr sz="1350">
                <a:solidFill>
                  <a:srgbClr val="142F3A"/>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2C4AD52-7B1A-46BC-9C1C-C6FC7F15695F}"/>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Executive summary</a:t>
            </a:r>
          </a:p>
        </p:txBody>
      </p:sp>
      <p:sp>
        <p:nvSpPr>
          <p:cNvPr id="2" name="">
            <a:extLst xmlns:a="http://schemas.openxmlformats.org/drawingml/2006/main">
              <a:ext uri="{FF2B5EF4-FFF2-40B4-BE49-F238E27FC236}">
                <a16:creationId xmlns:a16="http://schemas.microsoft.com/office/drawing/2014/main" id="{73759211-A4C0-42EF-8067-EDDA53B41B5C}"/>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49E4D79-922C-4291-B642-3032E6CBEF26}"/>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4" name="">
            <a:extLst xmlns:a="http://schemas.openxmlformats.org/drawingml/2006/main">
              <a:ext uri="{FF2B5EF4-FFF2-40B4-BE49-F238E27FC236}">
                <a16:creationId xmlns:a16="http://schemas.microsoft.com/office/drawing/2014/main" id="{1A46BB0B-C860-4934-9CC2-87689F18D1AE}"/>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289F1937-BC7D-4773-9B98-09ED3018842B}"/>
              </a:ext>
            </a:extLst>
          </p:cNvPr>
          <p:cNvSpPr>
            <a:spLocks xmlns:a="http://schemas.openxmlformats.org/drawingml/2006/main" noGrp="1"/>
          </p:cNvSpPr>
          <p:nvPr/>
        </p:nvSpPr>
        <p:spPr>
          <a:xfrm xmlns:a="http://schemas.openxmlformats.org/drawingml/2006/main">
            <a:off x="647700" y="1581150"/>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Recommend Rerun, Zenoh timestamps</a:t>
            </a:r>
          </a:p>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and Burn checkpoint reader</a:t>
            </a:r>
          </a:p>
        </p:txBody>
      </p:sp>
      <p:sp>
        <p:nvSpPr>
          <p:cNvPr id="6" name="">
            <a:extLst xmlns:a="http://schemas.openxmlformats.org/drawingml/2006/main">
              <a:ext uri="{FF2B5EF4-FFF2-40B4-BE49-F238E27FC236}">
                <a16:creationId xmlns:a16="http://schemas.microsoft.com/office/drawing/2014/main" id="{5F900AAB-720A-43E5-9694-9FD9EEA11BC3}"/>
              </a:ext>
            </a:extLst>
          </p:cNvPr>
          <p:cNvSpPr>
            <a:spLocks xmlns:a="http://schemas.openxmlformats.org/drawingml/2006/main" noGrp="1"/>
          </p:cNvSpPr>
          <p:nvPr/>
        </p:nvSpPr>
        <p:spPr>
          <a:xfrm xmlns:a="http://schemas.openxmlformats.org/drawingml/2006/main">
            <a:off x="647700" y="2543175"/>
            <a:ext cx="1089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F3A"/>
                </a:solidFill>
                <a:latin typeface="Helvetica Neue"/>
                <a:ea typeface="Helvetica Neue"/>
                <a:cs typeface="Helvetica Neue"/>
              </a:defRPr>
            </a:pPr>
            <a:r>
              <a:rPr sz="2025" b="0">
                <a:solidFill>
                  <a:srgbClr val="142F3A"/>
                </a:solidFill>
                <a:latin typeface="Helvetica Neue"/>
                <a:ea typeface="Helvetica Neue"/>
                <a:cs typeface="Helvetica Neue"/>
              </a:rPr>
              <a:t>11 tasks × 3 models × 3 efforts = 99 first counted results</a:t>
            </a:r>
          </a:p>
        </p:txBody>
      </p:sp>
      <p:sp>
        <p:nvSpPr>
          <p:cNvPr id="7" name="">
            <a:extLst xmlns:a="http://schemas.openxmlformats.org/drawingml/2006/main">
              <a:ext uri="{FF2B5EF4-FFF2-40B4-BE49-F238E27FC236}">
                <a16:creationId xmlns:a16="http://schemas.microsoft.com/office/drawing/2014/main" id="{5506E097-FB5A-4B17-AA10-22B41A61226B}"/>
              </a:ext>
            </a:extLst>
          </p:cNvPr>
          <p:cNvSpPr>
            <a:spLocks xmlns:a="http://schemas.openxmlformats.org/drawingml/2006/main" noGrp="1"/>
          </p:cNvSpPr>
          <p:nvPr/>
        </p:nvSpPr>
        <p:spPr>
          <a:xfrm xmlns:a="http://schemas.openxmlformats.org/drawingml/2006/main">
            <a:off x="647700" y="3028950"/>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F3A"/>
                </a:solidFill>
                <a:latin typeface="Helvetica Neue"/>
                <a:ea typeface="Helvetica Neue"/>
                <a:cs typeface="Helvetica Neue"/>
              </a:defRPr>
            </a:pPr>
            <a:r>
              <a:rPr sz="2025" b="0">
                <a:solidFill>
                  <a:srgbClr val="142F3A"/>
                </a:solidFill>
                <a:latin typeface="Helvetica Neue"/>
                <a:ea typeface="Helvetica Neue"/>
                <a:cs typeface="Helvetica Neue"/>
              </a:rPr>
              <a:t>76 passed. 64 of 76 successful attempts exceeded 75 assistant turns.</a:t>
            </a:r>
          </a:p>
        </p:txBody>
      </p:sp>
      <p:sp>
        <p:nvSpPr>
          <p:cNvPr id="8" name="">
            <a:extLst xmlns:a="http://schemas.openxmlformats.org/drawingml/2006/main">
              <a:ext uri="{FF2B5EF4-FFF2-40B4-BE49-F238E27FC236}">
                <a16:creationId xmlns:a16="http://schemas.microsoft.com/office/drawing/2014/main" id="{A038B4DC-4CB0-4660-B469-1AECCDD8324D}"/>
              </a:ext>
            </a:extLst>
          </p:cNvPr>
          <p:cNvSpPr>
            <a:spLocks xmlns:a="http://schemas.openxmlformats.org/drawingml/2006/main" noGrp="1"/>
          </p:cNvSpPr>
          <p:nvPr/>
        </p:nvSpPr>
        <p:spPr>
          <a:xfrm xmlns:a="http://schemas.openxmlformats.org/drawingml/2006/main">
            <a:off x="647700" y="3695700"/>
            <a:ext cx="1089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F3A"/>
                </a:solidFill>
                <a:latin typeface="Helvetica Neue"/>
                <a:ea typeface="Helvetica Neue"/>
                <a:cs typeface="Helvetica Neue"/>
              </a:defRPr>
            </a:pPr>
            <a:r>
              <a:rPr sz="1800" b="0">
                <a:solidFill>
                  <a:srgbClr val="142F3A"/>
                </a:solidFill>
                <a:latin typeface="Helvetica Neue"/>
                <a:ea typeface="Helvetica Neue"/>
                <a:cs typeface="Helvetica Neue"/>
              </a:rPr>
              <a:t>On the three samples, Fable and Opus passed 18/18. Sonnet passed 5/9.</a:t>
            </a:r>
          </a:p>
        </p:txBody>
      </p:sp>
      <p:sp>
        <p:nvSpPr>
          <p:cNvPr id="9" name="">
            <a:extLst xmlns:a="http://schemas.openxmlformats.org/drawingml/2006/main">
              <a:ext uri="{FF2B5EF4-FFF2-40B4-BE49-F238E27FC236}">
                <a16:creationId xmlns:a16="http://schemas.microsoft.com/office/drawing/2014/main" id="{958D46AE-F2A0-434D-A639-55EF2210C3A4}"/>
              </a:ext>
            </a:extLst>
          </p:cNvPr>
          <p:cNvSpPr>
            <a:spLocks xmlns:a="http://schemas.openxmlformats.org/drawingml/2006/main" noGrp="1"/>
          </p:cNvSpPr>
          <p:nvPr/>
        </p:nvSpPr>
        <p:spPr>
          <a:xfrm xmlns:a="http://schemas.openxmlformats.org/drawingml/2006/main">
            <a:off x="647700" y="4162425"/>
            <a:ext cx="10896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D6520"/>
                </a:solidFill>
                <a:latin typeface="Helvetica Neue"/>
                <a:ea typeface="Helvetica Neue"/>
                <a:cs typeface="Helvetica Neue"/>
              </a:defRPr>
            </a:pPr>
            <a:r>
              <a:rPr sz="1800" b="0">
                <a:solidFill>
                  <a:srgbClr val="AD6520"/>
                </a:solidFill>
                <a:latin typeface="Helvetica Neue"/>
                <a:ea typeface="Helvetica Neue"/>
                <a:cs typeface="Helvetica Neue"/>
              </a:rPr>
              <a:t>Counted failures include service interruptions.</a:t>
            </a:r>
          </a:p>
        </p:txBody>
      </p:sp>
      <p:sp>
        <p:nvSpPr>
          <p:cNvPr id="10" name="">
            <a:extLst xmlns:a="http://schemas.openxmlformats.org/drawingml/2006/main">
              <a:ext uri="{FF2B5EF4-FFF2-40B4-BE49-F238E27FC236}">
                <a16:creationId xmlns:a16="http://schemas.microsoft.com/office/drawing/2014/main" id="{850668B6-C70D-489C-A4F2-BBE7ACA0D1DF}"/>
              </a:ext>
            </a:extLst>
          </p:cNvPr>
          <p:cNvSpPr>
            <a:spLocks xmlns:a="http://schemas.openxmlformats.org/drawingml/2006/main" noGrp="1"/>
          </p:cNvSpPr>
          <p:nvPr/>
        </p:nvSpPr>
        <p:spPr>
          <a:xfrm xmlns:a="http://schemas.openxmlformats.org/drawingml/2006/main">
            <a:off x="647700" y="459105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In audited Rerun and Zenoh attempts, agents passed their own checks but missed required chunk layouts or public types.</a:t>
            </a:r>
          </a:p>
        </p:txBody>
      </p:sp>
      <p:sp>
        <p:nvSpPr>
          <p:cNvPr id="11" name="">
            <a:extLst xmlns:a="http://schemas.openxmlformats.org/drawingml/2006/main">
              <a:ext uri="{FF2B5EF4-FFF2-40B4-BE49-F238E27FC236}">
                <a16:creationId xmlns:a16="http://schemas.microsoft.com/office/drawing/2014/main" id="{0A7B71F1-1BEF-4965-926E-D210700BA8A7}"/>
              </a:ext>
            </a:extLst>
          </p:cNvPr>
          <p:cNvSpPr>
            <a:spLocks xmlns:a="http://schemas.openxmlformats.org/drawingml/2006/main" noGrp="1"/>
          </p:cNvSpPr>
          <p:nvPr/>
        </p:nvSpPr>
        <p:spPr>
          <a:xfrm xmlns:a="http://schemas.openxmlformats.org/drawingml/2006/main">
            <a:off x="647700" y="548640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C75"/>
                </a:solidFill>
                <a:latin typeface="Helvetica Neue"/>
                <a:ea typeface="Helvetica Neue"/>
                <a:cs typeface="Helvetica Neue"/>
              </a:defRPr>
            </a:pPr>
            <a:r>
              <a:rPr sz="1950" b="0">
                <a:solidFill>
                  <a:srgbClr val="536C75"/>
                </a:solidFill>
                <a:latin typeface="Helvetica Neue"/>
                <a:ea typeface="Helvetica Neue"/>
                <a:cs typeface="Helvetica Neue"/>
              </a:rPr>
              <a:t>We recommend a pilot. We need repeated trials to estimate pass rates and compare models.</a:t>
            </a:r>
          </a:p>
        </p:txBody>
      </p:sp>
    </p:spTree>
    <p:extLst>
      <p:ext uri="{BB962C8B-B14F-4D97-AF65-F5344CB8AC3E}">
        <p14:creationId xmlns:p14="http://schemas.microsoft.com/office/powerpoint/2010/main" val="5968317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9A4F1CC-9DF1-4637-98E3-E717306549DB}"/>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Software integration across modules</a:t>
            </a:r>
          </a:p>
        </p:txBody>
      </p:sp>
      <p:sp>
        <p:nvSpPr>
          <p:cNvPr id="2" name="">
            <a:extLst xmlns:a="http://schemas.openxmlformats.org/drawingml/2006/main">
              <a:ext uri="{FF2B5EF4-FFF2-40B4-BE49-F238E27FC236}">
                <a16:creationId xmlns:a16="http://schemas.microsoft.com/office/drawing/2014/main" id="{9F94A5D7-4F4C-49C9-99ED-21DEB37F990B}"/>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11 completed task cohorts across C++, Rust and Python</a:t>
            </a:r>
          </a:p>
        </p:txBody>
      </p:sp>
      <p:sp>
        <p:nvSpPr>
          <p:cNvPr id="3" name="">
            <a:extLst xmlns:a="http://schemas.openxmlformats.org/drawingml/2006/main">
              <a:ext uri="{FF2B5EF4-FFF2-40B4-BE49-F238E27FC236}">
                <a16:creationId xmlns:a16="http://schemas.microsoft.com/office/drawing/2014/main" id="{7D29CC30-4809-4E1D-AA4A-1F74020E56C6}"/>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84AAEBB-2BD9-4FE9-81D0-4DE97F387746}"/>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6599CD86-DCC6-4FC2-BAE2-EF7AEA94D6AA}"/>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4C3EF070-168B-4FF9-AD4A-96ED3E6B1717}"/>
              </a:ext>
            </a:extLst>
          </p:cNvPr>
          <p:cNvSpPr>
            <a:spLocks xmlns:a="http://schemas.openxmlformats.org/drawingml/2006/main" noGrp="1"/>
          </p:cNvSpPr>
          <p:nvPr/>
        </p:nvSpPr>
        <p:spPr>
          <a:xfrm xmlns:a="http://schemas.openxmlformats.org/drawingml/2006/main">
            <a:off x="647700" y="2152650"/>
            <a:ext cx="10572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F3A"/>
                </a:solidFill>
                <a:latin typeface="Helvetica Neue"/>
                <a:ea typeface="Helvetica Neue"/>
                <a:cs typeface="Helvetica Neue"/>
              </a:defRPr>
            </a:pPr>
            <a:r>
              <a:rPr sz="2850" b="1">
                <a:solidFill>
                  <a:srgbClr val="142F3A"/>
                </a:solidFill>
                <a:latin typeface="Helvetica Neue"/>
                <a:ea typeface="Helvetica Neue"/>
                <a:cs typeface="Helvetica Neue"/>
              </a:rPr>
              <a:t>Implementing features across APIs,</a:t>
            </a:r>
          </a:p>
          <a:p xmlns:a="http://schemas.openxmlformats.org/drawingml/2006/main">
            <a:pPr>
              <a:defRPr sz="2850" b="1">
                <a:solidFill>
                  <a:srgbClr val="142F3A"/>
                </a:solidFill>
                <a:latin typeface="Helvetica Neue"/>
                <a:ea typeface="Helvetica Neue"/>
                <a:cs typeface="Helvetica Neue"/>
              </a:defRPr>
            </a:pPr>
            <a:r>
              <a:rPr sz="2850" b="1">
                <a:solidFill>
                  <a:srgbClr val="142F3A"/>
                </a:solidFill>
                <a:latin typeface="Helvetica Neue"/>
                <a:ea typeface="Helvetica Neue"/>
                <a:cs typeface="Helvetica Neue"/>
              </a:rPr>
              <a:t>data formats and storage systems</a:t>
            </a:r>
          </a:p>
        </p:txBody>
      </p:sp>
      <p:sp>
        <p:nvSpPr>
          <p:cNvPr id="7" name="">
            <a:extLst xmlns:a="http://schemas.openxmlformats.org/drawingml/2006/main">
              <a:ext uri="{FF2B5EF4-FFF2-40B4-BE49-F238E27FC236}">
                <a16:creationId xmlns:a16="http://schemas.microsoft.com/office/drawing/2014/main" id="{74B4F793-87CB-40FD-B786-5C8432276BAD}"/>
              </a:ext>
            </a:extLst>
          </p:cNvPr>
          <p:cNvSpPr>
            <a:spLocks xmlns:a="http://schemas.openxmlformats.org/drawingml/2006/main" noGrp="1"/>
          </p:cNvSpPr>
          <p:nvPr/>
        </p:nvSpPr>
        <p:spPr>
          <a:xfrm xmlns:a="http://schemas.openxmlformats.org/drawingml/2006/main">
            <a:off x="647700" y="4086225"/>
            <a:ext cx="342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07B78"/>
                </a:solidFill>
                <a:latin typeface="Helvetica Neue"/>
                <a:ea typeface="Helvetica Neue"/>
                <a:cs typeface="Helvetica Neue"/>
              </a:defRPr>
            </a:pPr>
            <a:r>
              <a:rPr sz="4650" b="1">
                <a:solidFill>
                  <a:srgbClr val="007B78"/>
                </a:solidFill>
                <a:latin typeface="Helvetica Neue"/>
                <a:ea typeface="Helvetica Neue"/>
                <a:cs typeface="Helvetica Neue"/>
              </a:rPr>
              <a:t>99/99</a:t>
            </a:r>
          </a:p>
        </p:txBody>
      </p:sp>
      <p:sp>
        <p:nvSpPr>
          <p:cNvPr id="8" name="">
            <a:extLst xmlns:a="http://schemas.openxmlformats.org/drawingml/2006/main">
              <a:ext uri="{FF2B5EF4-FFF2-40B4-BE49-F238E27FC236}">
                <a16:creationId xmlns:a16="http://schemas.microsoft.com/office/drawing/2014/main" id="{FC1FD8DC-4539-485C-93F1-2EAA7D52ECA0}"/>
              </a:ext>
            </a:extLst>
          </p:cNvPr>
          <p:cNvSpPr>
            <a:spLocks xmlns:a="http://schemas.openxmlformats.org/drawingml/2006/main" noGrp="1"/>
          </p:cNvSpPr>
          <p:nvPr/>
        </p:nvSpPr>
        <p:spPr>
          <a:xfrm xmlns:a="http://schemas.openxmlformats.org/drawingml/2006/main">
            <a:off x="647700" y="50482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C75"/>
                </a:solidFill>
                <a:latin typeface="Helvetica Neue"/>
                <a:ea typeface="Helvetica Neue"/>
                <a:cs typeface="Helvetica Neue"/>
              </a:defRPr>
            </a:pPr>
            <a:r>
              <a:rPr sz="1800" b="0">
                <a:solidFill>
                  <a:srgbClr val="536C75"/>
                </a:solidFill>
                <a:latin typeface="Helvetica Neue"/>
                <a:ea typeface="Helvetica Neue"/>
                <a:cs typeface="Helvetica Neue"/>
              </a:rPr>
              <a:t>combinations with counted results</a:t>
            </a:r>
          </a:p>
        </p:txBody>
      </p:sp>
      <p:sp>
        <p:nvSpPr>
          <p:cNvPr id="9" name="">
            <a:extLst xmlns:a="http://schemas.openxmlformats.org/drawingml/2006/main">
              <a:ext uri="{FF2B5EF4-FFF2-40B4-BE49-F238E27FC236}">
                <a16:creationId xmlns:a16="http://schemas.microsoft.com/office/drawing/2014/main" id="{27A5F15D-8F11-4621-8E0D-49EE9833D586}"/>
              </a:ext>
            </a:extLst>
          </p:cNvPr>
          <p:cNvSpPr>
            <a:spLocks xmlns:a="http://schemas.openxmlformats.org/drawingml/2006/main" noGrp="1"/>
          </p:cNvSpPr>
          <p:nvPr/>
        </p:nvSpPr>
        <p:spPr>
          <a:xfrm xmlns:a="http://schemas.openxmlformats.org/drawingml/2006/main">
            <a:off x="4362450" y="4086225"/>
            <a:ext cx="342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07B78"/>
                </a:solidFill>
                <a:latin typeface="Helvetica Neue"/>
                <a:ea typeface="Helvetica Neue"/>
                <a:cs typeface="Helvetica Neue"/>
              </a:defRPr>
            </a:pPr>
            <a:r>
              <a:rPr sz="4650" b="1">
                <a:solidFill>
                  <a:srgbClr val="007B78"/>
                </a:solidFill>
                <a:latin typeface="Helvetica Neue"/>
                <a:ea typeface="Helvetica Neue"/>
                <a:cs typeface="Helvetica Neue"/>
              </a:rPr>
              <a:t>64/76</a:t>
            </a:r>
          </a:p>
        </p:txBody>
      </p:sp>
      <p:sp>
        <p:nvSpPr>
          <p:cNvPr id="10" name="">
            <a:extLst xmlns:a="http://schemas.openxmlformats.org/drawingml/2006/main">
              <a:ext uri="{FF2B5EF4-FFF2-40B4-BE49-F238E27FC236}">
                <a16:creationId xmlns:a16="http://schemas.microsoft.com/office/drawing/2014/main" id="{C29CC71F-0776-41C6-A5EA-0EE398C1AF6D}"/>
              </a:ext>
            </a:extLst>
          </p:cNvPr>
          <p:cNvSpPr>
            <a:spLocks xmlns:a="http://schemas.openxmlformats.org/drawingml/2006/main" noGrp="1"/>
          </p:cNvSpPr>
          <p:nvPr/>
        </p:nvSpPr>
        <p:spPr>
          <a:xfrm xmlns:a="http://schemas.openxmlformats.org/drawingml/2006/main">
            <a:off x="4362450" y="50482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C75"/>
                </a:solidFill>
                <a:latin typeface="Helvetica Neue"/>
                <a:ea typeface="Helvetica Neue"/>
                <a:cs typeface="Helvetica Neue"/>
              </a:defRPr>
            </a:pPr>
            <a:r>
              <a:rPr sz="1800" b="0">
                <a:solidFill>
                  <a:srgbClr val="536C75"/>
                </a:solidFill>
                <a:latin typeface="Helvetica Neue"/>
                <a:ea typeface="Helvetica Neue"/>
                <a:cs typeface="Helvetica Neue"/>
              </a:rPr>
              <a:t>successful trials above 75 assistant turns</a:t>
            </a:r>
          </a:p>
        </p:txBody>
      </p:sp>
      <p:sp>
        <p:nvSpPr>
          <p:cNvPr id="11" name="">
            <a:extLst xmlns:a="http://schemas.openxmlformats.org/drawingml/2006/main">
              <a:ext uri="{FF2B5EF4-FFF2-40B4-BE49-F238E27FC236}">
                <a16:creationId xmlns:a16="http://schemas.microsoft.com/office/drawing/2014/main" id="{DC646DF2-6C7D-4DA9-B159-1C87C910C7E9}"/>
              </a:ext>
            </a:extLst>
          </p:cNvPr>
          <p:cNvSpPr>
            <a:spLocks xmlns:a="http://schemas.openxmlformats.org/drawingml/2006/main" noGrp="1"/>
          </p:cNvSpPr>
          <p:nvPr/>
        </p:nvSpPr>
        <p:spPr>
          <a:xfrm xmlns:a="http://schemas.openxmlformats.org/drawingml/2006/main">
            <a:off x="8077200" y="4086225"/>
            <a:ext cx="342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07B78"/>
                </a:solidFill>
                <a:latin typeface="Helvetica Neue"/>
                <a:ea typeface="Helvetica Neue"/>
                <a:cs typeface="Helvetica Neue"/>
              </a:defRPr>
            </a:pPr>
            <a:r>
              <a:rPr sz="4650" b="1">
                <a:solidFill>
                  <a:srgbClr val="007B78"/>
                </a:solidFill>
                <a:latin typeface="Helvetica Neue"/>
                <a:ea typeface="Helvetica Neue"/>
                <a:cs typeface="Helvetica Neue"/>
              </a:rPr>
              <a:t>11</a:t>
            </a:r>
          </a:p>
        </p:txBody>
      </p:sp>
      <p:sp>
        <p:nvSpPr>
          <p:cNvPr id="12" name="">
            <a:extLst xmlns:a="http://schemas.openxmlformats.org/drawingml/2006/main">
              <a:ext uri="{FF2B5EF4-FFF2-40B4-BE49-F238E27FC236}">
                <a16:creationId xmlns:a16="http://schemas.microsoft.com/office/drawing/2014/main" id="{6AD3CC8C-D0AF-4124-9FE6-C469860C474F}"/>
              </a:ext>
            </a:extLst>
          </p:cNvPr>
          <p:cNvSpPr>
            <a:spLocks xmlns:a="http://schemas.openxmlformats.org/drawingml/2006/main" noGrp="1"/>
          </p:cNvSpPr>
          <p:nvPr/>
        </p:nvSpPr>
        <p:spPr>
          <a:xfrm xmlns:a="http://schemas.openxmlformats.org/drawingml/2006/main">
            <a:off x="8077200" y="50482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C75"/>
                </a:solidFill>
                <a:latin typeface="Helvetica Neue"/>
                <a:ea typeface="Helvetica Neue"/>
                <a:cs typeface="Helvetica Neue"/>
              </a:defRPr>
            </a:pPr>
            <a:r>
              <a:rPr sz="1800" b="0">
                <a:solidFill>
                  <a:srgbClr val="536C75"/>
                </a:solidFill>
                <a:latin typeface="Helvetica Neue"/>
                <a:ea typeface="Helvetica Neue"/>
                <a:cs typeface="Helvetica Neue"/>
              </a:rPr>
              <a:t>evaluated tasks, with three detailed cases</a:t>
            </a:r>
          </a:p>
        </p:txBody>
      </p:sp>
    </p:spTree>
    <p:extLst>
      <p:ext uri="{BB962C8B-B14F-4D97-AF65-F5344CB8AC3E}">
        <p14:creationId xmlns:p14="http://schemas.microsoft.com/office/powerpoint/2010/main" val="1177566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C02DE86-0541-4994-B3E6-F2C46FAF0FF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Feature requirements across three languages</a:t>
            </a:r>
          </a:p>
        </p:txBody>
      </p:sp>
      <p:sp>
        <p:nvSpPr>
          <p:cNvPr id="2" name="">
            <a:extLst xmlns:a="http://schemas.openxmlformats.org/drawingml/2006/main">
              <a:ext uri="{FF2B5EF4-FFF2-40B4-BE49-F238E27FC236}">
                <a16:creationId xmlns:a16="http://schemas.microsoft.com/office/drawing/2014/main" id="{3F9572BF-404F-4D36-B566-345DC7903089}"/>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7489E94-44AD-41D0-A54E-84F31D360C1D}"/>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4" name="">
            <a:extLst xmlns:a="http://schemas.openxmlformats.org/drawingml/2006/main">
              <a:ext uri="{FF2B5EF4-FFF2-40B4-BE49-F238E27FC236}">
                <a16:creationId xmlns:a16="http://schemas.microsoft.com/office/drawing/2014/main" id="{4CB7D564-28A9-4F29-85D5-8E0DC6E62921}"/>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3</a:t>
            </a:r>
          </a:p>
        </p:txBody>
      </p:sp>
      <p:sp>
        <p:nvSpPr>
          <p:cNvPr id="5" name="">
            <a:extLst xmlns:a="http://schemas.openxmlformats.org/drawingml/2006/main">
              <a:ext uri="{FF2B5EF4-FFF2-40B4-BE49-F238E27FC236}">
                <a16:creationId xmlns:a16="http://schemas.microsoft.com/office/drawing/2014/main" id="{87788655-4C30-4C08-8C83-DBDA8CB1C5BB}"/>
              </a:ext>
            </a:extLst>
          </p:cNvPr>
          <p:cNvSpPr>
            <a:spLocks xmlns:a="http://schemas.openxmlformats.org/drawingml/2006/main" noGrp="1"/>
          </p:cNvSpPr>
          <p:nvPr/>
        </p:nvSpPr>
        <p:spPr>
          <a:xfrm xmlns:a="http://schemas.openxmlformats.org/drawingml/2006/main">
            <a:off x="647700" y="18669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C++</a:t>
            </a:r>
          </a:p>
        </p:txBody>
      </p:sp>
      <p:sp>
        <p:nvSpPr>
          <p:cNvPr id="6" name="">
            <a:extLst xmlns:a="http://schemas.openxmlformats.org/drawingml/2006/main">
              <a:ext uri="{FF2B5EF4-FFF2-40B4-BE49-F238E27FC236}">
                <a16:creationId xmlns:a16="http://schemas.microsoft.com/office/drawing/2014/main" id="{DA013ED1-762E-49FA-BF62-FA3C748D2F48}"/>
              </a:ext>
            </a:extLst>
          </p:cNvPr>
          <p:cNvSpPr>
            <a:spLocks xmlns:a="http://schemas.openxmlformats.org/drawingml/2006/main" noGrp="1"/>
          </p:cNvSpPr>
          <p:nvPr/>
        </p:nvSpPr>
        <p:spPr>
          <a:xfrm xmlns:a="http://schemas.openxmlformats.org/drawingml/2006/main">
            <a:off x="647700" y="2390775"/>
            <a:ext cx="333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Extend callback, playback and connectivity APIs while preserving compatibility and observable behavior.</a:t>
            </a:r>
          </a:p>
        </p:txBody>
      </p:sp>
      <p:sp>
        <p:nvSpPr>
          <p:cNvPr id="7" name="">
            <a:extLst xmlns:a="http://schemas.openxmlformats.org/drawingml/2006/main">
              <a:ext uri="{FF2B5EF4-FFF2-40B4-BE49-F238E27FC236}">
                <a16:creationId xmlns:a16="http://schemas.microsoft.com/office/drawing/2014/main" id="{1718BC65-1F3A-45D8-BA4A-262EC901DCDC}"/>
              </a:ext>
            </a:extLst>
          </p:cNvPr>
          <p:cNvSpPr>
            <a:spLocks xmlns:a="http://schemas.openxmlformats.org/drawingml/2006/main" noGrp="1"/>
          </p:cNvSpPr>
          <p:nvPr/>
        </p:nvSpPr>
        <p:spPr>
          <a:xfrm xmlns:a="http://schemas.openxmlformats.org/drawingml/2006/main">
            <a:off x="4429125" y="18669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Python</a:t>
            </a:r>
          </a:p>
        </p:txBody>
      </p:sp>
      <p:sp>
        <p:nvSpPr>
          <p:cNvPr id="8" name="">
            <a:extLst xmlns:a="http://schemas.openxmlformats.org/drawingml/2006/main">
              <a:ext uri="{FF2B5EF4-FFF2-40B4-BE49-F238E27FC236}">
                <a16:creationId xmlns:a16="http://schemas.microsoft.com/office/drawing/2014/main" id="{21D4FEC5-6D3E-4DE7-A4AD-86BB17708B7E}"/>
              </a:ext>
            </a:extLst>
          </p:cNvPr>
          <p:cNvSpPr>
            <a:spLocks xmlns:a="http://schemas.openxmlformats.org/drawingml/2006/main" noGrp="1"/>
          </p:cNvSpPr>
          <p:nvPr/>
        </p:nvSpPr>
        <p:spPr>
          <a:xfrm xmlns:a="http://schemas.openxmlformats.org/drawingml/2006/main">
            <a:off x="4429125" y="2390775"/>
            <a:ext cx="333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Implement storage writers, codecs and persistence features with explicit recovery and representation contracts.</a:t>
            </a:r>
          </a:p>
        </p:txBody>
      </p:sp>
      <p:sp>
        <p:nvSpPr>
          <p:cNvPr id="9" name="">
            <a:extLst xmlns:a="http://schemas.openxmlformats.org/drawingml/2006/main">
              <a:ext uri="{FF2B5EF4-FFF2-40B4-BE49-F238E27FC236}">
                <a16:creationId xmlns:a16="http://schemas.microsoft.com/office/drawing/2014/main" id="{A4F371B2-B86F-4956-BE03-49CCC79DA9AF}"/>
              </a:ext>
            </a:extLst>
          </p:cNvPr>
          <p:cNvSpPr>
            <a:spLocks xmlns:a="http://schemas.openxmlformats.org/drawingml/2006/main" noGrp="1"/>
          </p:cNvSpPr>
          <p:nvPr/>
        </p:nvSpPr>
        <p:spPr>
          <a:xfrm xmlns:a="http://schemas.openxmlformats.org/drawingml/2006/main">
            <a:off x="8220075" y="18669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Rust</a:t>
            </a:r>
          </a:p>
        </p:txBody>
      </p:sp>
      <p:sp>
        <p:nvSpPr>
          <p:cNvPr id="10" name="">
            <a:extLst xmlns:a="http://schemas.openxmlformats.org/drawingml/2006/main">
              <a:ext uri="{FF2B5EF4-FFF2-40B4-BE49-F238E27FC236}">
                <a16:creationId xmlns:a16="http://schemas.microsoft.com/office/drawing/2014/main" id="{91088151-8A41-4A10-87BA-FE646CB0C9D0}"/>
              </a:ext>
            </a:extLst>
          </p:cNvPr>
          <p:cNvSpPr>
            <a:spLocks xmlns:a="http://schemas.openxmlformats.org/drawingml/2006/main" noGrp="1"/>
          </p:cNvSpPr>
          <p:nvPr/>
        </p:nvSpPr>
        <p:spPr>
          <a:xfrm xmlns:a="http://schemas.openxmlformats.org/drawingml/2006/main">
            <a:off x="8220075" y="2390775"/>
            <a:ext cx="333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Integrate checkpoint readers, runtime weights, streaming layouts and timestamp metadata across modules.</a:t>
            </a:r>
          </a:p>
        </p:txBody>
      </p:sp>
      <p:sp>
        <p:nvSpPr>
          <p:cNvPr id="11" name="">
            <a:extLst xmlns:a="http://schemas.openxmlformats.org/drawingml/2006/main">
              <a:ext uri="{FF2B5EF4-FFF2-40B4-BE49-F238E27FC236}">
                <a16:creationId xmlns:a16="http://schemas.microsoft.com/office/drawing/2014/main" id="{EB92BEAD-5531-440C-8031-55D7BAFE7101}"/>
              </a:ext>
            </a:extLst>
          </p:cNvPr>
          <p:cNvSpPr>
            <a:spLocks xmlns:a="http://schemas.openxmlformats.org/drawingml/2006/main" noGrp="1"/>
          </p:cNvSpPr>
          <p:nvPr/>
        </p:nvSpPr>
        <p:spPr>
          <a:xfrm xmlns:a="http://schemas.openxmlformats.org/drawingml/2006/main">
            <a:off x="647700" y="4743450"/>
            <a:ext cx="10896600" cy="19050"/>
          </a:xfrm>
          <a:prstGeom xmlns:a="http://schemas.openxmlformats.org/drawingml/2006/main" prst="rect">
            <a:avLst/>
          </a:prstGeom>
          <a:solidFill xmlns:a="http://schemas.openxmlformats.org/drawingml/2006/main">
            <a:srgbClr val="007B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2E6C2DF-A631-47CF-ACFB-1452C0B8AEA6}"/>
              </a:ext>
            </a:extLst>
          </p:cNvPr>
          <p:cNvSpPr>
            <a:spLocks xmlns:a="http://schemas.openxmlformats.org/drawingml/2006/main" noGrp="1"/>
          </p:cNvSpPr>
          <p:nvPr/>
        </p:nvSpPr>
        <p:spPr>
          <a:xfrm xmlns:a="http://schemas.openxmlformats.org/drawingml/2006/main">
            <a:off x="647700" y="50768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F3A"/>
                </a:solidFill>
                <a:latin typeface="Helvetica Neue"/>
                <a:ea typeface="Helvetica Neue"/>
                <a:cs typeface="Helvetica Neue"/>
              </a:defRPr>
            </a:pPr>
            <a:r>
              <a:rPr sz="2250" b="1">
                <a:solidFill>
                  <a:srgbClr val="142F3A"/>
                </a:solidFill>
                <a:latin typeface="Helvetica Neue"/>
                <a:ea typeface="Helvetica Neue"/>
                <a:cs typeface="Helvetica Neue"/>
              </a:rPr>
              <a:t>Agents must preserve the specified behavior across module boundaries.</a:t>
            </a:r>
          </a:p>
        </p:txBody>
      </p:sp>
    </p:spTree>
    <p:extLst>
      <p:ext uri="{BB962C8B-B14F-4D97-AF65-F5344CB8AC3E}">
        <p14:creationId xmlns:p14="http://schemas.microsoft.com/office/powerpoint/2010/main" val="11163007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C86E56-3C19-4954-8FF1-5F4828952582}"/>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Passes in the first result grid</a:t>
            </a:r>
          </a:p>
        </p:txBody>
      </p:sp>
      <p:sp>
        <p:nvSpPr>
          <p:cNvPr id="2" name="">
            <a:extLst xmlns:a="http://schemas.openxmlformats.org/drawingml/2006/main">
              <a:ext uri="{FF2B5EF4-FFF2-40B4-BE49-F238E27FC236}">
                <a16:creationId xmlns:a16="http://schemas.microsoft.com/office/drawing/2014/main" id="{99EB4A8C-8A24-4C69-A334-F8C95A91D8FB}"/>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Passes / counted results. Service interruptions affected Luigi and Diskcache.</a:t>
            </a:r>
          </a:p>
        </p:txBody>
      </p:sp>
      <p:sp>
        <p:nvSpPr>
          <p:cNvPr id="3" name="">
            <a:extLst xmlns:a="http://schemas.openxmlformats.org/drawingml/2006/main">
              <a:ext uri="{FF2B5EF4-FFF2-40B4-BE49-F238E27FC236}">
                <a16:creationId xmlns:a16="http://schemas.microsoft.com/office/drawing/2014/main" id="{D5572954-170B-4641-9EE6-B3F7DE33DBDA}"/>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7D40CEC-F590-413A-BBD4-E005F7ECE5AE}"/>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7EE08F73-468B-4B44-AD52-516E4051C396}"/>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4</a:t>
            </a:r>
          </a:p>
        </p:txBody>
      </p:sp>
      <p:graphicFrame>
        <p:nvGraphicFramePr>
          <p:cNvPr id="12" name=""/>
          <p:cNvGraphicFramePr/>
          <p:nvPr/>
        </p:nvGraphicFramePr>
        <p:xfrm>
          <a:off xmlns:a="http://schemas.openxmlformats.org/drawingml/2006/main" x="647700" y="1752600"/>
          <a:ext xmlns:a="http://schemas.openxmlformats.org/drawingml/2006/main" cx="10896600" cy="4305300"/>
        </p:xfrm>
        <a:graphic xmlns:a="http://schemas.openxmlformats.org/drawingml/2006/main">
          <a:graphicData uri="http://schemas.openxmlformats.org/drawingml/2006/table">
            <a:tbl>
              <a:tblPr/>
              <a:tblGrid>
                <a:gridCol w="5143500"/>
                <a:gridCol w="1381125"/>
                <a:gridCol w="1381125"/>
                <a:gridCol w="1381125"/>
                <a:gridCol w="1609725"/>
              </a:tblGrid>
              <a:tr h="358775">
                <a:tc>
                  <a:txBody>
                    <a:bodyPr>
                      <a:noAutofit/>
                    </a:bodyPr>
                    <a:lstStyle/>
                    <a:p>
                      <a:r>
                        <a:rPr sz="1425" b="1">
                          <a:solidFill>
                            <a:srgbClr val="FFFFFF"/>
                          </a:solidFill>
                          <a:latin typeface="Helvetica Neue"/>
                          <a:ea typeface="Helvetica Neue"/>
                          <a:cs typeface="Helvetica Neue"/>
                        </a:rPr>
                        <a:t>Task</a:t>
                      </a:r>
                    </a:p>
                  </a:txBody>
                  <a:tcPr marL="91440" marR="91440" marT="45720" marB="45720">
                    <a:solidFill>
                      <a:srgbClr val="142F3A"/>
                    </a:solidFill>
                  </a:tcPr>
                </a:tc>
                <a:tc>
                  <a:txBody>
                    <a:bodyPr>
                      <a:noAutofit/>
                    </a:bodyPr>
                    <a:lstStyle/>
                    <a:p>
                      <a:r>
                        <a:rPr sz="1425" b="1">
                          <a:solidFill>
                            <a:srgbClr val="FFFFFF"/>
                          </a:solidFill>
                          <a:latin typeface="Helvetica Neue"/>
                          <a:ea typeface="Helvetica Neue"/>
                          <a:cs typeface="Helvetica Neue"/>
                        </a:rPr>
                        <a:t>Fable</a:t>
                      </a:r>
                    </a:p>
                  </a:txBody>
                  <a:tcPr marL="91440" marR="91440" marT="45720" marB="45720">
                    <a:solidFill>
                      <a:srgbClr val="142F3A"/>
                    </a:solidFill>
                  </a:tcPr>
                </a:tc>
                <a:tc>
                  <a:txBody>
                    <a:bodyPr>
                      <a:noAutofit/>
                    </a:bodyPr>
                    <a:lstStyle/>
                    <a:p>
                      <a:r>
                        <a:rPr sz="1425" b="1">
                          <a:solidFill>
                            <a:srgbClr val="FFFFFF"/>
                          </a:solidFill>
                          <a:latin typeface="Helvetica Neue"/>
                          <a:ea typeface="Helvetica Neue"/>
                          <a:cs typeface="Helvetica Neue"/>
                        </a:rPr>
                        <a:t>Opus</a:t>
                      </a:r>
                    </a:p>
                  </a:txBody>
                  <a:tcPr marL="91440" marR="91440" marT="45720" marB="45720">
                    <a:solidFill>
                      <a:srgbClr val="142F3A"/>
                    </a:solidFill>
                  </a:tcPr>
                </a:tc>
                <a:tc>
                  <a:txBody>
                    <a:bodyPr>
                      <a:noAutofit/>
                    </a:bodyPr>
                    <a:lstStyle/>
                    <a:p>
                      <a:r>
                        <a:rPr sz="1425" b="1">
                          <a:solidFill>
                            <a:srgbClr val="FFFFFF"/>
                          </a:solidFill>
                          <a:latin typeface="Helvetica Neue"/>
                          <a:ea typeface="Helvetica Neue"/>
                          <a:cs typeface="Helvetica Neue"/>
                        </a:rPr>
                        <a:t>Sonnet</a:t>
                      </a:r>
                    </a:p>
                  </a:txBody>
                  <a:tcPr marL="91440" marR="91440" marT="45720" marB="45720">
                    <a:solidFill>
                      <a:srgbClr val="142F3A"/>
                    </a:solidFill>
                  </a:tcPr>
                </a:tc>
                <a:tc>
                  <a:txBody>
                    <a:bodyPr>
                      <a:noAutofit/>
                    </a:bodyPr>
                    <a:lstStyle/>
                    <a:p>
                      <a:r>
                        <a:rPr sz="1425" b="1">
                          <a:solidFill>
                            <a:srgbClr val="FFFFFF"/>
                          </a:solidFill>
                          <a:latin typeface="Helvetica Neue"/>
                          <a:ea typeface="Helvetica Neue"/>
                          <a:cs typeface="Helvetica Neue"/>
                        </a:rPr>
                        <a:t>Covered</a:t>
                      </a:r>
                    </a:p>
                  </a:txBody>
                  <a:tcPr marL="91440" marR="91440" marT="45720" marB="45720">
                    <a:solidFill>
                      <a:srgbClr val="142F3A"/>
                    </a:solidFill>
                  </a:tcPr>
                </a:tc>
              </a:tr>
              <a:tr h="358775">
                <a:tc>
                  <a:txBody>
                    <a:bodyPr>
                      <a:noAutofit/>
                    </a:bodyPr>
                    <a:lstStyle/>
                    <a:p>
                      <a:r>
                        <a:rPr sz="1425" b="0">
                          <a:solidFill>
                            <a:srgbClr val="142F3A"/>
                          </a:solidFill>
                          <a:latin typeface="Helvetica Neue"/>
                          <a:ea typeface="Helvetica Neue"/>
                          <a:cs typeface="Helvetica Neue"/>
                        </a:rPr>
                        <a:t>Foxglove parameter handler</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rosbag2 mixed playback</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Zenoh C++ connectivity</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Diskcache resharding v2</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0/3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Luigi generation target</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0/3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Rosbags storage writers</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Zarr value codecs</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Burn ONNX runtime weights</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Burn checkpoint reader v4</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Rerun chunk optimizer</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Zenoh timestamps v3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bl>
          </a:graphicData>
        </a:graphic>
      </p:graphicFrame>
    </p:spTree>
    <p:extLst>
      <p:ext uri="{BB962C8B-B14F-4D97-AF65-F5344CB8AC3E}">
        <p14:creationId xmlns:p14="http://schemas.microsoft.com/office/powerpoint/2010/main" val="16294764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B842F21-D513-4EFE-B137-BFED5EB0A8D3}"/>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Results by model and effort (1 of 2)</a:t>
            </a:r>
          </a:p>
        </p:txBody>
      </p:sp>
      <p:sp>
        <p:nvSpPr>
          <p:cNvPr id="2" name="">
            <a:extLst xmlns:a="http://schemas.openxmlformats.org/drawingml/2006/main">
              <a:ext uri="{FF2B5EF4-FFF2-40B4-BE49-F238E27FC236}">
                <a16:creationId xmlns:a16="http://schemas.microsoft.com/office/drawing/2014/main" id="{4A752B6D-1A0F-4DDD-8BC1-744F5CB3D162}"/>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One counted result per task, model and effort. Repeated trials have separate records.</a:t>
            </a:r>
          </a:p>
        </p:txBody>
      </p:sp>
      <p:sp>
        <p:nvSpPr>
          <p:cNvPr id="3" name="">
            <a:extLst xmlns:a="http://schemas.openxmlformats.org/drawingml/2006/main">
              <a:ext uri="{FF2B5EF4-FFF2-40B4-BE49-F238E27FC236}">
                <a16:creationId xmlns:a16="http://schemas.microsoft.com/office/drawing/2014/main" id="{AAF57A5B-3B1A-48DB-B97B-56AED6101D1F}"/>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63AB6A4-9B30-4044-8243-D60C1F59EC19}"/>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74D56A1B-B450-4F2E-BC9B-A1B16025573E}"/>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5</a:t>
            </a:r>
          </a:p>
        </p:txBody>
      </p:sp>
      <p:graphicFrame>
        <p:nvGraphicFramePr>
          <p:cNvPr id="13" name=""/>
          <p:cNvGraphicFramePr/>
          <p:nvPr/>
        </p:nvGraphicFramePr>
        <p:xfrm>
          <a:off xmlns:a="http://schemas.openxmlformats.org/drawingml/2006/main" x="647700" y="1952625"/>
          <a:ext xmlns:a="http://schemas.openxmlformats.org/drawingml/2006/main" cx="10896600" cy="3733800"/>
        </p:xfrm>
        <a:graphic xmlns:a="http://schemas.openxmlformats.org/drawingml/2006/main">
          <a:graphicData uri="http://schemas.openxmlformats.org/drawingml/2006/table">
            <a:tbl>
              <a:tblPr/>
              <a:tblGrid>
                <a:gridCol w="2667000"/>
                <a:gridCol w="914400"/>
                <a:gridCol w="914400"/>
                <a:gridCol w="914400"/>
                <a:gridCol w="914400"/>
                <a:gridCol w="914400"/>
                <a:gridCol w="914400"/>
                <a:gridCol w="914400"/>
                <a:gridCol w="914400"/>
                <a:gridCol w="914400"/>
              </a:tblGrid>
              <a:tr h="533400">
                <a:tc>
                  <a:txBody>
                    <a:bodyPr>
                      <a:noAutofit/>
                    </a:bodyPr>
                    <a:lstStyle/>
                    <a:p>
                      <a:r>
                        <a:rPr sz="1500" b="1">
                          <a:solidFill>
                            <a:srgbClr val="FFFFFF"/>
                          </a:solidFill>
                          <a:latin typeface="Helvetica Neue"/>
                          <a:ea typeface="Helvetica Neue"/>
                          <a:cs typeface="Helvetica Neue"/>
                        </a:rPr>
                        <a:t>Task</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Fable</a:t>
                      </a:r>
                    </a:p>
                    <a:p>
                      <a:r>
                        <a:rPr sz="1500" b="1">
                          <a:solidFill>
                            <a:srgbClr val="FFFFFF"/>
                          </a:solidFill>
                          <a:latin typeface="Helvetica Neue"/>
                          <a:ea typeface="Helvetica Neue"/>
                          <a:cs typeface="Helvetica Neue"/>
                        </a:rPr>
                        <a:t>Med</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Fable</a:t>
                      </a:r>
                    </a:p>
                    <a:p>
                      <a:r>
                        <a:rPr sz="1500" b="1">
                          <a:solidFill>
                            <a:srgbClr val="FFFFFF"/>
                          </a:solidFill>
                          <a:latin typeface="Helvetica Neue"/>
                          <a:ea typeface="Helvetica Neue"/>
                          <a:cs typeface="Helvetica Neue"/>
                        </a:rPr>
                        <a:t>High</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Fable</a:t>
                      </a:r>
                    </a:p>
                    <a:p>
                      <a:r>
                        <a:rPr sz="1500" b="1">
                          <a:solidFill>
                            <a:srgbClr val="FFFFFF"/>
                          </a:solidFill>
                          <a:latin typeface="Helvetica Neue"/>
                          <a:ea typeface="Helvetica Neue"/>
                          <a:cs typeface="Helvetica Neue"/>
                        </a:rPr>
                        <a:t>Max</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Opus</a:t>
                      </a:r>
                    </a:p>
                    <a:p>
                      <a:r>
                        <a:rPr sz="1500" b="1">
                          <a:solidFill>
                            <a:srgbClr val="FFFFFF"/>
                          </a:solidFill>
                          <a:latin typeface="Helvetica Neue"/>
                          <a:ea typeface="Helvetica Neue"/>
                          <a:cs typeface="Helvetica Neue"/>
                        </a:rPr>
                        <a:t>Med</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Opus</a:t>
                      </a:r>
                    </a:p>
                    <a:p>
                      <a:r>
                        <a:rPr sz="1500" b="1">
                          <a:solidFill>
                            <a:srgbClr val="FFFFFF"/>
                          </a:solidFill>
                          <a:latin typeface="Helvetica Neue"/>
                          <a:ea typeface="Helvetica Neue"/>
                          <a:cs typeface="Helvetica Neue"/>
                        </a:rPr>
                        <a:t>High</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Opus</a:t>
                      </a:r>
                    </a:p>
                    <a:p>
                      <a:r>
                        <a:rPr sz="1500" b="1">
                          <a:solidFill>
                            <a:srgbClr val="FFFFFF"/>
                          </a:solidFill>
                          <a:latin typeface="Helvetica Neue"/>
                          <a:ea typeface="Helvetica Neue"/>
                          <a:cs typeface="Helvetica Neue"/>
                        </a:rPr>
                        <a:t>Max</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Sonnet</a:t>
                      </a:r>
                    </a:p>
                    <a:p>
                      <a:r>
                        <a:rPr sz="1500" b="1">
                          <a:solidFill>
                            <a:srgbClr val="FFFFFF"/>
                          </a:solidFill>
                          <a:latin typeface="Helvetica Neue"/>
                          <a:ea typeface="Helvetica Neue"/>
                          <a:cs typeface="Helvetica Neue"/>
                        </a:rPr>
                        <a:t>Med</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Sonnet</a:t>
                      </a:r>
                    </a:p>
                    <a:p>
                      <a:r>
                        <a:rPr sz="1500" b="1">
                          <a:solidFill>
                            <a:srgbClr val="FFFFFF"/>
                          </a:solidFill>
                          <a:latin typeface="Helvetica Neue"/>
                          <a:ea typeface="Helvetica Neue"/>
                          <a:cs typeface="Helvetica Neue"/>
                        </a:rPr>
                        <a:t>High</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Sonnet</a:t>
                      </a:r>
                    </a:p>
                    <a:p>
                      <a:r>
                        <a:rPr sz="1500" b="1">
                          <a:solidFill>
                            <a:srgbClr val="FFFFFF"/>
                          </a:solidFill>
                          <a:latin typeface="Helvetica Neue"/>
                          <a:ea typeface="Helvetica Neue"/>
                          <a:cs typeface="Helvetica Neue"/>
                        </a:rPr>
                        <a:t>Max</a:t>
                      </a:r>
                    </a:p>
                  </a:txBody>
                  <a:tcPr marL="91440" marR="91440" marT="45720" marB="45720">
                    <a:solidFill>
                      <a:srgbClr val="142F3A"/>
                    </a:solidFill>
                  </a:tcPr>
                </a:tc>
              </a:tr>
              <a:tr h="533400">
                <a:tc>
                  <a:txBody>
                    <a:bodyPr>
                      <a:noAutofit/>
                    </a:bodyPr>
                    <a:lstStyle/>
                    <a:p>
                      <a:r>
                        <a:rPr sz="1500" b="0">
                          <a:solidFill>
                            <a:srgbClr val="142F3A"/>
                          </a:solidFill>
                          <a:latin typeface="Helvetica Neue"/>
                          <a:ea typeface="Helvetica Neue"/>
                          <a:cs typeface="Helvetica Neue"/>
                        </a:rPr>
                        <a:t>Foxglove parameters</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(79)</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(134)</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(191)</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(82)</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(133)</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(168)</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(163)</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(270)</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(364)</a:t>
                      </a:r>
                    </a:p>
                  </a:txBody>
                  <a:tcPr marL="91440" marR="91440" marT="45720" marB="45720">
                    <a:solidFill>
                      <a:srgbClr val="E9F3F1"/>
                    </a:solidFill>
                  </a:tcPr>
                </a:tc>
              </a:tr>
              <a:tr h="533400">
                <a:tc>
                  <a:txBody>
                    <a:bodyPr>
                      <a:noAutofit/>
                    </a:bodyPr>
                    <a:lstStyle/>
                    <a:p>
                      <a:r>
                        <a:rPr sz="1500" b="0">
                          <a:solidFill>
                            <a:srgbClr val="142F3A"/>
                          </a:solidFill>
                          <a:latin typeface="Helvetica Neue"/>
                          <a:ea typeface="Helvetica Neue"/>
                          <a:cs typeface="Helvetica Neue"/>
                        </a:rPr>
                        <a:t>rosbag2 mixed playback</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(112)</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(146)</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(194)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(99)</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(125)</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(155)</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(154)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(251)</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(381)</a:t>
                      </a:r>
                    </a:p>
                  </a:txBody>
                  <a:tcPr marL="91440" marR="91440" marT="45720" marB="45720">
                    <a:solidFill>
                      <a:srgbClr val="FFFFFF"/>
                    </a:solidFill>
                  </a:tcPr>
                </a:tc>
              </a:tr>
              <a:tr h="533400">
                <a:tc>
                  <a:txBody>
                    <a:bodyPr>
                      <a:noAutofit/>
                    </a:bodyPr>
                    <a:lstStyle/>
                    <a:p>
                      <a:r>
                        <a:rPr sz="1500" b="0">
                          <a:solidFill>
                            <a:srgbClr val="142F3A"/>
                          </a:solidFill>
                          <a:latin typeface="Helvetica Neue"/>
                          <a:ea typeface="Helvetica Neue"/>
                          <a:cs typeface="Helvetica Neue"/>
                        </a:rPr>
                        <a:t>Zenoh C++ connectivity</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(97)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(115)</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(184)</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(62)</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(85)</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(134)</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(87)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(165)</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(331)</a:t>
                      </a:r>
                    </a:p>
                  </a:txBody>
                  <a:tcPr marL="91440" marR="91440" marT="45720" marB="45720">
                    <a:solidFill>
                      <a:srgbClr val="E9F3F1"/>
                    </a:solidFill>
                  </a:tcPr>
                </a:tc>
              </a:tr>
              <a:tr h="533400">
                <a:tc>
                  <a:txBody>
                    <a:bodyPr>
                      <a:noAutofit/>
                    </a:bodyPr>
                    <a:lstStyle/>
                    <a:p>
                      <a:r>
                        <a:rPr sz="1500" b="0">
                          <a:solidFill>
                            <a:srgbClr val="142F3A"/>
                          </a:solidFill>
                          <a:latin typeface="Helvetica Neue"/>
                          <a:ea typeface="Helvetica Neue"/>
                          <a:cs typeface="Helvetica Neue"/>
                        </a:rPr>
                        <a:t>Diskcache resharding v2</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(70)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(74)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(24)*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(59)</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(117)</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(143)</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(60)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V (83)</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A (39)</a:t>
                      </a:r>
                    </a:p>
                  </a:txBody>
                  <a:tcPr marL="91440" marR="91440" marT="45720" marB="45720">
                    <a:solidFill>
                      <a:srgbClr val="FFFFFF"/>
                    </a:solidFill>
                  </a:tcPr>
                </a:tc>
              </a:tr>
              <a:tr h="533400">
                <a:tc>
                  <a:txBody>
                    <a:bodyPr>
                      <a:noAutofit/>
                    </a:bodyPr>
                    <a:lstStyle/>
                    <a:p>
                      <a:r>
                        <a:rPr sz="1500" b="0">
                          <a:solidFill>
                            <a:srgbClr val="142F3A"/>
                          </a:solidFill>
                          <a:latin typeface="Helvetica Neue"/>
                          <a:ea typeface="Helvetica Neue"/>
                          <a:cs typeface="Helvetica Neue"/>
                        </a:rPr>
                        <a:t>Luigi generation target</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(67)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(41)</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A (20)*</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(47)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(57)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(110)</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(63)</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(96)</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A (32)</a:t>
                      </a:r>
                    </a:p>
                  </a:txBody>
                  <a:tcPr marL="91440" marR="91440" marT="45720" marB="45720">
                    <a:solidFill>
                      <a:srgbClr val="E9F3F1"/>
                    </a:solidFill>
                  </a:tcPr>
                </a:tc>
              </a:tr>
              <a:tr h="533400">
                <a:tc>
                  <a:txBody>
                    <a:bodyPr>
                      <a:noAutofit/>
                    </a:bodyPr>
                    <a:lstStyle/>
                    <a:p>
                      <a:r>
                        <a:rPr sz="1500" b="0">
                          <a:solidFill>
                            <a:srgbClr val="142F3A"/>
                          </a:solidFill>
                          <a:latin typeface="Helvetica Neue"/>
                          <a:ea typeface="Helvetica Neue"/>
                          <a:cs typeface="Helvetica Neue"/>
                        </a:rPr>
                        <a:t>Rosbags storage writers</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(20)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(44)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(90)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(22)</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(29)</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(80)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(43)</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(53)</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(173)</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00005340-AEC9-486C-87BA-8F9E50BF8F37}"/>
              </a:ext>
            </a:extLst>
          </p:cNvPr>
          <p:cNvSpPr>
            <a:spLocks xmlns:a="http://schemas.openxmlformats.org/drawingml/2006/main" noGrp="1"/>
          </p:cNvSpPr>
          <p:nvPr/>
        </p:nvSpPr>
        <p:spPr>
          <a:xfrm xmlns:a="http://schemas.openxmlformats.org/drawingml/2006/main">
            <a:off x="647700" y="5895975"/>
            <a:ext cx="1089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C75"/>
                </a:solidFill>
                <a:latin typeface="Helvetica Neue"/>
                <a:ea typeface="Helvetica Neue"/>
                <a:cs typeface="Helvetica Neue"/>
              </a:defRPr>
            </a:pPr>
            <a:r>
              <a:rPr sz="1575" b="0">
                <a:solidFill>
                  <a:srgbClr val="536C75"/>
                </a:solidFill>
                <a:latin typeface="Helvetica Neue"/>
                <a:ea typeface="Helvetica Neue"/>
                <a:cs typeface="Helvetica Neue"/>
              </a:rPr>
              <a:t>P pass / F scored failure / A agent timeout / V verifier timeout. (n) turns. * Service affected.</a:t>
            </a:r>
          </a:p>
        </p:txBody>
      </p:sp>
    </p:spTree>
    <p:extLst>
      <p:ext uri="{BB962C8B-B14F-4D97-AF65-F5344CB8AC3E}">
        <p14:creationId xmlns:p14="http://schemas.microsoft.com/office/powerpoint/2010/main" val="10012933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A86986-99B3-4599-81CB-3A6460424FCF}"/>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Results by model and effort (2 of 2)</a:t>
            </a:r>
          </a:p>
        </p:txBody>
      </p:sp>
      <p:sp>
        <p:nvSpPr>
          <p:cNvPr id="2" name="">
            <a:extLst xmlns:a="http://schemas.openxmlformats.org/drawingml/2006/main">
              <a:ext uri="{FF2B5EF4-FFF2-40B4-BE49-F238E27FC236}">
                <a16:creationId xmlns:a16="http://schemas.microsoft.com/office/drawing/2014/main" id="{2975083A-0C58-4C15-92FC-3CA54427365F}"/>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One counted result per task, model and effort. Repeated trials have separate records.</a:t>
            </a:r>
          </a:p>
        </p:txBody>
      </p:sp>
      <p:sp>
        <p:nvSpPr>
          <p:cNvPr id="3" name="">
            <a:extLst xmlns:a="http://schemas.openxmlformats.org/drawingml/2006/main">
              <a:ext uri="{FF2B5EF4-FFF2-40B4-BE49-F238E27FC236}">
                <a16:creationId xmlns:a16="http://schemas.microsoft.com/office/drawing/2014/main" id="{5A771A53-60EA-4CA0-A9A9-EB43599E66F7}"/>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5D24D51-FCEF-4B23-9253-15836BF3CC03}"/>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2AED76F2-B259-4F16-97BB-CAEE8805A9CD}"/>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6</a:t>
            </a:r>
          </a:p>
        </p:txBody>
      </p:sp>
      <p:graphicFrame>
        <p:nvGraphicFramePr>
          <p:cNvPr id="13" name=""/>
          <p:cNvGraphicFramePr/>
          <p:nvPr/>
        </p:nvGraphicFramePr>
        <p:xfrm>
          <a:off xmlns:a="http://schemas.openxmlformats.org/drawingml/2006/main" x="647700" y="1952625"/>
          <a:ext xmlns:a="http://schemas.openxmlformats.org/drawingml/2006/main" cx="10896600" cy="3733800"/>
        </p:xfrm>
        <a:graphic xmlns:a="http://schemas.openxmlformats.org/drawingml/2006/main">
          <a:graphicData uri="http://schemas.openxmlformats.org/drawingml/2006/table">
            <a:tbl>
              <a:tblPr/>
              <a:tblGrid>
                <a:gridCol w="2667000"/>
                <a:gridCol w="914400"/>
                <a:gridCol w="914400"/>
                <a:gridCol w="914400"/>
                <a:gridCol w="914400"/>
                <a:gridCol w="914400"/>
                <a:gridCol w="914400"/>
                <a:gridCol w="914400"/>
                <a:gridCol w="914400"/>
                <a:gridCol w="914400"/>
              </a:tblGrid>
              <a:tr h="622300">
                <a:tc>
                  <a:txBody>
                    <a:bodyPr>
                      <a:noAutofit/>
                    </a:bodyPr>
                    <a:lstStyle/>
                    <a:p>
                      <a:r>
                        <a:rPr sz="1500" b="1">
                          <a:solidFill>
                            <a:srgbClr val="FFFFFF"/>
                          </a:solidFill>
                          <a:latin typeface="Helvetica Neue"/>
                          <a:ea typeface="Helvetica Neue"/>
                          <a:cs typeface="Helvetica Neue"/>
                        </a:rPr>
                        <a:t>Task</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Fable</a:t>
                      </a:r>
                    </a:p>
                    <a:p>
                      <a:r>
                        <a:rPr sz="1500" b="1">
                          <a:solidFill>
                            <a:srgbClr val="FFFFFF"/>
                          </a:solidFill>
                          <a:latin typeface="Helvetica Neue"/>
                          <a:ea typeface="Helvetica Neue"/>
                          <a:cs typeface="Helvetica Neue"/>
                        </a:rPr>
                        <a:t>Med</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Fable</a:t>
                      </a:r>
                    </a:p>
                    <a:p>
                      <a:r>
                        <a:rPr sz="1500" b="1">
                          <a:solidFill>
                            <a:srgbClr val="FFFFFF"/>
                          </a:solidFill>
                          <a:latin typeface="Helvetica Neue"/>
                          <a:ea typeface="Helvetica Neue"/>
                          <a:cs typeface="Helvetica Neue"/>
                        </a:rPr>
                        <a:t>High</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Fable</a:t>
                      </a:r>
                    </a:p>
                    <a:p>
                      <a:r>
                        <a:rPr sz="1500" b="1">
                          <a:solidFill>
                            <a:srgbClr val="FFFFFF"/>
                          </a:solidFill>
                          <a:latin typeface="Helvetica Neue"/>
                          <a:ea typeface="Helvetica Neue"/>
                          <a:cs typeface="Helvetica Neue"/>
                        </a:rPr>
                        <a:t>Max</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Opus</a:t>
                      </a:r>
                    </a:p>
                    <a:p>
                      <a:r>
                        <a:rPr sz="1500" b="1">
                          <a:solidFill>
                            <a:srgbClr val="FFFFFF"/>
                          </a:solidFill>
                          <a:latin typeface="Helvetica Neue"/>
                          <a:ea typeface="Helvetica Neue"/>
                          <a:cs typeface="Helvetica Neue"/>
                        </a:rPr>
                        <a:t>Med</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Opus</a:t>
                      </a:r>
                    </a:p>
                    <a:p>
                      <a:r>
                        <a:rPr sz="1500" b="1">
                          <a:solidFill>
                            <a:srgbClr val="FFFFFF"/>
                          </a:solidFill>
                          <a:latin typeface="Helvetica Neue"/>
                          <a:ea typeface="Helvetica Neue"/>
                          <a:cs typeface="Helvetica Neue"/>
                        </a:rPr>
                        <a:t>High</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Opus</a:t>
                      </a:r>
                    </a:p>
                    <a:p>
                      <a:r>
                        <a:rPr sz="1500" b="1">
                          <a:solidFill>
                            <a:srgbClr val="FFFFFF"/>
                          </a:solidFill>
                          <a:latin typeface="Helvetica Neue"/>
                          <a:ea typeface="Helvetica Neue"/>
                          <a:cs typeface="Helvetica Neue"/>
                        </a:rPr>
                        <a:t>Max</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Sonnet</a:t>
                      </a:r>
                    </a:p>
                    <a:p>
                      <a:r>
                        <a:rPr sz="1500" b="1">
                          <a:solidFill>
                            <a:srgbClr val="FFFFFF"/>
                          </a:solidFill>
                          <a:latin typeface="Helvetica Neue"/>
                          <a:ea typeface="Helvetica Neue"/>
                          <a:cs typeface="Helvetica Neue"/>
                        </a:rPr>
                        <a:t>Med</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Sonnet</a:t>
                      </a:r>
                    </a:p>
                    <a:p>
                      <a:r>
                        <a:rPr sz="1500" b="1">
                          <a:solidFill>
                            <a:srgbClr val="FFFFFF"/>
                          </a:solidFill>
                          <a:latin typeface="Helvetica Neue"/>
                          <a:ea typeface="Helvetica Neue"/>
                          <a:cs typeface="Helvetica Neue"/>
                        </a:rPr>
                        <a:t>High</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Sonnet</a:t>
                      </a:r>
                    </a:p>
                    <a:p>
                      <a:r>
                        <a:rPr sz="1500" b="1">
                          <a:solidFill>
                            <a:srgbClr val="FFFFFF"/>
                          </a:solidFill>
                          <a:latin typeface="Helvetica Neue"/>
                          <a:ea typeface="Helvetica Neue"/>
                          <a:cs typeface="Helvetica Neue"/>
                        </a:rPr>
                        <a:t>Max</a:t>
                      </a:r>
                    </a:p>
                  </a:txBody>
                  <a:tcPr marL="91440" marR="91440" marT="45720" marB="45720">
                    <a:solidFill>
                      <a:srgbClr val="142F3A"/>
                    </a:solidFill>
                  </a:tcPr>
                </a:tc>
              </a:tr>
              <a:tr h="622300">
                <a:tc>
                  <a:txBody>
                    <a:bodyPr>
                      <a:noAutofit/>
                    </a:bodyPr>
                    <a:lstStyle/>
                    <a:p>
                      <a:r>
                        <a:rPr sz="1500" b="0">
                          <a:solidFill>
                            <a:srgbClr val="142F3A"/>
                          </a:solidFill>
                          <a:latin typeface="Helvetica Neue"/>
                          <a:ea typeface="Helvetica Neue"/>
                          <a:cs typeface="Helvetica Neue"/>
                        </a:rPr>
                        <a:t>Zarr value codecs</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(63)</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(93)</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(153)</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(88)</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(105)</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(96)</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(117)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(142)</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(335)</a:t>
                      </a:r>
                    </a:p>
                  </a:txBody>
                  <a:tcPr marL="91440" marR="91440" marT="45720" marB="45720">
                    <a:solidFill>
                      <a:srgbClr val="E9F3F1"/>
                    </a:solidFill>
                  </a:tcPr>
                </a:tc>
              </a:tr>
              <a:tr h="622300">
                <a:tc>
                  <a:txBody>
                    <a:bodyPr>
                      <a:noAutofit/>
                    </a:bodyPr>
                    <a:lstStyle/>
                    <a:p>
                      <a:r>
                        <a:rPr sz="1500" b="0">
                          <a:solidFill>
                            <a:srgbClr val="142F3A"/>
                          </a:solidFill>
                          <a:latin typeface="Helvetica Neue"/>
                          <a:ea typeface="Helvetica Neue"/>
                          <a:cs typeface="Helvetica Neue"/>
                        </a:rPr>
                        <a:t>Burn ONNX weights</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(162)</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(194)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(260)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(134)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(230)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(220)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(217)</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(288)</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(446)</a:t>
                      </a:r>
                    </a:p>
                  </a:txBody>
                  <a:tcPr marL="91440" marR="91440" marT="45720" marB="45720">
                    <a:solidFill>
                      <a:srgbClr val="FFFFFF"/>
                    </a:solidFill>
                  </a:tcPr>
                </a:tc>
              </a:tr>
              <a:tr h="622300">
                <a:tc>
                  <a:txBody>
                    <a:bodyPr>
                      <a:noAutofit/>
                    </a:bodyPr>
                    <a:lstStyle/>
                    <a:p>
                      <a:r>
                        <a:rPr sz="1500" b="0">
                          <a:solidFill>
                            <a:srgbClr val="142F3A"/>
                          </a:solidFill>
                          <a:latin typeface="Helvetica Neue"/>
                          <a:ea typeface="Helvetica Neue"/>
                          <a:cs typeface="Helvetica Neue"/>
                        </a:rPr>
                        <a:t>Burn checkpoint reader v4</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(92)</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(138)</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(158)</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(76)</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(144)</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(158)</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(42)</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(251)</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(323)</a:t>
                      </a:r>
                    </a:p>
                  </a:txBody>
                  <a:tcPr marL="91440" marR="91440" marT="45720" marB="45720">
                    <a:solidFill>
                      <a:srgbClr val="E9F3F1"/>
                    </a:solidFill>
                  </a:tcPr>
                </a:tc>
              </a:tr>
              <a:tr h="622300">
                <a:tc>
                  <a:txBody>
                    <a:bodyPr>
                      <a:noAutofit/>
                    </a:bodyPr>
                    <a:lstStyle/>
                    <a:p>
                      <a:r>
                        <a:rPr sz="1500" b="0">
                          <a:solidFill>
                            <a:srgbClr val="142F3A"/>
                          </a:solidFill>
                          <a:latin typeface="Helvetica Neue"/>
                          <a:ea typeface="Helvetica Neue"/>
                          <a:cs typeface="Helvetica Neue"/>
                        </a:rPr>
                        <a:t>Rerun chunk optimizer</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(115)</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(110)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(154)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(72)</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(104)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(123)</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(138)</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(193)</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(383)</a:t>
                      </a:r>
                    </a:p>
                  </a:txBody>
                  <a:tcPr marL="91440" marR="91440" marT="45720" marB="45720">
                    <a:solidFill>
                      <a:srgbClr val="FFFFFF"/>
                    </a:solidFill>
                  </a:tcPr>
                </a:tc>
              </a:tr>
              <a:tr h="622300">
                <a:tc>
                  <a:txBody>
                    <a:bodyPr>
                      <a:noAutofit/>
                    </a:bodyPr>
                    <a:lstStyle/>
                    <a:p>
                      <a:r>
                        <a:rPr sz="1500" b="0">
                          <a:solidFill>
                            <a:srgbClr val="142F3A"/>
                          </a:solidFill>
                          <a:latin typeface="Helvetica Neue"/>
                          <a:ea typeface="Helvetica Neue"/>
                          <a:cs typeface="Helvetica Neue"/>
                        </a:rPr>
                        <a:t>Zenoh timestamps v3</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(166)</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(188)</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(216)</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(176)</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(217)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(245)</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(377)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(474)</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(626)</a:t>
                      </a:r>
                    </a:p>
                  </a:txBody>
                  <a:tcPr marL="91440" marR="91440" marT="45720" marB="45720">
                    <a:solidFill>
                      <a:srgbClr val="E9F3F1"/>
                    </a:solidFill>
                  </a:tcPr>
                </a:tc>
              </a:tr>
            </a:tbl>
          </a:graphicData>
        </a:graphic>
      </p:graphicFrame>
      <p:sp>
        <p:nvSpPr>
          <p:cNvPr id="7" name="">
            <a:extLst xmlns:a="http://schemas.openxmlformats.org/drawingml/2006/main">
              <a:ext uri="{FF2B5EF4-FFF2-40B4-BE49-F238E27FC236}">
                <a16:creationId xmlns:a16="http://schemas.microsoft.com/office/drawing/2014/main" id="{90F70563-FA3F-4360-A810-6C7093705DB9}"/>
              </a:ext>
            </a:extLst>
          </p:cNvPr>
          <p:cNvSpPr>
            <a:spLocks xmlns:a="http://schemas.openxmlformats.org/drawingml/2006/main" noGrp="1"/>
          </p:cNvSpPr>
          <p:nvPr/>
        </p:nvSpPr>
        <p:spPr>
          <a:xfrm xmlns:a="http://schemas.openxmlformats.org/drawingml/2006/main">
            <a:off x="647700" y="5895975"/>
            <a:ext cx="1089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C75"/>
                </a:solidFill>
                <a:latin typeface="Helvetica Neue"/>
                <a:ea typeface="Helvetica Neue"/>
                <a:cs typeface="Helvetica Neue"/>
              </a:defRPr>
            </a:pPr>
            <a:r>
              <a:rPr sz="1575" b="0">
                <a:solidFill>
                  <a:srgbClr val="536C75"/>
                </a:solidFill>
                <a:latin typeface="Helvetica Neue"/>
                <a:ea typeface="Helvetica Neue"/>
                <a:cs typeface="Helvetica Neue"/>
              </a:rPr>
              <a:t>P pass / F scored failure / A agent timeout / V verifier timeout. (n) turns. * Service affected.</a:t>
            </a:r>
          </a:p>
        </p:txBody>
      </p:sp>
    </p:spTree>
    <p:extLst>
      <p:ext uri="{BB962C8B-B14F-4D97-AF65-F5344CB8AC3E}">
        <p14:creationId xmlns:p14="http://schemas.microsoft.com/office/powerpoint/2010/main" val="10349285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D8E500-3AEE-4BC3-8E08-FDD12BBCD1D0}"/>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C++: API and playback integration</a:t>
            </a:r>
          </a:p>
        </p:txBody>
      </p:sp>
      <p:sp>
        <p:nvSpPr>
          <p:cNvPr id="2" name="">
            <a:extLst xmlns:a="http://schemas.openxmlformats.org/drawingml/2006/main">
              <a:ext uri="{FF2B5EF4-FFF2-40B4-BE49-F238E27FC236}">
                <a16:creationId xmlns:a16="http://schemas.microsoft.com/office/drawing/2014/main" id="{BD921EF1-F450-4AB7-A8CA-D17AC19477CC}"/>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Nine first results per task. Turns are the median among successful trials.</a:t>
            </a:r>
          </a:p>
        </p:txBody>
      </p:sp>
      <p:sp>
        <p:nvSpPr>
          <p:cNvPr id="3" name="">
            <a:extLst xmlns:a="http://schemas.openxmlformats.org/drawingml/2006/main">
              <a:ext uri="{FF2B5EF4-FFF2-40B4-BE49-F238E27FC236}">
                <a16:creationId xmlns:a16="http://schemas.microsoft.com/office/drawing/2014/main" id="{83E44210-A035-4EAA-87D1-B8E9C7CD1779}"/>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070718D-436B-47A2-92B5-9B653D53BF79}"/>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8DDB9565-EE73-498D-AB35-02F822F10671}"/>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7</a:t>
            </a:r>
          </a:p>
        </p:txBody>
      </p:sp>
      <p:graphicFrame>
        <p:nvGraphicFramePr>
          <p:cNvPr id="12" name=""/>
          <p:cNvGraphicFramePr/>
          <p:nvPr/>
        </p:nvGraphicFramePr>
        <p:xfrm>
          <a:off xmlns:a="http://schemas.openxmlformats.org/drawingml/2006/main" x="647700" y="1790700"/>
          <a:ext xmlns:a="http://schemas.openxmlformats.org/drawingml/2006/main" cx="10896600" cy="4019550"/>
        </p:xfrm>
        <a:graphic xmlns:a="http://schemas.openxmlformats.org/drawingml/2006/main">
          <a:graphicData uri="http://schemas.openxmlformats.org/drawingml/2006/table">
            <a:tbl>
              <a:tblPr/>
              <a:tblGrid>
                <a:gridCol w="2705100"/>
                <a:gridCol w="3638550"/>
                <a:gridCol w="4552950"/>
              </a:tblGrid>
              <a:tr h="1004888">
                <a:tc>
                  <a:txBody>
                    <a:bodyPr>
                      <a:noAutofit/>
                    </a:bodyPr>
                    <a:lstStyle/>
                    <a:p>
                      <a:r>
                        <a:rPr sz="1575" b="1">
                          <a:solidFill>
                            <a:srgbClr val="FFFFFF"/>
                          </a:solidFill>
                          <a:latin typeface="Helvetica Neue"/>
                          <a:ea typeface="Helvetica Neue"/>
                          <a:cs typeface="Helvetica Neue"/>
                        </a:rPr>
                        <a:t>Task / first results</a:t>
                      </a:r>
                    </a:p>
                  </a:txBody>
                  <a:tcPr marL="91440" marR="91440" marT="45720" marB="45720">
                    <a:solidFill>
                      <a:srgbClr val="142F3A"/>
                    </a:solidFill>
                  </a:tcPr>
                </a:tc>
                <a:tc>
                  <a:txBody>
                    <a:bodyPr>
                      <a:noAutofit/>
                    </a:bodyPr>
                    <a:lstStyle/>
                    <a:p>
                      <a:r>
                        <a:rPr sz="1575" b="1">
                          <a:solidFill>
                            <a:srgbClr val="FFFFFF"/>
                          </a:solidFill>
                          <a:latin typeface="Helvetica Neue"/>
                          <a:ea typeface="Helvetica Neue"/>
                          <a:cs typeface="Helvetica Neue"/>
                        </a:rPr>
                        <a:t>Required behavior</a:t>
                      </a:r>
                    </a:p>
                  </a:txBody>
                  <a:tcPr marL="91440" marR="91440" marT="45720" marB="45720">
                    <a:solidFill>
                      <a:srgbClr val="142F3A"/>
                    </a:solidFill>
                  </a:tcPr>
                </a:tc>
                <a:tc>
                  <a:txBody>
                    <a:bodyPr>
                      <a:noAutofit/>
                    </a:bodyPr>
                    <a:lstStyle/>
                    <a:p>
                      <a:r>
                        <a:rPr sz="1575" b="1">
                          <a:solidFill>
                            <a:srgbClr val="FFFFFF"/>
                          </a:solidFill>
                          <a:latin typeface="Helvetica Neue"/>
                          <a:ea typeface="Helvetica Neue"/>
                          <a:cs typeface="Helvetica Neue"/>
                        </a:rPr>
                        <a:t>Interpretation</a:t>
                      </a:r>
                    </a:p>
                  </a:txBody>
                  <a:tcPr marL="91440" marR="91440" marT="45720" marB="45720">
                    <a:solidFill>
                      <a:srgbClr val="142F3A"/>
                    </a:solidFill>
                  </a:tcPr>
                </a:tc>
              </a:tr>
              <a:tr h="1004888">
                <a:tc>
                  <a:txBody>
                    <a:bodyPr>
                      <a:noAutofit/>
                    </a:bodyPr>
                    <a:lstStyle/>
                    <a:p>
                      <a:r>
                        <a:rPr sz="1575" b="0">
                          <a:solidFill>
                            <a:srgbClr val="142F3A"/>
                          </a:solidFill>
                          <a:latin typeface="Helvetica Neue"/>
                          <a:ea typeface="Helvetica Neue"/>
                          <a:cs typeface="Helvetica Neue"/>
                        </a:rPr>
                        <a:t>Foxglove parameters</a:t>
                      </a:r>
                    </a:p>
                    <a:p>
                      <a:r>
                        <a:rPr sz="1575" b="0">
                          <a:solidFill>
                            <a:srgbClr val="142F3A"/>
                          </a:solidFill>
                          <a:latin typeface="Helvetica Neue"/>
                          <a:ea typeface="Helvetica Neue"/>
                          <a:cs typeface="Helvetica Neue"/>
                        </a:rPr>
                        <a:t>9/9 pass, 163 turns</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Expose delayed responses through Rust, C FFI and C++ while preserving ownership.</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All nine pass above 75 turns. Sustained work, with no observed failure in this first cohort.</a:t>
                      </a:r>
                    </a:p>
                  </a:txBody>
                  <a:tcPr marL="91440" marR="91440" marT="45720" marB="45720">
                    <a:solidFill>
                      <a:srgbClr val="E9F3F1"/>
                    </a:solidFill>
                  </a:tcPr>
                </a:tc>
              </a:tr>
              <a:tr h="1004888">
                <a:tc>
                  <a:txBody>
                    <a:bodyPr>
                      <a:noAutofit/>
                    </a:bodyPr>
                    <a:lstStyle/>
                    <a:p>
                      <a:r>
                        <a:rPr sz="1575" b="0">
                          <a:solidFill>
                            <a:srgbClr val="142F3A"/>
                          </a:solidFill>
                          <a:latin typeface="Helvetica Neue"/>
                          <a:ea typeface="Helvetica Neue"/>
                          <a:cs typeface="Helvetica Neue"/>
                        </a:rPr>
                        <a:t>rosbag2 mixed playback</a:t>
                      </a:r>
                    </a:p>
                    <a:p>
                      <a:r>
                        <a:rPr sz="1575" b="0">
                          <a:solidFill>
                            <a:srgbClr val="142F3A"/>
                          </a:solidFill>
                          <a:latin typeface="Helvetica Neue"/>
                          <a:ea typeface="Helvetica Neue"/>
                          <a:cs typeface="Helvetica Neue"/>
                        </a:rPr>
                        <a:t>7/9 pass, 154 turns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Play mixed serialization formats and filter topics while preserving raw rewrite behavior.</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One failure violates warning rules. The other fails an ambiguous writer assertion. Treat them separately.</a:t>
                      </a:r>
                    </a:p>
                  </a:txBody>
                  <a:tcPr marL="91440" marR="91440" marT="45720" marB="45720">
                    <a:solidFill>
                      <a:srgbClr val="FFFFFF"/>
                    </a:solidFill>
                  </a:tcPr>
                </a:tc>
              </a:tr>
              <a:tr h="1004888">
                <a:tc>
                  <a:txBody>
                    <a:bodyPr>
                      <a:noAutofit/>
                    </a:bodyPr>
                    <a:lstStyle/>
                    <a:p>
                      <a:r>
                        <a:rPr sz="1575" b="0">
                          <a:solidFill>
                            <a:srgbClr val="142F3A"/>
                          </a:solidFill>
                          <a:latin typeface="Helvetica Neue"/>
                          <a:ea typeface="Helvetica Neue"/>
                          <a:cs typeface="Helvetica Neue"/>
                        </a:rPr>
                        <a:t>Zenoh C++ connectivity</a:t>
                      </a:r>
                    </a:p>
                    <a:p>
                      <a:r>
                        <a:rPr sz="1575" b="0">
                          <a:solidFill>
                            <a:srgbClr val="142F3A"/>
                          </a:solidFill>
                          <a:latin typeface="Helvetica Neue"/>
                          <a:ea typeface="Helvetica Neue"/>
                          <a:cs typeface="Helvetica Neue"/>
                        </a:rPr>
                        <a:t>8/9 pass, 106 turns</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Wrap transport and link events across two C++ backends with ownership and callback parity.</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The only failure is an upstream segfault. New connectivity checks pass. Its cause remains unresolved.</a:t>
                      </a:r>
                    </a:p>
                  </a:txBody>
                  <a:tcPr marL="91440" marR="91440" marT="45720" marB="45720">
                    <a:solidFill>
                      <a:srgbClr val="E9F3F1"/>
                    </a:solidFill>
                  </a:tcPr>
                </a:tc>
              </a:tr>
            </a:tbl>
          </a:graphicData>
        </a:graphic>
      </p:graphicFrame>
    </p:spTree>
    <p:extLst>
      <p:ext uri="{BB962C8B-B14F-4D97-AF65-F5344CB8AC3E}">
        <p14:creationId xmlns:p14="http://schemas.microsoft.com/office/powerpoint/2010/main" val="2867835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8DEAAA-7D64-4EB2-BD24-65993BCF1712}"/>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Python: persistence and format contracts</a:t>
            </a:r>
          </a:p>
        </p:txBody>
      </p:sp>
      <p:sp>
        <p:nvSpPr>
          <p:cNvPr id="2" name="">
            <a:extLst xmlns:a="http://schemas.openxmlformats.org/drawingml/2006/main">
              <a:ext uri="{FF2B5EF4-FFF2-40B4-BE49-F238E27FC236}">
                <a16:creationId xmlns:a16="http://schemas.microsoft.com/office/drawing/2014/main" id="{A0770184-B61E-480D-A844-E6D047F33D53}"/>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Nine first results per task. Turns are the median among successful trials.</a:t>
            </a:r>
          </a:p>
        </p:txBody>
      </p:sp>
      <p:sp>
        <p:nvSpPr>
          <p:cNvPr id="3" name="">
            <a:extLst xmlns:a="http://schemas.openxmlformats.org/drawingml/2006/main">
              <a:ext uri="{FF2B5EF4-FFF2-40B4-BE49-F238E27FC236}">
                <a16:creationId xmlns:a16="http://schemas.microsoft.com/office/drawing/2014/main" id="{28AA12B9-DF7A-4437-B055-221B32F4348C}"/>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7DDD9BC-1EB2-4552-B043-F4255355DFAC}"/>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DFDEC976-016C-4CD2-95D4-43BA9620B8F2}"/>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8</a:t>
            </a:r>
          </a:p>
        </p:txBody>
      </p:sp>
      <p:graphicFrame>
        <p:nvGraphicFramePr>
          <p:cNvPr id="12" name=""/>
          <p:cNvGraphicFramePr/>
          <p:nvPr/>
        </p:nvGraphicFramePr>
        <p:xfrm>
          <a:off xmlns:a="http://schemas.openxmlformats.org/drawingml/2006/main" x="647700" y="1790700"/>
          <a:ext xmlns:a="http://schemas.openxmlformats.org/drawingml/2006/main" cx="10896600" cy="4019550"/>
        </p:xfrm>
        <a:graphic xmlns:a="http://schemas.openxmlformats.org/drawingml/2006/main">
          <a:graphicData uri="http://schemas.openxmlformats.org/drawingml/2006/table">
            <a:tbl>
              <a:tblPr/>
              <a:tblGrid>
                <a:gridCol w="2705100"/>
                <a:gridCol w="3638550"/>
                <a:gridCol w="4552950"/>
              </a:tblGrid>
              <a:tr h="803910">
                <a:tc>
                  <a:txBody>
                    <a:bodyPr>
                      <a:noAutofit/>
                    </a:bodyPr>
                    <a:lstStyle/>
                    <a:p>
                      <a:r>
                        <a:rPr sz="1575" b="1">
                          <a:solidFill>
                            <a:srgbClr val="FFFFFF"/>
                          </a:solidFill>
                          <a:latin typeface="Helvetica Neue"/>
                          <a:ea typeface="Helvetica Neue"/>
                          <a:cs typeface="Helvetica Neue"/>
                        </a:rPr>
                        <a:t>Task / first results</a:t>
                      </a:r>
                    </a:p>
                  </a:txBody>
                  <a:tcPr marL="91440" marR="91440" marT="45720" marB="45720">
                    <a:solidFill>
                      <a:srgbClr val="142F3A"/>
                    </a:solidFill>
                  </a:tcPr>
                </a:tc>
                <a:tc>
                  <a:txBody>
                    <a:bodyPr>
                      <a:noAutofit/>
                    </a:bodyPr>
                    <a:lstStyle/>
                    <a:p>
                      <a:r>
                        <a:rPr sz="1575" b="1">
                          <a:solidFill>
                            <a:srgbClr val="FFFFFF"/>
                          </a:solidFill>
                          <a:latin typeface="Helvetica Neue"/>
                          <a:ea typeface="Helvetica Neue"/>
                          <a:cs typeface="Helvetica Neue"/>
                        </a:rPr>
                        <a:t>Required behavior</a:t>
                      </a:r>
                    </a:p>
                  </a:txBody>
                  <a:tcPr marL="91440" marR="91440" marT="45720" marB="45720">
                    <a:solidFill>
                      <a:srgbClr val="142F3A"/>
                    </a:solidFill>
                  </a:tcPr>
                </a:tc>
                <a:tc>
                  <a:txBody>
                    <a:bodyPr>
                      <a:noAutofit/>
                    </a:bodyPr>
                    <a:lstStyle/>
                    <a:p>
                      <a:r>
                        <a:rPr sz="1575" b="1">
                          <a:solidFill>
                            <a:srgbClr val="FFFFFF"/>
                          </a:solidFill>
                          <a:latin typeface="Helvetica Neue"/>
                          <a:ea typeface="Helvetica Neue"/>
                          <a:cs typeface="Helvetica Neue"/>
                        </a:rPr>
                        <a:t>Interpretation</a:t>
                      </a:r>
                    </a:p>
                  </a:txBody>
                  <a:tcPr marL="91440" marR="91440" marT="45720" marB="45720">
                    <a:solidFill>
                      <a:srgbClr val="142F3A"/>
                    </a:solidFill>
                  </a:tcPr>
                </a:tc>
              </a:tr>
              <a:tr h="803910">
                <a:tc>
                  <a:txBody>
                    <a:bodyPr>
                      <a:noAutofit/>
                    </a:bodyPr>
                    <a:lstStyle/>
                    <a:p>
                      <a:r>
                        <a:rPr sz="1575" b="0">
                          <a:solidFill>
                            <a:srgbClr val="142F3A"/>
                          </a:solidFill>
                          <a:latin typeface="Helvetica Neue"/>
                          <a:ea typeface="Helvetica Neue"/>
                          <a:cs typeface="Helvetica Neue"/>
                        </a:rPr>
                        <a:t>Diskcache resharding</a:t>
                      </a:r>
                    </a:p>
                    <a:p>
                      <a:r>
                        <a:rPr sz="1575" b="0">
                          <a:solidFill>
                            <a:srgbClr val="142F3A"/>
                          </a:solidFill>
                          <a:latin typeface="Helvetica Neue"/>
                          <a:ea typeface="Helvetica Neue"/>
                          <a:cs typeface="Helvetica Neue"/>
                        </a:rPr>
                        <a:t>2/9 pass, 93.5 turns</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Reshard live caches with crash recovery and mutation reconciliation.</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Timeouts and quota affect the grid. Some failures resurrect deleted data.</a:t>
                      </a:r>
                    </a:p>
                  </a:txBody>
                  <a:tcPr marL="91440" marR="91440" marT="45720" marB="45720">
                    <a:solidFill>
                      <a:srgbClr val="E9F3F1"/>
                    </a:solidFill>
                  </a:tcPr>
                </a:tc>
              </a:tr>
              <a:tr h="803910">
                <a:tc>
                  <a:txBody>
                    <a:bodyPr>
                      <a:noAutofit/>
                    </a:bodyPr>
                    <a:lstStyle/>
                    <a:p>
                      <a:r>
                        <a:rPr sz="1575" b="0">
                          <a:solidFill>
                            <a:srgbClr val="142F3A"/>
                          </a:solidFill>
                          <a:latin typeface="Helvetica Neue"/>
                          <a:ea typeface="Helvetica Neue"/>
                          <a:cs typeface="Helvetica Neue"/>
                        </a:rPr>
                        <a:t>Luigi generation target</a:t>
                      </a:r>
                    </a:p>
                    <a:p>
                      <a:r>
                        <a:rPr sz="1575" b="0">
                          <a:solidFill>
                            <a:srgbClr val="142F3A"/>
                          </a:solidFill>
                          <a:latin typeface="Helvetica Neue"/>
                          <a:ea typeface="Helvetica Neue"/>
                          <a:cs typeface="Helvetica Neue"/>
                        </a:rPr>
                        <a:t>4/9 pass, 52 turns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Publish atomic file generations with stable snapshots and crash recovery.</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Some lifecycle rules fail. One of the two timeouts is gateway affected.</a:t>
                      </a:r>
                    </a:p>
                  </a:txBody>
                  <a:tcPr marL="91440" marR="91440" marT="45720" marB="45720">
                    <a:solidFill>
                      <a:srgbClr val="FFFFFF"/>
                    </a:solidFill>
                  </a:tcPr>
                </a:tc>
              </a:tr>
              <a:tr h="803910">
                <a:tc>
                  <a:txBody>
                    <a:bodyPr>
                      <a:noAutofit/>
                    </a:bodyPr>
                    <a:lstStyle/>
                    <a:p>
                      <a:r>
                        <a:rPr sz="1575" b="0">
                          <a:solidFill>
                            <a:srgbClr val="142F3A"/>
                          </a:solidFill>
                          <a:latin typeface="Helvetica Neue"/>
                          <a:ea typeface="Helvetica Neue"/>
                          <a:cs typeface="Helvetica Neue"/>
                        </a:rPr>
                        <a:t>Rosbags storage writers</a:t>
                      </a:r>
                    </a:p>
                    <a:p>
                      <a:r>
                        <a:rPr sz="1575" b="0">
                          <a:solidFill>
                            <a:srgbClr val="142F3A"/>
                          </a:solidFill>
                          <a:latin typeface="Helvetica Neue"/>
                          <a:ea typeface="Helvetica Neue"/>
                          <a:cs typeface="Helvetica Neue"/>
                        </a:rPr>
                        <a:t>9/9 pass, 44 turns</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Write SQLite3 and MCAP bags with metadata, compression and interoperability.</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All nine pass. Only 3/9 successes exceed 75 turns. No failures in these nine attempts.</a:t>
                      </a:r>
                    </a:p>
                  </a:txBody>
                  <a:tcPr marL="91440" marR="91440" marT="45720" marB="45720">
                    <a:solidFill>
                      <a:srgbClr val="E9F3F1"/>
                    </a:solidFill>
                  </a:tcPr>
                </a:tc>
              </a:tr>
              <a:tr h="803910">
                <a:tc>
                  <a:txBody>
                    <a:bodyPr>
                      <a:noAutofit/>
                    </a:bodyPr>
                    <a:lstStyle/>
                    <a:p>
                      <a:r>
                        <a:rPr sz="1575" b="0">
                          <a:solidFill>
                            <a:srgbClr val="142F3A"/>
                          </a:solidFill>
                          <a:latin typeface="Helvetica Neue"/>
                          <a:ea typeface="Helvetica Neue"/>
                          <a:cs typeface="Helvetica Neue"/>
                        </a:rPr>
                        <a:t>Zarr value codecs</a:t>
                      </a:r>
                    </a:p>
                    <a:p>
                      <a:r>
                        <a:rPr sz="1575" b="0">
                          <a:solidFill>
                            <a:srgbClr val="142F3A"/>
                          </a:solidFill>
                          <a:latin typeface="Helvetica Neue"/>
                          <a:ea typeface="Helvetica Neue"/>
                          <a:cs typeface="Helvetica Neue"/>
                        </a:rPr>
                        <a:t>6/9 pass, 100.5 turns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Compose cast and scale/offset codecs with exact metadata and integer semantics.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Cast-value parity passes. Validation, JSON and integer scale/offset failures remain.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7021743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7BD760C-0C0E-4813-8793-FB390218008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Rust: runtime behavior and regression failures</a:t>
            </a:r>
          </a:p>
        </p:txBody>
      </p:sp>
      <p:sp>
        <p:nvSpPr>
          <p:cNvPr id="2" name="">
            <a:extLst xmlns:a="http://schemas.openxmlformats.org/drawingml/2006/main">
              <a:ext uri="{FF2B5EF4-FFF2-40B4-BE49-F238E27FC236}">
                <a16:creationId xmlns:a16="http://schemas.microsoft.com/office/drawing/2014/main" id="{ABA835C9-7391-49CE-A7E9-E1044A5B2B16}"/>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Nine first results per task. Turns are the median among successful trials.</a:t>
            </a:r>
          </a:p>
        </p:txBody>
      </p:sp>
      <p:sp>
        <p:nvSpPr>
          <p:cNvPr id="3" name="">
            <a:extLst xmlns:a="http://schemas.openxmlformats.org/drawingml/2006/main">
              <a:ext uri="{FF2B5EF4-FFF2-40B4-BE49-F238E27FC236}">
                <a16:creationId xmlns:a16="http://schemas.microsoft.com/office/drawing/2014/main" id="{27D36D38-C7D4-4ED0-8E95-4870A8BCADA5}"/>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46F64F1-DFAB-4503-9645-B16A33FB450F}"/>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C4BE30FA-5140-4C1E-8DF1-2F9AC880A663}"/>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9</a:t>
            </a:r>
          </a:p>
        </p:txBody>
      </p:sp>
      <p:graphicFrame>
        <p:nvGraphicFramePr>
          <p:cNvPr id="12" name=""/>
          <p:cNvGraphicFramePr/>
          <p:nvPr/>
        </p:nvGraphicFramePr>
        <p:xfrm>
          <a:off xmlns:a="http://schemas.openxmlformats.org/drawingml/2006/main" x="647700" y="1790700"/>
          <a:ext xmlns:a="http://schemas.openxmlformats.org/drawingml/2006/main" cx="10896600" cy="4019550"/>
        </p:xfrm>
        <a:graphic xmlns:a="http://schemas.openxmlformats.org/drawingml/2006/main">
          <a:graphicData uri="http://schemas.openxmlformats.org/drawingml/2006/table">
            <a:tbl>
              <a:tblPr/>
              <a:tblGrid>
                <a:gridCol w="2705100"/>
                <a:gridCol w="3638550"/>
                <a:gridCol w="4552950"/>
              </a:tblGrid>
              <a:tr h="803910">
                <a:tc>
                  <a:txBody>
                    <a:bodyPr>
                      <a:noAutofit/>
                    </a:bodyPr>
                    <a:lstStyle/>
                    <a:p>
                      <a:r>
                        <a:rPr sz="1575" b="1">
                          <a:solidFill>
                            <a:srgbClr val="FFFFFF"/>
                          </a:solidFill>
                          <a:latin typeface="Helvetica Neue"/>
                          <a:ea typeface="Helvetica Neue"/>
                          <a:cs typeface="Helvetica Neue"/>
                        </a:rPr>
                        <a:t>Task / first results</a:t>
                      </a:r>
                    </a:p>
                  </a:txBody>
                  <a:tcPr marL="91440" marR="91440" marT="45720" marB="45720">
                    <a:solidFill>
                      <a:srgbClr val="142F3A"/>
                    </a:solidFill>
                  </a:tcPr>
                </a:tc>
                <a:tc>
                  <a:txBody>
                    <a:bodyPr>
                      <a:noAutofit/>
                    </a:bodyPr>
                    <a:lstStyle/>
                    <a:p>
                      <a:r>
                        <a:rPr sz="1575" b="1">
                          <a:solidFill>
                            <a:srgbClr val="FFFFFF"/>
                          </a:solidFill>
                          <a:latin typeface="Helvetica Neue"/>
                          <a:ea typeface="Helvetica Neue"/>
                          <a:cs typeface="Helvetica Neue"/>
                        </a:rPr>
                        <a:t>Required behavior</a:t>
                      </a:r>
                    </a:p>
                  </a:txBody>
                  <a:tcPr marL="91440" marR="91440" marT="45720" marB="45720">
                    <a:solidFill>
                      <a:srgbClr val="142F3A"/>
                    </a:solidFill>
                  </a:tcPr>
                </a:tc>
                <a:tc>
                  <a:txBody>
                    <a:bodyPr>
                      <a:noAutofit/>
                    </a:bodyPr>
                    <a:lstStyle/>
                    <a:p>
                      <a:r>
                        <a:rPr sz="1575" b="1">
                          <a:solidFill>
                            <a:srgbClr val="FFFFFF"/>
                          </a:solidFill>
                          <a:latin typeface="Helvetica Neue"/>
                          <a:ea typeface="Helvetica Neue"/>
                          <a:cs typeface="Helvetica Neue"/>
                        </a:rPr>
                        <a:t>Interpretation</a:t>
                      </a:r>
                    </a:p>
                  </a:txBody>
                  <a:tcPr marL="91440" marR="91440" marT="45720" marB="45720">
                    <a:solidFill>
                      <a:srgbClr val="142F3A"/>
                    </a:solidFill>
                  </a:tcPr>
                </a:tc>
              </a:tr>
              <a:tr h="803910">
                <a:tc>
                  <a:txBody>
                    <a:bodyPr>
                      <a:noAutofit/>
                    </a:bodyPr>
                    <a:lstStyle/>
                    <a:p>
                      <a:r>
                        <a:rPr sz="1575" b="0">
                          <a:solidFill>
                            <a:srgbClr val="142F3A"/>
                          </a:solidFill>
                          <a:latin typeface="Helvetica Neue"/>
                          <a:ea typeface="Helvetica Neue"/>
                          <a:cs typeface="Helvetica Neue"/>
                        </a:rPr>
                        <a:t>Burn ONNX weights</a:t>
                      </a:r>
                    </a:p>
                    <a:p>
                      <a:r>
                        <a:rPr sz="1575" b="0">
                          <a:solidFill>
                            <a:srgbClr val="142F3A"/>
                          </a:solidFill>
                          <a:latin typeface="Helvetica Neue"/>
                          <a:ea typeface="Helvetica Neue"/>
                          <a:cs typeface="Helvetica Neue"/>
                        </a:rPr>
                        <a:t>8/9 pass, 225 turns</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Use runtime RNN weights while preserving layouts, outputs and initializers.</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Eight pass above 75 turns. The failure is a snapshot regression. Runtime checks pass.</a:t>
                      </a:r>
                    </a:p>
                  </a:txBody>
                  <a:tcPr marL="91440" marR="91440" marT="45720" marB="45720">
                    <a:solidFill>
                      <a:srgbClr val="E9F3F1"/>
                    </a:solidFill>
                  </a:tcPr>
                </a:tc>
              </a:tr>
              <a:tr h="803910">
                <a:tc>
                  <a:txBody>
                    <a:bodyPr>
                      <a:noAutofit/>
                    </a:bodyPr>
                    <a:lstStyle/>
                    <a:p>
                      <a:r>
                        <a:rPr sz="1575" b="0">
                          <a:solidFill>
                            <a:srgbClr val="142F3A"/>
                          </a:solidFill>
                          <a:latin typeface="Helvetica Neue"/>
                          <a:ea typeface="Helvetica Neue"/>
                          <a:cs typeface="Helvetica Neue"/>
                        </a:rPr>
                        <a:t>Burn checkpoint reader</a:t>
                      </a:r>
                    </a:p>
                    <a:p>
                      <a:r>
                        <a:rPr sz="1575" b="0">
                          <a:solidFill>
                            <a:srgbClr val="142F3A"/>
                          </a:solidFill>
                          <a:latin typeface="Helvetica Neue"/>
                          <a:ea typeface="Helvetica Neue"/>
                          <a:cs typeface="Helvetica Neue"/>
                        </a:rPr>
                        <a:t>7/9 pass, 144 turns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Read checkpoint data on demand, reject unsafe input and honor source constraints.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One functional failure and one source restriction failure. Sonnet max passes.</a:t>
                      </a:r>
                    </a:p>
                  </a:txBody>
                  <a:tcPr marL="91440" marR="91440" marT="45720" marB="45720">
                    <a:solidFill>
                      <a:srgbClr val="FFFFFF"/>
                    </a:solidFill>
                  </a:tcPr>
                </a:tc>
              </a:tr>
              <a:tr h="803910">
                <a:tc>
                  <a:txBody>
                    <a:bodyPr>
                      <a:noAutofit/>
                    </a:bodyPr>
                    <a:lstStyle/>
                    <a:p>
                      <a:r>
                        <a:rPr sz="1575" b="0">
                          <a:solidFill>
                            <a:srgbClr val="142F3A"/>
                          </a:solidFill>
                          <a:latin typeface="Helvetica Neue"/>
                          <a:ea typeface="Helvetica Neue"/>
                          <a:cs typeface="Helvetica Neue"/>
                        </a:rPr>
                        <a:t>Rerun chunk optimizer</a:t>
                      </a:r>
                    </a:p>
                    <a:p>
                      <a:r>
                        <a:rPr sz="1575" b="0">
                          <a:solidFill>
                            <a:srgbClr val="142F3A"/>
                          </a:solidFill>
                          <a:latin typeface="Helvetica Neue"/>
                          <a:ea typeface="Helvetica Neue"/>
                          <a:cs typeface="Helvetica Neue"/>
                        </a:rPr>
                        <a:t>8/9 pass, 119 turns</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Stream and repack chunks while preserving cells, memory bounds and layout.</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One required layout failure. Sonnet max passes after a longer trajectory.</a:t>
                      </a:r>
                    </a:p>
                  </a:txBody>
                  <a:tcPr marL="91440" marR="91440" marT="45720" marB="45720">
                    <a:solidFill>
                      <a:srgbClr val="E9F3F1"/>
                    </a:solidFill>
                  </a:tcPr>
                </a:tc>
              </a:tr>
              <a:tr h="803910">
                <a:tc>
                  <a:txBody>
                    <a:bodyPr>
                      <a:noAutofit/>
                    </a:bodyPr>
                    <a:lstStyle/>
                    <a:p>
                      <a:r>
                        <a:rPr sz="1575" b="0">
                          <a:solidFill>
                            <a:srgbClr val="142F3A"/>
                          </a:solidFill>
                          <a:latin typeface="Helvetica Neue"/>
                          <a:ea typeface="Helvetica Neue"/>
                          <a:cs typeface="Helvetica Neue"/>
                        </a:rPr>
                        <a:t>Zenoh timestamps v3</a:t>
                      </a:r>
                    </a:p>
                    <a:p>
                      <a:r>
                        <a:rPr sz="1575" b="0">
                          <a:solidFill>
                            <a:srgbClr val="142F3A"/>
                          </a:solidFill>
                          <a:latin typeface="Helvetica Neue"/>
                          <a:ea typeface="Helvetica Neue"/>
                          <a:cs typeface="Helvetica Neue"/>
                        </a:rPr>
                        <a:t>8/9 pass, 216.5 turns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Carry timestamps through public APIs, wire encoding and receive paths.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The same public-type failure persists. All eight other saved regrades pass.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48886369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B3F464-C6E3-4BC4-8040-01C2E43AD5C9}"/>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64 of 76 successes exceeded 75 assistant turns</a:t>
            </a:r>
          </a:p>
        </p:txBody>
      </p:sp>
      <p:sp>
        <p:nvSpPr>
          <p:cNvPr id="2" name="">
            <a:extLst xmlns:a="http://schemas.openxmlformats.org/drawingml/2006/main">
              <a:ext uri="{FF2B5EF4-FFF2-40B4-BE49-F238E27FC236}">
                <a16:creationId xmlns:a16="http://schemas.microsoft.com/office/drawing/2014/main" id="{6E0A3E81-E23B-498D-9714-887A7D4E13AF}"/>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Median turns on success. 64/76 successful trials exceed 75 turns</a:t>
            </a:r>
          </a:p>
        </p:txBody>
      </p:sp>
      <p:sp>
        <p:nvSpPr>
          <p:cNvPr id="3" name="">
            <a:extLst xmlns:a="http://schemas.openxmlformats.org/drawingml/2006/main">
              <a:ext uri="{FF2B5EF4-FFF2-40B4-BE49-F238E27FC236}">
                <a16:creationId xmlns:a16="http://schemas.microsoft.com/office/drawing/2014/main" id="{833A0991-9F0C-4004-927B-AEC37EBDFBBE}"/>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EB7F967-FF57-4A1D-BFA3-5DF44826B831}"/>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2263504D-1A5D-4A0B-89E8-7F21FDC67D05}"/>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10</a:t>
            </a:r>
          </a:p>
        </p:txBody>
      </p:sp>
      <p:graphicFrame>
        <p:nvGraphicFramePr>
          <p:cNvPr id="12" name="Chart"/>
          <p:cNvGraphicFramePr/>
          <p:nvPr/>
        </p:nvGraphicFramePr>
        <p:xfrm>
          <a:off xmlns:a="http://schemas.openxmlformats.org/drawingml/2006/main" x="647700" y="1952625"/>
          <a:ext xmlns:a="http://schemas.openxmlformats.org/drawingml/2006/main" cx="10896600" cy="4048125"/>
        </p:xfrm>
        <a:graphic xmlns:a="http://schemas.openxmlformats.org/drawingml/2006/main">
          <a:graphicData uri="http://schemas.openxmlformats.org/drawingml/2006/chart">
            <c:chart xmlns:r="http://schemas.openxmlformats.org/officeDocument/2006/relationships" xmlns:c="http://schemas.openxmlformats.org/drawingml/2006/chart" r:id="Rb89f2d605bce4e40"/>
          </a:graphicData>
        </a:graphic>
      </p:graphicFrame>
    </p:spTree>
    <p:extLst>
      <p:ext uri="{BB962C8B-B14F-4D97-AF65-F5344CB8AC3E}">
        <p14:creationId xmlns:p14="http://schemas.microsoft.com/office/powerpoint/2010/main" val="7177325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FAF3FE-F59D-41FD-AB6E-C30DC8AC8586}"/>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Recommended Harbor samples</a:t>
            </a:r>
          </a:p>
        </p:txBody>
      </p:sp>
      <p:sp>
        <p:nvSpPr>
          <p:cNvPr id="2" name="">
            <a:extLst xmlns:a="http://schemas.openxmlformats.org/drawingml/2006/main">
              <a:ext uri="{FF2B5EF4-FFF2-40B4-BE49-F238E27FC236}">
                <a16:creationId xmlns:a16="http://schemas.microsoft.com/office/drawing/2014/main" id="{76BBD33A-8CA6-4B38-B907-F7324D830473}"/>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Rerun, Zenoh timestamps and Burn checkpoint reader</a:t>
            </a:r>
          </a:p>
        </p:txBody>
      </p:sp>
      <p:sp>
        <p:nvSpPr>
          <p:cNvPr id="3" name="">
            <a:extLst xmlns:a="http://schemas.openxmlformats.org/drawingml/2006/main">
              <a:ext uri="{FF2B5EF4-FFF2-40B4-BE49-F238E27FC236}">
                <a16:creationId xmlns:a16="http://schemas.microsoft.com/office/drawing/2014/main" id="{9E61C88C-7242-4E60-ADA2-3BD3413B4815}"/>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D4666AF-1D76-4E5C-B954-3820D4F3A773}"/>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34801F2E-FC77-42DB-B4D5-E9080834B484}"/>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11</a:t>
            </a:r>
          </a:p>
        </p:txBody>
      </p:sp>
      <p:graphicFrame>
        <p:nvGraphicFramePr>
          <p:cNvPr id="14" name=""/>
          <p:cNvGraphicFramePr/>
          <p:nvPr/>
        </p:nvGraphicFramePr>
        <p:xfrm>
          <a:off xmlns:a="http://schemas.openxmlformats.org/drawingml/2006/main" x="647700" y="1847850"/>
          <a:ext xmlns:a="http://schemas.openxmlformats.org/drawingml/2006/main" cx="10896600" cy="2743200"/>
        </p:xfrm>
        <a:graphic xmlns:a="http://schemas.openxmlformats.org/drawingml/2006/main">
          <a:graphicData uri="http://schemas.openxmlformats.org/drawingml/2006/table">
            <a:tbl>
              <a:tblPr/>
              <a:tblGrid>
                <a:gridCol w="2952750"/>
                <a:gridCol w="1762125"/>
                <a:gridCol w="2143125"/>
                <a:gridCol w="4038600"/>
              </a:tblGrid>
              <a:tr h="685800">
                <a:tc>
                  <a:txBody>
                    <a:bodyPr>
                      <a:noAutofit/>
                    </a:bodyPr>
                    <a:lstStyle/>
                    <a:p>
                      <a:r>
                        <a:rPr sz="1800" b="1">
                          <a:solidFill>
                            <a:srgbClr val="FFFFFF"/>
                          </a:solidFill>
                          <a:latin typeface="Helvetica Neue"/>
                          <a:ea typeface="Helvetica Neue"/>
                          <a:cs typeface="Helvetica Neue"/>
                        </a:rPr>
                        <a:t>Candidate</a:t>
                      </a:r>
                    </a:p>
                  </a:txBody>
                  <a:tcPr marL="91440" marR="91440" marT="45720" marB="45720">
                    <a:solidFill>
                      <a:srgbClr val="142F3A"/>
                    </a:solidFill>
                  </a:tcPr>
                </a:tc>
                <a:tc>
                  <a:txBody>
                    <a:bodyPr>
                      <a:noAutofit/>
                    </a:bodyPr>
                    <a:lstStyle/>
                    <a:p>
                      <a:r>
                        <a:rPr sz="1800" b="1">
                          <a:solidFill>
                            <a:srgbClr val="FFFFFF"/>
                          </a:solidFill>
                          <a:latin typeface="Helvetica Neue"/>
                          <a:ea typeface="Helvetica Neue"/>
                          <a:cs typeface="Helvetica Neue"/>
                        </a:rPr>
                        <a:t>Pass / first trials</a:t>
                      </a:r>
                    </a:p>
                  </a:txBody>
                  <a:tcPr marL="91440" marR="91440" marT="45720" marB="45720">
                    <a:solidFill>
                      <a:srgbClr val="142F3A"/>
                    </a:solidFill>
                  </a:tcPr>
                </a:tc>
                <a:tc>
                  <a:txBody>
                    <a:bodyPr>
                      <a:noAutofit/>
                    </a:bodyPr>
                    <a:lstStyle/>
                    <a:p>
                      <a:r>
                        <a:rPr sz="1800" b="1">
                          <a:solidFill>
                            <a:srgbClr val="FFFFFF"/>
                          </a:solidFill>
                          <a:latin typeface="Helvetica Neue"/>
                          <a:ea typeface="Helvetica Neue"/>
                          <a:cs typeface="Helvetica Neue"/>
                        </a:rPr>
                        <a:t>Median turns on success</a:t>
                      </a:r>
                    </a:p>
                  </a:txBody>
                  <a:tcPr marL="91440" marR="91440" marT="45720" marB="45720">
                    <a:solidFill>
                      <a:srgbClr val="142F3A"/>
                    </a:solidFill>
                  </a:tcPr>
                </a:tc>
                <a:tc>
                  <a:txBody>
                    <a:bodyPr>
                      <a:noAutofit/>
                    </a:bodyPr>
                    <a:lstStyle/>
                    <a:p>
                      <a:r>
                        <a:rPr sz="1800" b="1">
                          <a:solidFill>
                            <a:srgbClr val="FFFFFF"/>
                          </a:solidFill>
                          <a:latin typeface="Helvetica Neue"/>
                          <a:ea typeface="Helvetica Neue"/>
                          <a:cs typeface="Helvetica Neue"/>
                        </a:rPr>
                        <a:t>Reason to retain</a:t>
                      </a:r>
                    </a:p>
                  </a:txBody>
                  <a:tcPr marL="91440" marR="91440" marT="45720" marB="45720">
                    <a:solidFill>
                      <a:srgbClr val="142F3A"/>
                    </a:solidFill>
                  </a:tcPr>
                </a:tc>
              </a:tr>
              <a:tr h="685800">
                <a:tc>
                  <a:txBody>
                    <a:bodyPr>
                      <a:noAutofit/>
                    </a:bodyPr>
                    <a:lstStyle/>
                    <a:p>
                      <a:r>
                        <a:rPr sz="1800" b="0">
                          <a:solidFill>
                            <a:srgbClr val="142F3A"/>
                          </a:solidFill>
                          <a:latin typeface="Helvetica Neue"/>
                          <a:ea typeface="Helvetica Neue"/>
                          <a:cs typeface="Helvetica Neue"/>
                        </a:rPr>
                        <a:t>Rerun chunk optimizer</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8/9</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119</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Chunk layout and data preservation</a:t>
                      </a:r>
                    </a:p>
                  </a:txBody>
                  <a:tcPr marL="91440" marR="91440" marT="45720" marB="45720">
                    <a:solidFill>
                      <a:srgbClr val="E9F3F1"/>
                    </a:solidFill>
                  </a:tcPr>
                </a:tc>
              </a:tr>
              <a:tr h="685800">
                <a:tc>
                  <a:txBody>
                    <a:bodyPr>
                      <a:noAutofit/>
                    </a:bodyPr>
                    <a:lstStyle/>
                    <a:p>
                      <a:r>
                        <a:rPr sz="1800" b="0">
                          <a:solidFill>
                            <a:srgbClr val="142F3A"/>
                          </a:solidFill>
                          <a:latin typeface="Helvetica Neue"/>
                          <a:ea typeface="Helvetica Neue"/>
                          <a:cs typeface="Helvetica Neue"/>
                        </a:rPr>
                        <a:t>Zenoh timestamps v3</a:t>
                      </a:r>
                    </a:p>
                  </a:txBody>
                  <a:tcPr marL="91440" marR="91440" marT="45720" marB="45720">
                    <a:solidFill>
                      <a:srgbClr val="FFFFFF"/>
                    </a:solidFill>
                  </a:tcPr>
                </a:tc>
                <a:tc>
                  <a:txBody>
                    <a:bodyPr>
                      <a:noAutofit/>
                    </a:bodyPr>
                    <a:lstStyle/>
                    <a:p>
                      <a:r>
                        <a:rPr sz="1800" b="0">
                          <a:solidFill>
                            <a:srgbClr val="142F3A"/>
                          </a:solidFill>
                          <a:latin typeface="Helvetica Neue"/>
                          <a:ea typeface="Helvetica Neue"/>
                          <a:cs typeface="Helvetica Neue"/>
                        </a:rPr>
                        <a:t>8/9</a:t>
                      </a:r>
                    </a:p>
                  </a:txBody>
                  <a:tcPr marL="91440" marR="91440" marT="45720" marB="45720">
                    <a:solidFill>
                      <a:srgbClr val="FFFFFF"/>
                    </a:solidFill>
                  </a:tcPr>
                </a:tc>
                <a:tc>
                  <a:txBody>
                    <a:bodyPr>
                      <a:noAutofit/>
                    </a:bodyPr>
                    <a:lstStyle/>
                    <a:p>
                      <a:r>
                        <a:rPr sz="1800" b="0">
                          <a:solidFill>
                            <a:srgbClr val="142F3A"/>
                          </a:solidFill>
                          <a:latin typeface="Helvetica Neue"/>
                          <a:ea typeface="Helvetica Neue"/>
                          <a:cs typeface="Helvetica Neue"/>
                        </a:rPr>
                        <a:t>216.5</a:t>
                      </a:r>
                    </a:p>
                  </a:txBody>
                  <a:tcPr marL="91440" marR="91440" marT="45720" marB="45720">
                    <a:solidFill>
                      <a:srgbClr val="FFFFFF"/>
                    </a:solidFill>
                  </a:tcPr>
                </a:tc>
                <a:tc>
                  <a:txBody>
                    <a:bodyPr>
                      <a:noAutofit/>
                    </a:bodyPr>
                    <a:lstStyle/>
                    <a:p>
                      <a:r>
                        <a:rPr sz="1800" b="0">
                          <a:solidFill>
                            <a:srgbClr val="142F3A"/>
                          </a:solidFill>
                          <a:latin typeface="Helvetica Neue"/>
                          <a:ea typeface="Helvetica Neue"/>
                          <a:cs typeface="Helvetica Neue"/>
                        </a:rPr>
                        <a:t>Wire protocol and public API integration</a:t>
                      </a:r>
                    </a:p>
                  </a:txBody>
                  <a:tcPr marL="91440" marR="91440" marT="45720" marB="45720">
                    <a:solidFill>
                      <a:srgbClr val="FFFFFF"/>
                    </a:solidFill>
                  </a:tcPr>
                </a:tc>
              </a:tr>
              <a:tr h="685800">
                <a:tc>
                  <a:txBody>
                    <a:bodyPr>
                      <a:noAutofit/>
                    </a:bodyPr>
                    <a:lstStyle/>
                    <a:p>
                      <a:r>
                        <a:rPr sz="1800" b="0">
                          <a:solidFill>
                            <a:srgbClr val="142F3A"/>
                          </a:solidFill>
                          <a:latin typeface="Helvetica Neue"/>
                          <a:ea typeface="Helvetica Neue"/>
                          <a:cs typeface="Helvetica Neue"/>
                        </a:rPr>
                        <a:t>Burn checkpoint reader v4</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7/9</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144</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Format compatibility and bounds checks</a:t>
                      </a:r>
                    </a:p>
                  </a:txBody>
                  <a:tcPr marL="91440" marR="91440" marT="45720" marB="45720">
                    <a:solidFill>
                      <a:srgbClr val="E9F3F1"/>
                    </a:solidFill>
                  </a:tcPr>
                </a:tc>
              </a:tr>
            </a:tbl>
          </a:graphicData>
        </a:graphic>
      </p:graphicFrame>
      <p:sp>
        <p:nvSpPr>
          <p:cNvPr id="7" name="">
            <a:extLst xmlns:a="http://schemas.openxmlformats.org/drawingml/2006/main">
              <a:ext uri="{FF2B5EF4-FFF2-40B4-BE49-F238E27FC236}">
                <a16:creationId xmlns:a16="http://schemas.microsoft.com/office/drawing/2014/main" id="{7CB0827B-F2B8-4F33-A3B6-EF44746DB167}"/>
              </a:ext>
            </a:extLst>
          </p:cNvPr>
          <p:cNvSpPr>
            <a:spLocks xmlns:a="http://schemas.openxmlformats.org/drawingml/2006/main" noGrp="1"/>
          </p:cNvSpPr>
          <p:nvPr/>
        </p:nvSpPr>
        <p:spPr>
          <a:xfrm xmlns:a="http://schemas.openxmlformats.org/drawingml/2006/main">
            <a:off x="647700" y="49149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D6520"/>
                </a:solidFill>
                <a:latin typeface="Helvetica Neue"/>
                <a:ea typeface="Helvetica Neue"/>
                <a:cs typeface="Helvetica Neue"/>
              </a:defRPr>
            </a:pPr>
            <a:r>
              <a:rPr sz="2025" b="1">
                <a:solidFill>
                  <a:srgbClr val="AD6520"/>
                </a:solidFill>
                <a:latin typeface="Helvetica Neue"/>
                <a:ea typeface="Helvetica Neue"/>
                <a:cs typeface="Helvetica Neue"/>
              </a:rPr>
              <a:t>Sonnet failed four of the nine sample settings</a:t>
            </a:r>
          </a:p>
        </p:txBody>
      </p:sp>
      <p:sp>
        <p:nvSpPr>
          <p:cNvPr id="8" name="">
            <a:extLst xmlns:a="http://schemas.openxmlformats.org/drawingml/2006/main">
              <a:ext uri="{FF2B5EF4-FFF2-40B4-BE49-F238E27FC236}">
                <a16:creationId xmlns:a16="http://schemas.microsoft.com/office/drawing/2014/main" id="{22A86022-047D-4220-8BFE-FA29C387D901}"/>
              </a:ext>
            </a:extLst>
          </p:cNvPr>
          <p:cNvSpPr>
            <a:spLocks xmlns:a="http://schemas.openxmlformats.org/drawingml/2006/main" noGrp="1"/>
          </p:cNvSpPr>
          <p:nvPr/>
        </p:nvSpPr>
        <p:spPr>
          <a:xfrm xmlns:a="http://schemas.openxmlformats.org/drawingml/2006/main">
            <a:off x="647700" y="53816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Fable and Opus: 18/18 passes. Sonnet: 5/9 passes.</a:t>
            </a:r>
          </a:p>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We retain separate records for repeats and corrected Zenoh regrades.</a:t>
            </a:r>
          </a:p>
        </p:txBody>
      </p:sp>
    </p:spTree>
    <p:extLst>
      <p:ext uri="{BB962C8B-B14F-4D97-AF65-F5344CB8AC3E}">
        <p14:creationId xmlns:p14="http://schemas.microsoft.com/office/powerpoint/2010/main" val="19272843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CBECDAE-616E-4B67-9FF7-D0AA5D67EA2F}"/>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Rerun: incorrect chunk layout</a:t>
            </a:r>
          </a:p>
        </p:txBody>
      </p:sp>
      <p:sp>
        <p:nvSpPr>
          <p:cNvPr id="2" name="">
            <a:extLst xmlns:a="http://schemas.openxmlformats.org/drawingml/2006/main">
              <a:ext uri="{FF2B5EF4-FFF2-40B4-BE49-F238E27FC236}">
                <a16:creationId xmlns:a16="http://schemas.microsoft.com/office/drawing/2014/main" id="{FD2C6E6C-2AB3-492C-B446-A85975EEFC34}"/>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D994C9-E1FB-4089-A369-74CAF6CC090E}"/>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4" name="">
            <a:extLst xmlns:a="http://schemas.openxmlformats.org/drawingml/2006/main">
              <a:ext uri="{FF2B5EF4-FFF2-40B4-BE49-F238E27FC236}">
                <a16:creationId xmlns:a16="http://schemas.microsoft.com/office/drawing/2014/main" id="{89A7CB7F-2C56-466E-B6E3-C3DCAA968363}"/>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1E80100A-281B-49E8-BF85-30CB3CB6E631}"/>
              </a:ext>
            </a:extLst>
          </p:cNvPr>
          <p:cNvSpPr>
            <a:spLocks xmlns:a="http://schemas.openxmlformats.org/drawingml/2006/main" noGrp="1"/>
          </p:cNvSpPr>
          <p:nvPr/>
        </p:nvSpPr>
        <p:spPr>
          <a:xfrm xmlns:a="http://schemas.openxmlformats.org/drawingml/2006/main">
            <a:off x="647700" y="181927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F3A"/>
                </a:solidFill>
                <a:latin typeface="Helvetica Neue"/>
                <a:ea typeface="Helvetica Neue"/>
                <a:cs typeface="Helvetica Neue"/>
              </a:defRPr>
            </a:pPr>
            <a:r>
              <a:rPr sz="1875" b="1">
                <a:solidFill>
                  <a:srgbClr val="142F3A"/>
                </a:solidFill>
                <a:latin typeface="Helvetica Neue"/>
                <a:ea typeface="Helvetica Neue"/>
                <a:cs typeface="Helvetica Neue"/>
              </a:rPr>
              <a:t>Returned layout, rows per chunk</a:t>
            </a:r>
          </a:p>
        </p:txBody>
      </p:sp>
      <p:sp>
        <p:nvSpPr>
          <p:cNvPr id="6" name="">
            <a:extLst xmlns:a="http://schemas.openxmlformats.org/drawingml/2006/main">
              <a:ext uri="{FF2B5EF4-FFF2-40B4-BE49-F238E27FC236}">
                <a16:creationId xmlns:a16="http://schemas.microsoft.com/office/drawing/2014/main" id="{AD8CF086-CE9C-410B-A1C6-BB9E777DE9B3}"/>
              </a:ext>
            </a:extLst>
          </p:cNvPr>
          <p:cNvSpPr>
            <a:spLocks xmlns:a="http://schemas.openxmlformats.org/drawingml/2006/main" noGrp="1"/>
          </p:cNvSpPr>
          <p:nvPr/>
        </p:nvSpPr>
        <p:spPr>
          <a:xfrm xmlns:a="http://schemas.openxmlformats.org/drawingml/2006/main">
            <a:off x="647700" y="2238375"/>
            <a:ext cx="3143250" cy="542925"/>
          </a:xfrm>
          <a:prstGeom xmlns:a="http://schemas.openxmlformats.org/drawingml/2006/main" prst="rect">
            <a:avLst/>
          </a:prstGeom>
          <a:solidFill xmlns:a="http://schemas.openxmlformats.org/drawingml/2006/main">
            <a:srgbClr val="AD652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3FCEDC1-8530-4B26-832C-F92644D73633}"/>
              </a:ext>
            </a:extLst>
          </p:cNvPr>
          <p:cNvSpPr>
            <a:spLocks xmlns:a="http://schemas.openxmlformats.org/drawingml/2006/main" noGrp="1"/>
          </p:cNvSpPr>
          <p:nvPr/>
        </p:nvSpPr>
        <p:spPr>
          <a:xfrm xmlns:a="http://schemas.openxmlformats.org/drawingml/2006/main">
            <a:off x="762000" y="2333625"/>
            <a:ext cx="2971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6</a:t>
            </a:r>
          </a:p>
        </p:txBody>
      </p:sp>
      <p:sp>
        <p:nvSpPr>
          <p:cNvPr id="8" name="">
            <a:extLst xmlns:a="http://schemas.openxmlformats.org/drawingml/2006/main">
              <a:ext uri="{FF2B5EF4-FFF2-40B4-BE49-F238E27FC236}">
                <a16:creationId xmlns:a16="http://schemas.microsoft.com/office/drawing/2014/main" id="{4D4C62F0-A239-4521-8FE9-F57D0EA8F66F}"/>
              </a:ext>
            </a:extLst>
          </p:cNvPr>
          <p:cNvSpPr>
            <a:spLocks xmlns:a="http://schemas.openxmlformats.org/drawingml/2006/main" noGrp="1"/>
          </p:cNvSpPr>
          <p:nvPr/>
        </p:nvSpPr>
        <p:spPr>
          <a:xfrm xmlns:a="http://schemas.openxmlformats.org/drawingml/2006/main">
            <a:off x="3905250" y="2238375"/>
            <a:ext cx="1047750" cy="542925"/>
          </a:xfrm>
          <a:prstGeom xmlns:a="http://schemas.openxmlformats.org/drawingml/2006/main" prst="rect">
            <a:avLst/>
          </a:prstGeom>
          <a:solidFill xmlns:a="http://schemas.openxmlformats.org/drawingml/2006/main">
            <a:srgbClr val="AD652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09B80F4-D905-415C-AE93-E3120399B487}"/>
              </a:ext>
            </a:extLst>
          </p:cNvPr>
          <p:cNvSpPr>
            <a:spLocks xmlns:a="http://schemas.openxmlformats.org/drawingml/2006/main" noGrp="1"/>
          </p:cNvSpPr>
          <p:nvPr/>
        </p:nvSpPr>
        <p:spPr>
          <a:xfrm xmlns:a="http://schemas.openxmlformats.org/drawingml/2006/main">
            <a:off x="4019550" y="2333625"/>
            <a:ext cx="876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5E0F5600-4B3D-4446-A232-D8B45BDD994D}"/>
              </a:ext>
            </a:extLst>
          </p:cNvPr>
          <p:cNvSpPr>
            <a:spLocks xmlns:a="http://schemas.openxmlformats.org/drawingml/2006/main" noGrp="1"/>
          </p:cNvSpPr>
          <p:nvPr/>
        </p:nvSpPr>
        <p:spPr>
          <a:xfrm xmlns:a="http://schemas.openxmlformats.org/drawingml/2006/main">
            <a:off x="647700" y="309562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F3A"/>
                </a:solidFill>
                <a:latin typeface="Helvetica Neue"/>
                <a:ea typeface="Helvetica Neue"/>
                <a:cs typeface="Helvetica Neue"/>
              </a:defRPr>
            </a:pPr>
            <a:r>
              <a:rPr sz="1875" b="1">
                <a:solidFill>
                  <a:srgbClr val="142F3A"/>
                </a:solidFill>
                <a:latin typeface="Helvetica Neue"/>
                <a:ea typeface="Helvetica Neue"/>
                <a:cs typeface="Helvetica Neue"/>
              </a:rPr>
              <a:t>Required layout, rows per chunk</a:t>
            </a:r>
          </a:p>
        </p:txBody>
      </p:sp>
      <p:sp>
        <p:nvSpPr>
          <p:cNvPr id="11" name="">
            <a:extLst xmlns:a="http://schemas.openxmlformats.org/drawingml/2006/main">
              <a:ext uri="{FF2B5EF4-FFF2-40B4-BE49-F238E27FC236}">
                <a16:creationId xmlns:a16="http://schemas.microsoft.com/office/drawing/2014/main" id="{0B6C668D-825E-464D-9B27-8135A1DEE462}"/>
              </a:ext>
            </a:extLst>
          </p:cNvPr>
          <p:cNvSpPr>
            <a:spLocks xmlns:a="http://schemas.openxmlformats.org/drawingml/2006/main" noGrp="1"/>
          </p:cNvSpPr>
          <p:nvPr/>
        </p:nvSpPr>
        <p:spPr>
          <a:xfrm xmlns:a="http://schemas.openxmlformats.org/drawingml/2006/main">
            <a:off x="647700" y="3514725"/>
            <a:ext cx="2095500" cy="542925"/>
          </a:xfrm>
          <a:prstGeom xmlns:a="http://schemas.openxmlformats.org/drawingml/2006/main" prst="rect">
            <a:avLst/>
          </a:prstGeom>
          <a:solidFill xmlns:a="http://schemas.openxmlformats.org/drawingml/2006/main">
            <a:srgbClr val="007B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622BC85-7749-48D2-B59E-0AA18303143F}"/>
              </a:ext>
            </a:extLst>
          </p:cNvPr>
          <p:cNvSpPr>
            <a:spLocks xmlns:a="http://schemas.openxmlformats.org/drawingml/2006/main" noGrp="1"/>
          </p:cNvSpPr>
          <p:nvPr/>
        </p:nvSpPr>
        <p:spPr>
          <a:xfrm xmlns:a="http://schemas.openxmlformats.org/drawingml/2006/main">
            <a:off x="762000" y="3609975"/>
            <a:ext cx="1924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4</a:t>
            </a:r>
          </a:p>
        </p:txBody>
      </p:sp>
      <p:sp>
        <p:nvSpPr>
          <p:cNvPr id="13" name="">
            <a:extLst xmlns:a="http://schemas.openxmlformats.org/drawingml/2006/main">
              <a:ext uri="{FF2B5EF4-FFF2-40B4-BE49-F238E27FC236}">
                <a16:creationId xmlns:a16="http://schemas.microsoft.com/office/drawing/2014/main" id="{0CCF8F2F-AF82-40BB-AB40-F76D4D59B073}"/>
              </a:ext>
            </a:extLst>
          </p:cNvPr>
          <p:cNvSpPr>
            <a:spLocks xmlns:a="http://schemas.openxmlformats.org/drawingml/2006/main" noGrp="1"/>
          </p:cNvSpPr>
          <p:nvPr/>
        </p:nvSpPr>
        <p:spPr>
          <a:xfrm xmlns:a="http://schemas.openxmlformats.org/drawingml/2006/main">
            <a:off x="2857500" y="3514725"/>
            <a:ext cx="2095500" cy="542925"/>
          </a:xfrm>
          <a:prstGeom xmlns:a="http://schemas.openxmlformats.org/drawingml/2006/main" prst="rect">
            <a:avLst/>
          </a:prstGeom>
          <a:solidFill xmlns:a="http://schemas.openxmlformats.org/drawingml/2006/main">
            <a:srgbClr val="007B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AA8D399-781E-4355-9D33-FE55252681D6}"/>
              </a:ext>
            </a:extLst>
          </p:cNvPr>
          <p:cNvSpPr>
            <a:spLocks xmlns:a="http://schemas.openxmlformats.org/drawingml/2006/main" noGrp="1"/>
          </p:cNvSpPr>
          <p:nvPr/>
        </p:nvSpPr>
        <p:spPr>
          <a:xfrm xmlns:a="http://schemas.openxmlformats.org/drawingml/2006/main">
            <a:off x="2971800" y="3609975"/>
            <a:ext cx="1924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4</a:t>
            </a:r>
          </a:p>
        </p:txBody>
      </p:sp>
      <p:sp>
        <p:nvSpPr>
          <p:cNvPr id="15" name="">
            <a:extLst xmlns:a="http://schemas.openxmlformats.org/drawingml/2006/main">
              <a:ext uri="{FF2B5EF4-FFF2-40B4-BE49-F238E27FC236}">
                <a16:creationId xmlns:a16="http://schemas.microsoft.com/office/drawing/2014/main" id="{1683A942-5537-4F20-9401-C0983FB731B0}"/>
              </a:ext>
            </a:extLst>
          </p:cNvPr>
          <p:cNvSpPr>
            <a:spLocks xmlns:a="http://schemas.openxmlformats.org/drawingml/2006/main" noGrp="1"/>
          </p:cNvSpPr>
          <p:nvPr/>
        </p:nvSpPr>
        <p:spPr>
          <a:xfrm xmlns:a="http://schemas.openxmlformats.org/drawingml/2006/main">
            <a:off x="6286500" y="1943100"/>
            <a:ext cx="52197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F3A"/>
                </a:solidFill>
                <a:latin typeface="Helvetica Neue"/>
                <a:ea typeface="Helvetica Neue"/>
                <a:cs typeface="Helvetica Neue"/>
              </a:defRPr>
            </a:pPr>
            <a:r>
              <a:rPr sz="2175" b="1">
                <a:solidFill>
                  <a:srgbClr val="142F3A"/>
                </a:solidFill>
                <a:latin typeface="Helvetica Neue"/>
                <a:ea typeface="Helvetica Neue"/>
                <a:cs typeface="Helvetica Neue"/>
              </a:rPr>
              <a:t>“All existing tests for the three crates pass, plus my own smoke tests”</a:t>
            </a:r>
          </a:p>
        </p:txBody>
      </p:sp>
      <p:sp>
        <p:nvSpPr>
          <p:cNvPr id="16" name="">
            <a:extLst xmlns:a="http://schemas.openxmlformats.org/drawingml/2006/main">
              <a:ext uri="{FF2B5EF4-FFF2-40B4-BE49-F238E27FC236}">
                <a16:creationId xmlns:a16="http://schemas.microsoft.com/office/drawing/2014/main" id="{F8F7A508-E1C8-492B-B847-22ACBD29465E}"/>
              </a:ext>
            </a:extLst>
          </p:cNvPr>
          <p:cNvSpPr>
            <a:spLocks xmlns:a="http://schemas.openxmlformats.org/drawingml/2006/main" noGrp="1"/>
          </p:cNvSpPr>
          <p:nvPr/>
        </p:nvSpPr>
        <p:spPr>
          <a:xfrm xmlns:a="http://schemas.openxmlformats.org/drawingml/2006/main">
            <a:off x="6286500" y="3286125"/>
            <a:ext cx="521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Sonnet failed five split, packing and row-limit checks while passing the existing regression suites.</a:t>
            </a:r>
          </a:p>
        </p:txBody>
      </p:sp>
      <p:graphicFrame>
        <p:nvGraphicFramePr>
          <p:cNvPr id="34" name=""/>
          <p:cNvGraphicFramePr/>
          <p:nvPr/>
        </p:nvGraphicFramePr>
        <p:xfrm>
          <a:off xmlns:a="http://schemas.openxmlformats.org/drawingml/2006/main" x="647700" y="4562475"/>
          <a:ext xmlns:a="http://schemas.openxmlformats.org/drawingml/2006/main" cx="10896600" cy="1333500"/>
        </p:xfrm>
        <a:graphic xmlns:a="http://schemas.openxmlformats.org/drawingml/2006/main">
          <a:graphicData uri="http://schemas.openxmlformats.org/drawingml/2006/table">
            <a:tbl>
              <a:tblPr/>
              <a:tblGrid>
                <a:gridCol w="5619750"/>
                <a:gridCol w="5276850"/>
              </a:tblGrid>
              <a:tr h="444500">
                <a:tc>
                  <a:txBody>
                    <a:bodyPr>
                      <a:noAutofit/>
                    </a:bodyPr>
                    <a:lstStyle/>
                    <a:p>
                      <a:r>
                        <a:rPr sz="1725" b="1">
                          <a:solidFill>
                            <a:srgbClr val="FFFFFF"/>
                          </a:solidFill>
                          <a:latin typeface="Helvetica Neue"/>
                          <a:ea typeface="Helvetica Neue"/>
                          <a:cs typeface="Helvetica Neue"/>
                        </a:rPr>
                        <a:t>Sonnet attempts on the same task</a:t>
                      </a:r>
                    </a:p>
                  </a:txBody>
                  <a:tcPr marL="91440" marR="91440" marT="45720" marB="45720">
                    <a:solidFill>
                      <a:srgbClr val="142F3A"/>
                    </a:solidFill>
                  </a:tcPr>
                </a:tc>
                <a:tc>
                  <a:txBody>
                    <a:bodyPr>
                      <a:noAutofit/>
                    </a:bodyPr>
                    <a:lstStyle/>
                    <a:p>
                      <a:r>
                        <a:rPr sz="1725" b="1">
                          <a:solidFill>
                            <a:srgbClr val="FFFFFF"/>
                          </a:solidFill>
                          <a:latin typeface="Helvetica Neue"/>
                          <a:ea typeface="Helvetica Neue"/>
                          <a:cs typeface="Helvetica Neue"/>
                        </a:rPr>
                        <a:t>Observed result</a:t>
                      </a:r>
                    </a:p>
                  </a:txBody>
                  <a:tcPr marL="91440" marR="91440" marT="45720" marB="45720">
                    <a:solidFill>
                      <a:srgbClr val="142F3A"/>
                    </a:solidFill>
                  </a:tcPr>
                </a:tc>
              </a:tr>
              <a:tr h="444500">
                <a:tc>
                  <a:txBody>
                    <a:bodyPr>
                      <a:noAutofit/>
                    </a:bodyPr>
                    <a:lstStyle/>
                    <a:p>
                      <a:r>
                        <a:rPr sz="1725" b="0">
                          <a:solidFill>
                            <a:srgbClr val="142F3A"/>
                          </a:solidFill>
                          <a:latin typeface="Helvetica Neue"/>
                          <a:ea typeface="Helvetica Neue"/>
                          <a:cs typeface="Helvetica Neue"/>
                        </a:rPr>
                        <a:t>sonnet/medium, 138 steps, fail</a:t>
                      </a:r>
                    </a:p>
                  </a:txBody>
                  <a:tcPr marL="91440" marR="91440" marT="45720" marB="45720">
                    <a:solidFill>
                      <a:srgbClr val="E9F3F1"/>
                    </a:solidFill>
                  </a:tcPr>
                </a:tc>
                <a:tc>
                  <a:txBody>
                    <a:bodyPr>
                      <a:noAutofit/>
                    </a:bodyPr>
                    <a:lstStyle/>
                    <a:p>
                      <a:r>
                        <a:rPr sz="1725" b="0">
                          <a:solidFill>
                            <a:srgbClr val="142F3A"/>
                          </a:solidFill>
                          <a:latin typeface="Helvetica Neue"/>
                          <a:ea typeface="Helvetica Neue"/>
                          <a:cs typeface="Helvetica Neue"/>
                        </a:rPr>
                        <a:t>Layout contract failures</a:t>
                      </a:r>
                    </a:p>
                  </a:txBody>
                  <a:tcPr marL="91440" marR="91440" marT="45720" marB="45720">
                    <a:solidFill>
                      <a:srgbClr val="E9F3F1"/>
                    </a:solidFill>
                  </a:tcPr>
                </a:tc>
              </a:tr>
              <a:tr h="444500">
                <a:tc>
                  <a:txBody>
                    <a:bodyPr>
                      <a:noAutofit/>
                    </a:bodyPr>
                    <a:lstStyle/>
                    <a:p>
                      <a:r>
                        <a:rPr sz="1725" b="0">
                          <a:solidFill>
                            <a:srgbClr val="142F3A"/>
                          </a:solidFill>
                          <a:latin typeface="Helvetica Neue"/>
                          <a:ea typeface="Helvetica Neue"/>
                          <a:cs typeface="Helvetica Neue"/>
                        </a:rPr>
                        <a:t>sonnet/max, 383 steps, pass</a:t>
                      </a:r>
                    </a:p>
                  </a:txBody>
                  <a:tcPr marL="91440" marR="91440" marT="45720" marB="45720">
                    <a:solidFill>
                      <a:srgbClr val="FFFFFF"/>
                    </a:solidFill>
                  </a:tcPr>
                </a:tc>
                <a:tc>
                  <a:txBody>
                    <a:bodyPr>
                      <a:noAutofit/>
                    </a:bodyPr>
                    <a:lstStyle/>
                    <a:p>
                      <a:r>
                        <a:rPr sz="1725" b="0">
                          <a:solidFill>
                            <a:srgbClr val="142F3A"/>
                          </a:solidFill>
                          <a:latin typeface="Helvetica Neue"/>
                          <a:ea typeface="Helvetica Neue"/>
                          <a:cs typeface="Helvetica Neue"/>
                        </a:rPr>
                        <a:t>All verifier groups passed</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2993431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1F1824E-29FF-485A-AAB8-304271E03F43}"/>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Zenoh: Sonnet used the wrong public type</a:t>
            </a:r>
          </a:p>
        </p:txBody>
      </p:sp>
      <p:sp>
        <p:nvSpPr>
          <p:cNvPr id="2" name="">
            <a:extLst xmlns:a="http://schemas.openxmlformats.org/drawingml/2006/main">
              <a:ext uri="{FF2B5EF4-FFF2-40B4-BE49-F238E27FC236}">
                <a16:creationId xmlns:a16="http://schemas.microsoft.com/office/drawing/2014/main" id="{80CD42B0-F38C-4692-BAC9-F3DF65D661E1}"/>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Corrected verifier: eight passes and the same API failure in nine saved submissions</a:t>
            </a:r>
          </a:p>
        </p:txBody>
      </p:sp>
      <p:sp>
        <p:nvSpPr>
          <p:cNvPr id="3" name="">
            <a:extLst xmlns:a="http://schemas.openxmlformats.org/drawingml/2006/main">
              <a:ext uri="{FF2B5EF4-FFF2-40B4-BE49-F238E27FC236}">
                <a16:creationId xmlns:a16="http://schemas.microsoft.com/office/drawing/2014/main" id="{217B0255-236D-42ED-AFAE-4EF2C8E6E302}"/>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CD8E075-EA1A-46EF-BC6A-2C819C99A2DB}"/>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492D4150-FFF9-4FD9-9DF7-2E8D3A14728A}"/>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13</a:t>
            </a:r>
          </a:p>
        </p:txBody>
      </p:sp>
      <p:sp>
        <p:nvSpPr>
          <p:cNvPr id="6" name="">
            <a:extLst xmlns:a="http://schemas.openxmlformats.org/drawingml/2006/main">
              <a:ext uri="{FF2B5EF4-FFF2-40B4-BE49-F238E27FC236}">
                <a16:creationId xmlns:a16="http://schemas.microsoft.com/office/drawing/2014/main" id="{E65A17E3-3DBC-4E80-AAAD-9CADF8640569}"/>
              </a:ext>
            </a:extLst>
          </p:cNvPr>
          <p:cNvSpPr>
            <a:spLocks xmlns:a="http://schemas.openxmlformats.org/drawingml/2006/main" noGrp="1"/>
          </p:cNvSpPr>
          <p:nvPr/>
        </p:nvSpPr>
        <p:spPr>
          <a:xfrm xmlns:a="http://schemas.openxmlformats.org/drawingml/2006/main">
            <a:off x="647700" y="18859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Required public type</a:t>
            </a:r>
          </a:p>
        </p:txBody>
      </p:sp>
      <p:sp>
        <p:nvSpPr>
          <p:cNvPr id="7" name="">
            <a:extLst xmlns:a="http://schemas.openxmlformats.org/drawingml/2006/main">
              <a:ext uri="{FF2B5EF4-FFF2-40B4-BE49-F238E27FC236}">
                <a16:creationId xmlns:a16="http://schemas.microsoft.com/office/drawing/2014/main" id="{4895DCDD-DAC9-495F-9E82-37CED2F150C1}"/>
              </a:ext>
            </a:extLst>
          </p:cNvPr>
          <p:cNvSpPr>
            <a:spLocks xmlns:a="http://schemas.openxmlformats.org/drawingml/2006/main" noGrp="1"/>
          </p:cNvSpPr>
          <p:nvPr/>
        </p:nvSpPr>
        <p:spPr>
          <a:xfrm xmlns:a="http://schemas.openxmlformats.org/drawingml/2006/main">
            <a:off x="647700" y="24098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The instruction requires ZenohId for TimestampContext.zid. Sonnet used the wire type ZenohIdProto.</a:t>
            </a:r>
          </a:p>
        </p:txBody>
      </p:sp>
      <p:sp>
        <p:nvSpPr>
          <p:cNvPr id="8" name="">
            <a:extLst xmlns:a="http://schemas.openxmlformats.org/drawingml/2006/main">
              <a:ext uri="{FF2B5EF4-FFF2-40B4-BE49-F238E27FC236}">
                <a16:creationId xmlns:a16="http://schemas.microsoft.com/office/drawing/2014/main" id="{C09D7DC3-23DB-4A42-A970-5719447CE418}"/>
              </a:ext>
            </a:extLst>
          </p:cNvPr>
          <p:cNvSpPr>
            <a:spLocks xmlns:a="http://schemas.openxmlformats.org/drawingml/2006/main" noGrp="1"/>
          </p:cNvSpPr>
          <p:nvPr/>
        </p:nvSpPr>
        <p:spPr>
          <a:xfrm xmlns:a="http://schemas.openxmlformats.org/drawingml/2006/main">
            <a:off x="6448425" y="18859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Downstream compilation</a:t>
            </a:r>
          </a:p>
        </p:txBody>
      </p:sp>
      <p:sp>
        <p:nvSpPr>
          <p:cNvPr id="9" name="">
            <a:extLst xmlns:a="http://schemas.openxmlformats.org/drawingml/2006/main">
              <a:ext uri="{FF2B5EF4-FFF2-40B4-BE49-F238E27FC236}">
                <a16:creationId xmlns:a16="http://schemas.microsoft.com/office/drawing/2014/main" id="{D32F7DBE-B53B-4EBF-B445-D8D743A40F65}"/>
              </a:ext>
            </a:extLst>
          </p:cNvPr>
          <p:cNvSpPr>
            <a:spLocks xmlns:a="http://schemas.openxmlformats.org/drawingml/2006/main" noGrp="1"/>
          </p:cNvSpPr>
          <p:nvPr/>
        </p:nvSpPr>
        <p:spPr>
          <a:xfrm xmlns:a="http://schemas.openxmlformats.org/drawingml/2006/main">
            <a:off x="6448425" y="240982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Downstream users compile against the specified API. The type mismatch prevents that code from compiling.</a:t>
            </a:r>
          </a:p>
        </p:txBody>
      </p:sp>
      <p:sp>
        <p:nvSpPr>
          <p:cNvPr id="10" name="">
            <a:extLst xmlns:a="http://schemas.openxmlformats.org/drawingml/2006/main">
              <a:ext uri="{FF2B5EF4-FFF2-40B4-BE49-F238E27FC236}">
                <a16:creationId xmlns:a16="http://schemas.microsoft.com/office/drawing/2014/main" id="{7301F464-2ACF-4897-8A07-2537C4E025CA}"/>
              </a:ext>
            </a:extLst>
          </p:cNvPr>
          <p:cNvSpPr>
            <a:spLocks xmlns:a="http://schemas.openxmlformats.org/drawingml/2006/main" noGrp="1"/>
          </p:cNvSpPr>
          <p:nvPr/>
        </p:nvSpPr>
        <p:spPr>
          <a:xfrm xmlns:a="http://schemas.openxmlformats.org/drawingml/2006/main">
            <a:off x="647700" y="38290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C75"/>
                </a:solidFill>
                <a:latin typeface="Helvetica Neue"/>
                <a:ea typeface="Helvetica Neue"/>
                <a:cs typeface="Helvetica Neue"/>
              </a:defRPr>
            </a:pPr>
            <a:r>
              <a:rPr sz="1800" b="0">
                <a:solidFill>
                  <a:srgbClr val="536C75"/>
                </a:solidFill>
                <a:latin typeface="Helvetica Neue"/>
                <a:ea typeface="Helvetica Neue"/>
                <a:cs typeface="Helvetica Neue"/>
              </a:rPr>
              <a:t>“Everything is green with both feature configurations.”</a:t>
            </a:r>
          </a:p>
        </p:txBody>
      </p:sp>
      <p:graphicFrame>
        <p:nvGraphicFramePr>
          <p:cNvPr id="22" name=""/>
          <p:cNvGraphicFramePr/>
          <p:nvPr/>
        </p:nvGraphicFramePr>
        <p:xfrm>
          <a:off xmlns:a="http://schemas.openxmlformats.org/drawingml/2006/main" x="647700" y="4562475"/>
          <a:ext xmlns:a="http://schemas.openxmlformats.org/drawingml/2006/main" cx="10896600" cy="1333500"/>
        </p:xfrm>
        <a:graphic xmlns:a="http://schemas.openxmlformats.org/drawingml/2006/main">
          <a:graphicData uri="http://schemas.openxmlformats.org/drawingml/2006/table">
            <a:tbl>
              <a:tblPr/>
              <a:tblGrid>
                <a:gridCol w="5619750"/>
                <a:gridCol w="5276850"/>
              </a:tblGrid>
              <a:tr h="444500">
                <a:tc>
                  <a:txBody>
                    <a:bodyPr>
                      <a:noAutofit/>
                    </a:bodyPr>
                    <a:lstStyle/>
                    <a:p>
                      <a:r>
                        <a:rPr sz="1725" b="1">
                          <a:solidFill>
                            <a:srgbClr val="FFFFFF"/>
                          </a:solidFill>
                          <a:latin typeface="Helvetica Neue"/>
                          <a:ea typeface="Helvetica Neue"/>
                          <a:cs typeface="Helvetica Neue"/>
                        </a:rPr>
                        <a:t>Sonnet effort</a:t>
                      </a:r>
                    </a:p>
                  </a:txBody>
                  <a:tcPr marL="91440" marR="91440" marT="45720" marB="45720">
                    <a:solidFill>
                      <a:srgbClr val="142F3A"/>
                    </a:solidFill>
                  </a:tcPr>
                </a:tc>
                <a:tc>
                  <a:txBody>
                    <a:bodyPr>
                      <a:noAutofit/>
                    </a:bodyPr>
                    <a:lstStyle/>
                    <a:p>
                      <a:r>
                        <a:rPr sz="1725" b="1">
                          <a:solidFill>
                            <a:srgbClr val="FFFFFF"/>
                          </a:solidFill>
                          <a:latin typeface="Helvetica Neue"/>
                          <a:ea typeface="Helvetica Neue"/>
                          <a:cs typeface="Helvetica Neue"/>
                        </a:rPr>
                        <a:t>Observed result</a:t>
                      </a:r>
                    </a:p>
                  </a:txBody>
                  <a:tcPr marL="91440" marR="91440" marT="45720" marB="45720">
                    <a:solidFill>
                      <a:srgbClr val="142F3A"/>
                    </a:solidFill>
                  </a:tcPr>
                </a:tc>
              </a:tr>
              <a:tr h="444500">
                <a:tc>
                  <a:txBody>
                    <a:bodyPr>
                      <a:noAutofit/>
                    </a:bodyPr>
                    <a:lstStyle/>
                    <a:p>
                      <a:r>
                        <a:rPr sz="1725" b="0">
                          <a:solidFill>
                            <a:srgbClr val="142F3A"/>
                          </a:solidFill>
                          <a:latin typeface="Helvetica Neue"/>
                          <a:ea typeface="Helvetica Neue"/>
                          <a:cs typeface="Helvetica Neue"/>
                        </a:rPr>
                        <a:t>Medium, 377 steps</a:t>
                      </a:r>
                    </a:p>
                  </a:txBody>
                  <a:tcPr marL="91440" marR="91440" marT="45720" marB="45720">
                    <a:solidFill>
                      <a:srgbClr val="E9F3F1"/>
                    </a:solidFill>
                  </a:tcPr>
                </a:tc>
                <a:tc>
                  <a:txBody>
                    <a:bodyPr>
                      <a:noAutofit/>
                    </a:bodyPr>
                    <a:lstStyle/>
                    <a:p>
                      <a:r>
                        <a:rPr sz="1725" b="0">
                          <a:solidFill>
                            <a:srgbClr val="142F3A"/>
                          </a:solidFill>
                          <a:latin typeface="Helvetica Neue"/>
                          <a:ea typeface="Helvetica Neue"/>
                          <a:cs typeface="Helvetica Neue"/>
                        </a:rPr>
                        <a:t>Type mismatch fails both verifiers</a:t>
                      </a:r>
                    </a:p>
                  </a:txBody>
                  <a:tcPr marL="91440" marR="91440" marT="45720" marB="45720">
                    <a:solidFill>
                      <a:srgbClr val="E9F3F1"/>
                    </a:solidFill>
                  </a:tcPr>
                </a:tc>
              </a:tr>
              <a:tr h="444500">
                <a:tc>
                  <a:txBody>
                    <a:bodyPr>
                      <a:noAutofit/>
                    </a:bodyPr>
                    <a:lstStyle/>
                    <a:p>
                      <a:r>
                        <a:rPr sz="1725" b="0">
                          <a:solidFill>
                            <a:srgbClr val="142F3A"/>
                          </a:solidFill>
                          <a:latin typeface="Helvetica Neue"/>
                          <a:ea typeface="Helvetica Neue"/>
                          <a:cs typeface="Helvetica Neue"/>
                        </a:rPr>
                        <a:t>Max, 626 steps</a:t>
                      </a:r>
                    </a:p>
                  </a:txBody>
                  <a:tcPr marL="91440" marR="91440" marT="45720" marB="45720">
                    <a:solidFill>
                      <a:srgbClr val="FFFFFF"/>
                    </a:solidFill>
                  </a:tcPr>
                </a:tc>
                <a:tc>
                  <a:txBody>
                    <a:bodyPr>
                      <a:noAutofit/>
                    </a:bodyPr>
                    <a:lstStyle/>
                    <a:p>
                      <a:r>
                        <a:rPr sz="1725" b="0">
                          <a:solidFill>
                            <a:srgbClr val="142F3A"/>
                          </a:solidFill>
                          <a:latin typeface="Helvetica Neue"/>
                          <a:ea typeface="Helvetica Neue"/>
                          <a:cs typeface="Helvetica Neue"/>
                        </a:rPr>
                        <a:t>Passes both v3 and corrected verifiers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993044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D7CC20B-1E8E-4982-9C92-568A0D46DF2B}"/>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Burn: parser failures and a source restriction</a:t>
            </a:r>
          </a:p>
        </p:txBody>
      </p:sp>
      <p:sp>
        <p:nvSpPr>
          <p:cNvPr id="2" name="">
            <a:extLst xmlns:a="http://schemas.openxmlformats.org/drawingml/2006/main">
              <a:ext uri="{FF2B5EF4-FFF2-40B4-BE49-F238E27FC236}">
                <a16:creationId xmlns:a16="http://schemas.microsoft.com/office/drawing/2014/main" id="{B00455E0-6995-4714-A6B8-A65A4EA179F0}"/>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0FAAD21-1393-4620-B33E-65C6FFEA8DC2}"/>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4" name="">
            <a:extLst xmlns:a="http://schemas.openxmlformats.org/drawingml/2006/main">
              <a:ext uri="{FF2B5EF4-FFF2-40B4-BE49-F238E27FC236}">
                <a16:creationId xmlns:a16="http://schemas.microsoft.com/office/drawing/2014/main" id="{C3207880-9660-4DEE-9F2C-03EF28F09730}"/>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14</a:t>
            </a:r>
          </a:p>
        </p:txBody>
      </p:sp>
      <p:graphicFrame>
        <p:nvGraphicFramePr>
          <p:cNvPr id="11" name=""/>
          <p:cNvGraphicFramePr/>
          <p:nvPr/>
        </p:nvGraphicFramePr>
        <p:xfrm>
          <a:off xmlns:a="http://schemas.openxmlformats.org/drawingml/2006/main" x="647700" y="1847850"/>
          <a:ext xmlns:a="http://schemas.openxmlformats.org/drawingml/2006/main" cx="10896600" cy="3333750"/>
        </p:xfrm>
        <a:graphic xmlns:a="http://schemas.openxmlformats.org/drawingml/2006/main">
          <a:graphicData uri="http://schemas.openxmlformats.org/drawingml/2006/table">
            <a:tbl>
              <a:tblPr/>
              <a:tblGrid>
                <a:gridCol w="4381500"/>
                <a:gridCol w="6515100"/>
              </a:tblGrid>
              <a:tr h="666750">
                <a:tc>
                  <a:txBody>
                    <a:bodyPr>
                      <a:noAutofit/>
                    </a:bodyPr>
                    <a:lstStyle/>
                    <a:p>
                      <a:r>
                        <a:rPr sz="1875" b="1">
                          <a:solidFill>
                            <a:srgbClr val="FFFFFF"/>
                          </a:solidFill>
                          <a:latin typeface="Helvetica Neue"/>
                          <a:ea typeface="Helvetica Neue"/>
                          <a:cs typeface="Helvetica Neue"/>
                        </a:rPr>
                        <a:t>Observation</a:t>
                      </a:r>
                    </a:p>
                  </a:txBody>
                  <a:tcPr marL="91440" marR="91440" marT="45720" marB="45720">
                    <a:solidFill>
                      <a:srgbClr val="142F3A"/>
                    </a:solidFill>
                  </a:tcPr>
                </a:tc>
                <a:tc>
                  <a:txBody>
                    <a:bodyPr>
                      <a:noAutofit/>
                    </a:bodyPr>
                    <a:lstStyle/>
                    <a:p>
                      <a:r>
                        <a:rPr sz="1875" b="1">
                          <a:solidFill>
                            <a:srgbClr val="FFFFFF"/>
                          </a:solidFill>
                          <a:latin typeface="Helvetica Neue"/>
                          <a:ea typeface="Helvetica Neue"/>
                          <a:cs typeface="Helvetica Neue"/>
                        </a:rPr>
                        <a:t>Interpretation</a:t>
                      </a:r>
                    </a:p>
                  </a:txBody>
                  <a:tcPr marL="91440" marR="91440" marT="45720" marB="45720">
                    <a:solidFill>
                      <a:srgbClr val="142F3A"/>
                    </a:solidFill>
                  </a:tcPr>
                </a:tc>
              </a:tr>
              <a:tr h="666750">
                <a:tc>
                  <a:txBody>
                    <a:bodyPr>
                      <a:noAutofit/>
                    </a:bodyPr>
                    <a:lstStyle/>
                    <a:p>
                      <a:r>
                        <a:rPr sz="1875" b="0">
                          <a:solidFill>
                            <a:srgbClr val="142F3A"/>
                          </a:solidFill>
                          <a:latin typeface="Helvetica Neue"/>
                          <a:ea typeface="Helvetica Neue"/>
                          <a:cs typeface="Helvetica Neue"/>
                        </a:rPr>
                        <a:t>Sonnet medium, 42 steps</a:t>
                      </a:r>
                    </a:p>
                  </a:txBody>
                  <a:tcPr marL="91440" marR="91440" marT="45720" marB="45720">
                    <a:solidFill>
                      <a:srgbClr val="E9F3F1"/>
                    </a:solidFill>
                  </a:tcPr>
                </a:tc>
                <a:tc>
                  <a:txBody>
                    <a:bodyPr>
                      <a:noAutofit/>
                    </a:bodyPr>
                    <a:lstStyle/>
                    <a:p>
                      <a:r>
                        <a:rPr sz="1875" b="0">
                          <a:solidFill>
                            <a:srgbClr val="142F3A"/>
                          </a:solidFill>
                          <a:latin typeface="Helvetica Neue"/>
                          <a:ea typeface="Helvetica Neue"/>
                          <a:cs typeface="Helvetica Neue"/>
                        </a:rPr>
                        <a:t>Parser and validation failures</a:t>
                      </a:r>
                    </a:p>
                  </a:txBody>
                  <a:tcPr marL="91440" marR="91440" marT="45720" marB="45720">
                    <a:solidFill>
                      <a:srgbClr val="E9F3F1"/>
                    </a:solidFill>
                  </a:tcPr>
                </a:tc>
              </a:tr>
              <a:tr h="666750">
                <a:tc>
                  <a:txBody>
                    <a:bodyPr>
                      <a:noAutofit/>
                    </a:bodyPr>
                    <a:lstStyle/>
                    <a:p>
                      <a:r>
                        <a:rPr sz="1875" b="0">
                          <a:solidFill>
                            <a:srgbClr val="142F3A"/>
                          </a:solidFill>
                          <a:latin typeface="Helvetica Neue"/>
                          <a:ea typeface="Helvetica Neue"/>
                          <a:cs typeface="Helvetica Neue"/>
                        </a:rPr>
                        <a:t>Sonnet high, 251 steps</a:t>
                      </a:r>
                    </a:p>
                  </a:txBody>
                  <a:tcPr marL="91440" marR="91440" marT="45720" marB="45720">
                    <a:solidFill>
                      <a:srgbClr val="FFFFFF"/>
                    </a:solidFill>
                  </a:tcPr>
                </a:tc>
                <a:tc>
                  <a:txBody>
                    <a:bodyPr>
                      <a:noAutofit/>
                    </a:bodyPr>
                    <a:lstStyle/>
                    <a:p>
                      <a:r>
                        <a:rPr sz="1875" b="0">
                          <a:solidFill>
                            <a:srgbClr val="142F3A"/>
                          </a:solidFill>
                          <a:latin typeface="Helvetica Neue"/>
                          <a:ea typeface="Helvetica Neue"/>
                          <a:cs typeface="Helvetica Neue"/>
                        </a:rPr>
                        <a:t>Functional pass, source restriction failure</a:t>
                      </a:r>
                    </a:p>
                  </a:txBody>
                  <a:tcPr marL="91440" marR="91440" marT="45720" marB="45720">
                    <a:solidFill>
                      <a:srgbClr val="FFFFFF"/>
                    </a:solidFill>
                  </a:tcPr>
                </a:tc>
              </a:tr>
              <a:tr h="666750">
                <a:tc>
                  <a:txBody>
                    <a:bodyPr>
                      <a:noAutofit/>
                    </a:bodyPr>
                    <a:lstStyle/>
                    <a:p>
                      <a:r>
                        <a:rPr sz="1875" b="0">
                          <a:solidFill>
                            <a:srgbClr val="142F3A"/>
                          </a:solidFill>
                          <a:latin typeface="Helvetica Neue"/>
                          <a:ea typeface="Helvetica Neue"/>
                          <a:cs typeface="Helvetica Neue"/>
                        </a:rPr>
                        <a:t>Sonnet max, 323 steps</a:t>
                      </a:r>
                    </a:p>
                  </a:txBody>
                  <a:tcPr marL="91440" marR="91440" marT="45720" marB="45720">
                    <a:solidFill>
                      <a:srgbClr val="E9F3F1"/>
                    </a:solidFill>
                  </a:tcPr>
                </a:tc>
                <a:tc>
                  <a:txBody>
                    <a:bodyPr>
                      <a:noAutofit/>
                    </a:bodyPr>
                    <a:lstStyle/>
                    <a:p>
                      <a:r>
                        <a:rPr sz="1875" b="0">
                          <a:solidFill>
                            <a:srgbClr val="142F3A"/>
                          </a:solidFill>
                          <a:latin typeface="Helvetica Neue"/>
                          <a:ea typeface="Helvetica Neue"/>
                          <a:cs typeface="Helvetica Neue"/>
                        </a:rPr>
                        <a:t>Passes all verifier groups</a:t>
                      </a:r>
                    </a:p>
                  </a:txBody>
                  <a:tcPr marL="91440" marR="91440" marT="45720" marB="45720">
                    <a:solidFill>
                      <a:srgbClr val="E9F3F1"/>
                    </a:solidFill>
                  </a:tcPr>
                </a:tc>
              </a:tr>
              <a:tr h="666750">
                <a:tc>
                  <a:txBody>
                    <a:bodyPr>
                      <a:noAutofit/>
                    </a:bodyPr>
                    <a:lstStyle/>
                    <a:p>
                      <a:r>
                        <a:rPr sz="1875" b="0">
                          <a:solidFill>
                            <a:srgbClr val="142F3A"/>
                          </a:solidFill>
                          <a:latin typeface="Helvetica Neue"/>
                          <a:ea typeface="Helvetica Neue"/>
                          <a:cs typeface="Helvetica Neue"/>
                        </a:rPr>
                        <a:t>Fable / Opus max, 158 steps each</a:t>
                      </a:r>
                    </a:p>
                  </a:txBody>
                  <a:tcPr marL="91440" marR="91440" marT="45720" marB="45720">
                    <a:solidFill>
                      <a:srgbClr val="FFFFFF"/>
                    </a:solidFill>
                  </a:tcPr>
                </a:tc>
                <a:tc>
                  <a:txBody>
                    <a:bodyPr>
                      <a:noAutofit/>
                    </a:bodyPr>
                    <a:lstStyle/>
                    <a:p>
                      <a:r>
                        <a:rPr sz="1875" b="0">
                          <a:solidFill>
                            <a:srgbClr val="142F3A"/>
                          </a:solidFill>
                          <a:latin typeface="Helvetica Neue"/>
                          <a:ea typeface="Helvetica Neue"/>
                          <a:cs typeface="Helvetica Neue"/>
                        </a:rPr>
                        <a:t>Both pass all verifier groups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6818703-BB4B-44F8-9834-469EA80CF68B}"/>
              </a:ext>
            </a:extLst>
          </p:cNvPr>
          <p:cNvSpPr>
            <a:spLocks xmlns:a="http://schemas.openxmlformats.org/drawingml/2006/main" noGrp="1"/>
          </p:cNvSpPr>
          <p:nvPr/>
        </p:nvSpPr>
        <p:spPr>
          <a:xfrm xmlns:a="http://schemas.openxmlformats.org/drawingml/2006/main">
            <a:off x="647700" y="54959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F3A"/>
                </a:solidFill>
                <a:latin typeface="Helvetica Neue"/>
                <a:ea typeface="Helvetica Neue"/>
                <a:cs typeface="Helvetica Neue"/>
              </a:defRPr>
            </a:pPr>
            <a:r>
              <a:rPr sz="1950" b="1">
                <a:solidFill>
                  <a:srgbClr val="142F3A"/>
                </a:solidFill>
                <a:latin typeface="Helvetica Neue"/>
                <a:ea typeface="Helvetica Neue"/>
                <a:cs typeface="Helvetica Neue"/>
              </a:rPr>
              <a:t>Seven successful attempts took 76–323 turns. Failure causes include parser behavior and a source restriction.</a:t>
            </a:r>
          </a:p>
        </p:txBody>
      </p:sp>
    </p:spTree>
    <p:extLst>
      <p:ext uri="{BB962C8B-B14F-4D97-AF65-F5344CB8AC3E}">
        <p14:creationId xmlns:p14="http://schemas.microsoft.com/office/powerpoint/2010/main" val="19998536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E6ABD93-DEAC-4AEF-A0B5-160B3547906E}"/>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Failure review and test corrections</a:t>
            </a:r>
          </a:p>
        </p:txBody>
      </p:sp>
      <p:sp>
        <p:nvSpPr>
          <p:cNvPr id="2" name="">
            <a:extLst xmlns:a="http://schemas.openxmlformats.org/drawingml/2006/main">
              <a:ext uri="{FF2B5EF4-FFF2-40B4-BE49-F238E27FC236}">
                <a16:creationId xmlns:a16="http://schemas.microsoft.com/office/drawing/2014/main" id="{82DBEBEA-133A-425B-BE26-5907D27AC4CE}"/>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The held SQLite task is outside the 11-task result grid</a:t>
            </a:r>
          </a:p>
        </p:txBody>
      </p:sp>
      <p:sp>
        <p:nvSpPr>
          <p:cNvPr id="3" name="">
            <a:extLst xmlns:a="http://schemas.openxmlformats.org/drawingml/2006/main">
              <a:ext uri="{FF2B5EF4-FFF2-40B4-BE49-F238E27FC236}">
                <a16:creationId xmlns:a16="http://schemas.microsoft.com/office/drawing/2014/main" id="{416B8D30-47EB-4C34-8F03-D54DAF43D5CF}"/>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ABF4C9C-E7EA-4F30-91B3-8CB1FC68F19D}"/>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DEE982C0-A08F-41F5-A81D-08F757A597EA}"/>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15</a:t>
            </a:r>
          </a:p>
        </p:txBody>
      </p:sp>
      <p:sp>
        <p:nvSpPr>
          <p:cNvPr id="6" name="">
            <a:extLst xmlns:a="http://schemas.openxmlformats.org/drawingml/2006/main">
              <a:ext uri="{FF2B5EF4-FFF2-40B4-BE49-F238E27FC236}">
                <a16:creationId xmlns:a16="http://schemas.microsoft.com/office/drawing/2014/main" id="{FB68E0B3-B764-42CE-94B9-2A3B45589DDF}"/>
              </a:ext>
            </a:extLst>
          </p:cNvPr>
          <p:cNvSpPr>
            <a:spLocks xmlns:a="http://schemas.openxmlformats.org/drawingml/2006/main" noGrp="1"/>
          </p:cNvSpPr>
          <p:nvPr/>
        </p:nvSpPr>
        <p:spPr>
          <a:xfrm xmlns:a="http://schemas.openxmlformats.org/drawingml/2006/main">
            <a:off x="647700" y="18859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NUL defaults in SQLite</a:t>
            </a:r>
          </a:p>
        </p:txBody>
      </p:sp>
      <p:sp>
        <p:nvSpPr>
          <p:cNvPr id="7" name="">
            <a:extLst xmlns:a="http://schemas.openxmlformats.org/drawingml/2006/main">
              <a:ext uri="{FF2B5EF4-FFF2-40B4-BE49-F238E27FC236}">
                <a16:creationId xmlns:a16="http://schemas.microsoft.com/office/drawing/2014/main" id="{A1EFCAE4-2378-44C3-814C-143A02ACBE11}"/>
              </a:ext>
            </a:extLst>
          </p:cNvPr>
          <p:cNvSpPr>
            <a:spLocks xmlns:a="http://schemas.openxmlformats.org/drawingml/2006/main" noGrp="1"/>
          </p:cNvSpPr>
          <p:nvPr/>
        </p:nvSpPr>
        <p:spPr>
          <a:xfrm xmlns:a="http://schemas.openxmlformats.org/drawingml/2006/main">
            <a:off x="647700" y="24098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The task’s all-strings requirement includes NUL defaults. All 30 attempts failed that test. Three failed no other checks.</a:t>
            </a:r>
          </a:p>
        </p:txBody>
      </p:sp>
      <p:sp>
        <p:nvSpPr>
          <p:cNvPr id="8" name="">
            <a:extLst xmlns:a="http://schemas.openxmlformats.org/drawingml/2006/main">
              <a:ext uri="{FF2B5EF4-FFF2-40B4-BE49-F238E27FC236}">
                <a16:creationId xmlns:a16="http://schemas.microsoft.com/office/drawing/2014/main" id="{9CB625FB-16AF-4366-AFFA-EDD9266ACC8E}"/>
              </a:ext>
            </a:extLst>
          </p:cNvPr>
          <p:cNvSpPr>
            <a:spLocks xmlns:a="http://schemas.openxmlformats.org/drawingml/2006/main" noGrp="1"/>
          </p:cNvSpPr>
          <p:nvPr/>
        </p:nvSpPr>
        <p:spPr>
          <a:xfrm xmlns:a="http://schemas.openxmlformats.org/drawingml/2006/main">
            <a:off x="6448425" y="18859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Corrections to hidden tests</a:t>
            </a:r>
          </a:p>
        </p:txBody>
      </p:sp>
      <p:sp>
        <p:nvSpPr>
          <p:cNvPr id="9" name="">
            <a:extLst xmlns:a="http://schemas.openxmlformats.org/drawingml/2006/main">
              <a:ext uri="{FF2B5EF4-FFF2-40B4-BE49-F238E27FC236}">
                <a16:creationId xmlns:a16="http://schemas.microsoft.com/office/drawing/2014/main" id="{ADCA9266-1771-465B-9774-C4FDA56AA45F}"/>
              </a:ext>
            </a:extLst>
          </p:cNvPr>
          <p:cNvSpPr>
            <a:spLocks xmlns:a="http://schemas.openxmlformats.org/drawingml/2006/main" noGrp="1"/>
          </p:cNvSpPr>
          <p:nvPr/>
        </p:nvSpPr>
        <p:spPr>
          <a:xfrm xmlns:a="http://schemas.openxmlformats.org/drawingml/2006/main">
            <a:off x="6448425" y="240982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Reviewers corrected hidden internal imports, an unstated Debug bound and an empty-rename rejection. We record revised tasks and saved-submission regrades separately.</a:t>
            </a:r>
          </a:p>
        </p:txBody>
      </p:sp>
      <p:sp>
        <p:nvSpPr>
          <p:cNvPr id="10" name="">
            <a:extLst xmlns:a="http://schemas.openxmlformats.org/drawingml/2006/main">
              <a:ext uri="{FF2B5EF4-FFF2-40B4-BE49-F238E27FC236}">
                <a16:creationId xmlns:a16="http://schemas.microsoft.com/office/drawing/2014/main" id="{BD315C32-AEED-4AE1-A723-42E0FAC20FD9}"/>
              </a:ext>
            </a:extLst>
          </p:cNvPr>
          <p:cNvSpPr>
            <a:spLocks xmlns:a="http://schemas.openxmlformats.org/drawingml/2006/main" noGrp="1"/>
          </p:cNvSpPr>
          <p:nvPr/>
        </p:nvSpPr>
        <p:spPr>
          <a:xfrm xmlns:a="http://schemas.openxmlformats.org/drawingml/2006/main">
            <a:off x="647700" y="523875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B78"/>
                </a:solidFill>
                <a:latin typeface="Helvetica Neue"/>
                <a:ea typeface="Helvetica Neue"/>
                <a:cs typeface="Helvetica Neue"/>
              </a:defRPr>
            </a:pPr>
            <a:r>
              <a:rPr sz="2100" b="1">
                <a:solidFill>
                  <a:srgbClr val="007B78"/>
                </a:solidFill>
                <a:latin typeface="Helvetica Neue"/>
                <a:ea typeface="Helvetica Neue"/>
                <a:cs typeface="Helvetica Neue"/>
              </a:rPr>
              <a:t>Keep separate counts for implementation defects, source restrictions, test/spec mismatches and infrastructure failures.</a:t>
            </a:r>
          </a:p>
        </p:txBody>
      </p:sp>
    </p:spTree>
    <p:extLst>
      <p:ext uri="{BB962C8B-B14F-4D97-AF65-F5344CB8AC3E}">
        <p14:creationId xmlns:p14="http://schemas.microsoft.com/office/powerpoint/2010/main" val="136266289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27E4BE-4827-42F9-AB66-2E0C179A0526}"/>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Self-verification failures in SWE-Marathon</a:t>
            </a:r>
          </a:p>
        </p:txBody>
      </p:sp>
      <p:sp>
        <p:nvSpPr>
          <p:cNvPr id="2" name="">
            <a:extLst xmlns:a="http://schemas.openxmlformats.org/drawingml/2006/main">
              <a:ext uri="{FF2B5EF4-FFF2-40B4-BE49-F238E27FC236}">
                <a16:creationId xmlns:a16="http://schemas.microsoft.com/office/drawing/2014/main" id="{659B3394-4887-42CE-8BB3-A80CE963DACC}"/>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4E9A859-AEB5-4C29-8857-2CC5B3D1AC8B}"/>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4" name="">
            <a:extLst xmlns:a="http://schemas.openxmlformats.org/drawingml/2006/main">
              <a:ext uri="{FF2B5EF4-FFF2-40B4-BE49-F238E27FC236}">
                <a16:creationId xmlns:a16="http://schemas.microsoft.com/office/drawing/2014/main" id="{43CADCEA-32A5-4AF3-9FBB-1C578F08D03C}"/>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983B09F9-762A-4FE5-88A7-45D7E3DD16F0}"/>
              </a:ext>
            </a:extLst>
          </p:cNvPr>
          <p:cNvSpPr>
            <a:spLocks xmlns:a="http://schemas.openxmlformats.org/drawingml/2006/main" noGrp="1"/>
          </p:cNvSpPr>
          <p:nvPr/>
        </p:nvSpPr>
        <p:spPr>
          <a:xfrm xmlns:a="http://schemas.openxmlformats.org/drawingml/2006/main">
            <a:off x="647700" y="1962150"/>
            <a:ext cx="304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007B78"/>
                </a:solidFill>
                <a:latin typeface="Helvetica Neue"/>
                <a:ea typeface="Helvetica Neue"/>
                <a:cs typeface="Helvetica Neue"/>
              </a:defRPr>
            </a:pPr>
            <a:r>
              <a:rPr sz="5250" b="1">
                <a:solidFill>
                  <a:srgbClr val="007B78"/>
                </a:solidFill>
                <a:latin typeface="Helvetica Neue"/>
                <a:ea typeface="Helvetica Neue"/>
                <a:cs typeface="Helvetica Neue"/>
              </a:rPr>
              <a:t>20</a:t>
            </a:r>
          </a:p>
        </p:txBody>
      </p:sp>
      <p:sp>
        <p:nvSpPr>
          <p:cNvPr id="6" name="">
            <a:extLst xmlns:a="http://schemas.openxmlformats.org/drawingml/2006/main">
              <a:ext uri="{FF2B5EF4-FFF2-40B4-BE49-F238E27FC236}">
                <a16:creationId xmlns:a16="http://schemas.microsoft.com/office/drawing/2014/main" id="{03D2F1A1-C4CB-4552-BD38-734386766215}"/>
              </a:ext>
            </a:extLst>
          </p:cNvPr>
          <p:cNvSpPr>
            <a:spLocks xmlns:a="http://schemas.openxmlformats.org/drawingml/2006/main" noGrp="1"/>
          </p:cNvSpPr>
          <p:nvPr/>
        </p:nvSpPr>
        <p:spPr>
          <a:xfrm xmlns:a="http://schemas.openxmlformats.org/drawingml/2006/main">
            <a:off x="647700" y="3000375"/>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F3A"/>
                </a:solidFill>
                <a:latin typeface="Helvetica Neue"/>
                <a:ea typeface="Helvetica Neue"/>
                <a:cs typeface="Helvetica Neue"/>
              </a:defRPr>
            </a:pPr>
            <a:r>
              <a:rPr sz="2100" b="0">
                <a:solidFill>
                  <a:srgbClr val="142F3A"/>
                </a:solidFill>
                <a:latin typeface="Helvetica Neue"/>
                <a:ea typeface="Helvetica Neue"/>
                <a:cs typeface="Helvetica Neue"/>
              </a:rPr>
              <a:t>tasks in SWE-Marathon</a:t>
            </a:r>
          </a:p>
        </p:txBody>
      </p:sp>
      <p:sp>
        <p:nvSpPr>
          <p:cNvPr id="7" name="">
            <a:extLst xmlns:a="http://schemas.openxmlformats.org/drawingml/2006/main">
              <a:ext uri="{FF2B5EF4-FFF2-40B4-BE49-F238E27FC236}">
                <a16:creationId xmlns:a16="http://schemas.microsoft.com/office/drawing/2014/main" id="{1E0C47B0-273C-4DB2-8A80-A093A1FFC66C}"/>
              </a:ext>
            </a:extLst>
          </p:cNvPr>
          <p:cNvSpPr>
            <a:spLocks xmlns:a="http://schemas.openxmlformats.org/drawingml/2006/main" noGrp="1"/>
          </p:cNvSpPr>
          <p:nvPr/>
        </p:nvSpPr>
        <p:spPr>
          <a:xfrm xmlns:a="http://schemas.openxmlformats.org/drawingml/2006/main">
            <a:off x="6448425" y="1962150"/>
            <a:ext cx="381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007B78"/>
                </a:solidFill>
                <a:latin typeface="Helvetica Neue"/>
                <a:ea typeface="Helvetica Neue"/>
                <a:cs typeface="Helvetica Neue"/>
              </a:defRPr>
            </a:pPr>
            <a:r>
              <a:rPr sz="5250" b="1">
                <a:solidFill>
                  <a:srgbClr val="007B78"/>
                </a:solidFill>
                <a:latin typeface="Helvetica Neue"/>
                <a:ea typeface="Helvetica Neue"/>
                <a:cs typeface="Helvetica Neue"/>
              </a:rPr>
              <a:t>&lt;30%</a:t>
            </a:r>
          </a:p>
        </p:txBody>
      </p:sp>
      <p:sp>
        <p:nvSpPr>
          <p:cNvPr id="8" name="">
            <a:extLst xmlns:a="http://schemas.openxmlformats.org/drawingml/2006/main">
              <a:ext uri="{FF2B5EF4-FFF2-40B4-BE49-F238E27FC236}">
                <a16:creationId xmlns:a16="http://schemas.microsoft.com/office/drawing/2014/main" id="{1E3F9F7F-5A6C-472B-B70B-988EB4A7F82B}"/>
              </a:ext>
            </a:extLst>
          </p:cNvPr>
          <p:cNvSpPr>
            <a:spLocks xmlns:a="http://schemas.openxmlformats.org/drawingml/2006/main" noGrp="1"/>
          </p:cNvSpPr>
          <p:nvPr/>
        </p:nvSpPr>
        <p:spPr>
          <a:xfrm xmlns:a="http://schemas.openxmlformats.org/drawingml/2006/main">
            <a:off x="6448425" y="3000375"/>
            <a:ext cx="5095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F3A"/>
                </a:solidFill>
                <a:latin typeface="Helvetica Neue"/>
                <a:ea typeface="Helvetica Neue"/>
                <a:cs typeface="Helvetica Neue"/>
              </a:defRPr>
            </a:pPr>
            <a:r>
              <a:rPr sz="2100" b="0">
                <a:solidFill>
                  <a:srgbClr val="142F3A"/>
                </a:solidFill>
                <a:latin typeface="Helvetica Neue"/>
                <a:ea typeface="Helvetica Neue"/>
                <a:cs typeface="Helvetica Neue"/>
              </a:rPr>
              <a:t>solved by agents evaluated in the paper</a:t>
            </a:r>
          </a:p>
        </p:txBody>
      </p:sp>
      <p:sp>
        <p:nvSpPr>
          <p:cNvPr id="9" name="">
            <a:extLst xmlns:a="http://schemas.openxmlformats.org/drawingml/2006/main">
              <a:ext uri="{FF2B5EF4-FFF2-40B4-BE49-F238E27FC236}">
                <a16:creationId xmlns:a16="http://schemas.microsoft.com/office/drawing/2014/main" id="{677E7C84-782A-4E92-A9C0-20C7917553DA}"/>
              </a:ext>
            </a:extLst>
          </p:cNvPr>
          <p:cNvSpPr>
            <a:spLocks xmlns:a="http://schemas.openxmlformats.org/drawingml/2006/main" noGrp="1"/>
          </p:cNvSpPr>
          <p:nvPr/>
        </p:nvSpPr>
        <p:spPr>
          <a:xfrm xmlns:a="http://schemas.openxmlformats.org/drawingml/2006/main">
            <a:off x="647700" y="41719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2F3A"/>
                </a:solidFill>
                <a:latin typeface="Helvetica Neue"/>
                <a:ea typeface="Helvetica Neue"/>
                <a:cs typeface="Helvetica Neue"/>
              </a:defRPr>
            </a:pPr>
            <a:r>
              <a:rPr sz="2325" b="1">
                <a:solidFill>
                  <a:srgbClr val="142F3A"/>
                </a:solidFill>
                <a:latin typeface="Helvetica Neue"/>
                <a:ea typeface="Helvetica Neue"/>
                <a:cs typeface="Helvetica Neue"/>
              </a:rPr>
              <a:t>“poor self-verification, self-reported infeasibility, and premature termination”</a:t>
            </a:r>
          </a:p>
        </p:txBody>
      </p:sp>
      <p:sp>
        <p:nvSpPr>
          <p:cNvPr id="10" name="">
            <a:extLst xmlns:a="http://schemas.openxmlformats.org/drawingml/2006/main">
              <a:ext uri="{FF2B5EF4-FFF2-40B4-BE49-F238E27FC236}">
                <a16:creationId xmlns:a16="http://schemas.microsoft.com/office/drawing/2014/main" id="{DFE02CC6-CA4F-4B9F-A97E-8703C77DF022}"/>
              </a:ext>
            </a:extLst>
          </p:cNvPr>
          <p:cNvSpPr>
            <a:spLocks xmlns:a="http://schemas.openxmlformats.org/drawingml/2006/main" noGrp="1"/>
          </p:cNvSpPr>
          <p:nvPr/>
        </p:nvSpPr>
        <p:spPr>
          <a:xfrm xmlns:a="http://schemas.openxmlformats.org/drawingml/2006/main">
            <a:off x="647700" y="52863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C75"/>
                </a:solidFill>
                <a:latin typeface="Helvetica Neue"/>
                <a:ea typeface="Helvetica Neue"/>
                <a:cs typeface="Helvetica Neue"/>
              </a:defRPr>
            </a:pPr>
            <a:r>
              <a:rPr sz="2100" b="0">
                <a:solidFill>
                  <a:srgbClr val="536C75"/>
                </a:solidFill>
                <a:latin typeface="Helvetica Neue"/>
                <a:ea typeface="Helvetica Neue"/>
                <a:cs typeface="Helvetica Neue"/>
              </a:rPr>
              <a:t>We compare submissions with the feature requirements and the results of local checks.</a:t>
            </a:r>
          </a:p>
        </p:txBody>
      </p:sp>
    </p:spTree>
    <p:extLst>
      <p:ext uri="{BB962C8B-B14F-4D97-AF65-F5344CB8AC3E}">
        <p14:creationId xmlns:p14="http://schemas.microsoft.com/office/powerpoint/2010/main" val="207028436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90ABFE1-716C-420E-8055-035B288D6D32}"/>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Pilot findings and measurement limits</a:t>
            </a:r>
          </a:p>
        </p:txBody>
      </p:sp>
      <p:sp>
        <p:nvSpPr>
          <p:cNvPr id="2" name="">
            <a:extLst xmlns:a="http://schemas.openxmlformats.org/drawingml/2006/main">
              <a:ext uri="{FF2B5EF4-FFF2-40B4-BE49-F238E27FC236}">
                <a16:creationId xmlns:a16="http://schemas.microsoft.com/office/drawing/2014/main" id="{5031543C-F519-4151-9BCF-7BE5648D3968}"/>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7B31EB5-C09C-4D5E-AFD8-FB17F593A260}"/>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4" name="">
            <a:extLst xmlns:a="http://schemas.openxmlformats.org/drawingml/2006/main">
              <a:ext uri="{FF2B5EF4-FFF2-40B4-BE49-F238E27FC236}">
                <a16:creationId xmlns:a16="http://schemas.microsoft.com/office/drawing/2014/main" id="{B7E3EA73-649A-49AE-8684-B74837D1ABF8}"/>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0038DB67-6A86-4845-B59A-736CBE2D5F39}"/>
              </a:ext>
            </a:extLst>
          </p:cNvPr>
          <p:cNvSpPr>
            <a:spLocks xmlns:a="http://schemas.openxmlformats.org/drawingml/2006/main" noGrp="1"/>
          </p:cNvSpPr>
          <p:nvPr/>
        </p:nvSpPr>
        <p:spPr>
          <a:xfrm xmlns:a="http://schemas.openxmlformats.org/drawingml/2006/main">
            <a:off x="647700" y="18669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Observed task completions</a:t>
            </a:r>
          </a:p>
        </p:txBody>
      </p:sp>
      <p:sp>
        <p:nvSpPr>
          <p:cNvPr id="6" name="">
            <a:extLst xmlns:a="http://schemas.openxmlformats.org/drawingml/2006/main">
              <a:ext uri="{FF2B5EF4-FFF2-40B4-BE49-F238E27FC236}">
                <a16:creationId xmlns:a16="http://schemas.microsoft.com/office/drawing/2014/main" id="{9F1B757E-B267-411A-A5A5-2250888B829B}"/>
              </a:ext>
            </a:extLst>
          </p:cNvPr>
          <p:cNvSpPr>
            <a:spLocks xmlns:a="http://schemas.openxmlformats.org/drawingml/2006/main" noGrp="1"/>
          </p:cNvSpPr>
          <p:nvPr/>
        </p:nvSpPr>
        <p:spPr>
          <a:xfrm xmlns:a="http://schemas.openxmlformats.org/drawingml/2006/main">
            <a:off x="647700" y="239077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Agents passed 76 of 99 first counted results. In 64 successful attempts, they used more than 75 turns. Reviewers traced several failures to stated requirements.</a:t>
            </a:r>
          </a:p>
        </p:txBody>
      </p:sp>
      <p:sp>
        <p:nvSpPr>
          <p:cNvPr id="7" name="">
            <a:extLst xmlns:a="http://schemas.openxmlformats.org/drawingml/2006/main">
              <a:ext uri="{FF2B5EF4-FFF2-40B4-BE49-F238E27FC236}">
                <a16:creationId xmlns:a16="http://schemas.microsoft.com/office/drawing/2014/main" id="{B7351FEB-CBDC-43BE-8D73-43B1283562D2}"/>
              </a:ext>
            </a:extLst>
          </p:cNvPr>
          <p:cNvSpPr>
            <a:spLocks xmlns:a="http://schemas.openxmlformats.org/drawingml/2006/main" noGrp="1"/>
          </p:cNvSpPr>
          <p:nvPr/>
        </p:nvSpPr>
        <p:spPr>
          <a:xfrm xmlns:a="http://schemas.openxmlformats.org/drawingml/2006/main">
            <a:off x="6448425" y="18669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Measurements for another study</a:t>
            </a:r>
          </a:p>
        </p:txBody>
      </p:sp>
      <p:sp>
        <p:nvSpPr>
          <p:cNvPr id="8" name="">
            <a:extLst xmlns:a="http://schemas.openxmlformats.org/drawingml/2006/main">
              <a:ext uri="{FF2B5EF4-FFF2-40B4-BE49-F238E27FC236}">
                <a16:creationId xmlns:a16="http://schemas.microsoft.com/office/drawing/2014/main" id="{AD6062E0-C2AC-48FD-8A16-676C3962E48B}"/>
              </a:ext>
            </a:extLst>
          </p:cNvPr>
          <p:cNvSpPr>
            <a:spLocks xmlns:a="http://schemas.openxmlformats.org/drawingml/2006/main" noGrp="1"/>
          </p:cNvSpPr>
          <p:nvPr/>
        </p:nvSpPr>
        <p:spPr>
          <a:xfrm xmlns:a="http://schemas.openxmlformats.org/drawingml/2006/main">
            <a:off x="6448425" y="239077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We need repeated trials to estimate pass rates. We cannot rank models or attribute changes to effort. We have not measured human time or training gains.</a:t>
            </a:r>
          </a:p>
        </p:txBody>
      </p:sp>
      <p:sp>
        <p:nvSpPr>
          <p:cNvPr id="9" name="">
            <a:extLst xmlns:a="http://schemas.openxmlformats.org/drawingml/2006/main">
              <a:ext uri="{FF2B5EF4-FFF2-40B4-BE49-F238E27FC236}">
                <a16:creationId xmlns:a16="http://schemas.microsoft.com/office/drawing/2014/main" id="{05A0206D-B1F8-4622-9C11-618A79533AE8}"/>
              </a:ext>
            </a:extLst>
          </p:cNvPr>
          <p:cNvSpPr>
            <a:spLocks xmlns:a="http://schemas.openxmlformats.org/drawingml/2006/main" noGrp="1"/>
          </p:cNvSpPr>
          <p:nvPr/>
        </p:nvSpPr>
        <p:spPr>
          <a:xfrm xmlns:a="http://schemas.openxmlformats.org/drawingml/2006/main">
            <a:off x="647700" y="41624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D6520"/>
                </a:solidFill>
                <a:latin typeface="Helvetica Neue"/>
                <a:ea typeface="Helvetica Neue"/>
                <a:cs typeface="Helvetica Neue"/>
              </a:defRPr>
            </a:pPr>
            <a:r>
              <a:rPr sz="1875" b="1">
                <a:solidFill>
                  <a:srgbClr val="AD6520"/>
                </a:solidFill>
                <a:latin typeface="Helvetica Neue"/>
                <a:ea typeface="Helvetica Neue"/>
                <a:cs typeface="Helvetica Neue"/>
              </a:rPr>
              <a:t>Service interruptions affect the Fable/max outcomes in Luigi and Diskcache.</a:t>
            </a:r>
          </a:p>
        </p:txBody>
      </p:sp>
      <p:sp>
        <p:nvSpPr>
          <p:cNvPr id="10" name="">
            <a:extLst xmlns:a="http://schemas.openxmlformats.org/drawingml/2006/main">
              <a:ext uri="{FF2B5EF4-FFF2-40B4-BE49-F238E27FC236}">
                <a16:creationId xmlns:a16="http://schemas.microsoft.com/office/drawing/2014/main" id="{DBB8E6E4-B490-43BE-BC89-E6D21584C02B}"/>
              </a:ext>
            </a:extLst>
          </p:cNvPr>
          <p:cNvSpPr>
            <a:spLocks xmlns:a="http://schemas.openxmlformats.org/drawingml/2006/main" noGrp="1"/>
          </p:cNvSpPr>
          <p:nvPr/>
        </p:nvSpPr>
        <p:spPr>
          <a:xfrm xmlns:a="http://schemas.openxmlformats.org/drawingml/2006/main">
            <a:off x="647700" y="48482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C75"/>
                </a:solidFill>
                <a:latin typeface="Helvetica Neue"/>
                <a:ea typeface="Helvetica Neue"/>
                <a:cs typeface="Helvetica Neue"/>
              </a:defRPr>
            </a:pPr>
            <a:r>
              <a:rPr sz="1875" b="0">
                <a:solidFill>
                  <a:srgbClr val="536C75"/>
                </a:solidFill>
                <a:latin typeface="Helvetica Neue"/>
                <a:ea typeface="Helvetica Neue"/>
                <a:cs typeface="Helvetica Neue"/>
              </a:rPr>
              <a:t>SWE-Bench Pro: “patches across multiple files and substantial code modifications.”</a:t>
            </a:r>
          </a:p>
        </p:txBody>
      </p:sp>
      <p:sp>
        <p:nvSpPr>
          <p:cNvPr id="11" name="">
            <a:extLst xmlns:a="http://schemas.openxmlformats.org/drawingml/2006/main">
              <a:ext uri="{FF2B5EF4-FFF2-40B4-BE49-F238E27FC236}">
                <a16:creationId xmlns:a16="http://schemas.microsoft.com/office/drawing/2014/main" id="{6F3036E3-B742-49F8-840C-C4A5E6300364}"/>
              </a:ext>
            </a:extLst>
          </p:cNvPr>
          <p:cNvSpPr>
            <a:spLocks xmlns:a="http://schemas.openxmlformats.org/drawingml/2006/main" noGrp="1"/>
          </p:cNvSpPr>
          <p:nvPr/>
        </p:nvSpPr>
        <p:spPr>
          <a:xfrm xmlns:a="http://schemas.openxmlformats.org/drawingml/2006/main">
            <a:off x="647700" y="54864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C75"/>
                </a:solidFill>
                <a:latin typeface="Helvetica Neue"/>
                <a:ea typeface="Helvetica Neue"/>
                <a:cs typeface="Helvetica Neue"/>
              </a:defRPr>
            </a:pPr>
            <a:r>
              <a:rPr sz="1875" b="0">
                <a:solidFill>
                  <a:srgbClr val="536C75"/>
                </a:solidFill>
                <a:latin typeface="Helvetica Neue"/>
                <a:ea typeface="Helvetica Neue"/>
                <a:cs typeface="Helvetica Neue"/>
              </a:rPr>
              <a:t>METR uses measured human completion time. We count assistant turns without a human baseline.</a:t>
            </a:r>
          </a:p>
        </p:txBody>
      </p:sp>
    </p:spTree>
    <p:extLst>
      <p:ext uri="{BB962C8B-B14F-4D97-AF65-F5344CB8AC3E}">
        <p14:creationId xmlns:p14="http://schemas.microsoft.com/office/powerpoint/2010/main" val="206681957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6E691F6-005E-4CEB-9194-3A6BBAF83522}"/>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Scaling to 1,000 accepted tasks</a:t>
            </a:r>
          </a:p>
        </p:txBody>
      </p:sp>
      <p:sp>
        <p:nvSpPr>
          <p:cNvPr id="2" name="">
            <a:extLst xmlns:a="http://schemas.openxmlformats.org/drawingml/2006/main">
              <a:ext uri="{FF2B5EF4-FFF2-40B4-BE49-F238E27FC236}">
                <a16:creationId xmlns:a16="http://schemas.microsoft.com/office/drawing/2014/main" id="{8ADBDCF0-B5AE-4C79-807D-57F94DF31728}"/>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93A734C-9847-40E3-8C06-647FF456CF5D}"/>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4" name="">
            <a:extLst xmlns:a="http://schemas.openxmlformats.org/drawingml/2006/main">
              <a:ext uri="{FF2B5EF4-FFF2-40B4-BE49-F238E27FC236}">
                <a16:creationId xmlns:a16="http://schemas.microsoft.com/office/drawing/2014/main" id="{DADBDEC8-774D-4B19-BDDD-0ACA15E71836}"/>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4784B9D8-13D0-4E31-96AD-9C43B697B1A4}"/>
              </a:ext>
            </a:extLst>
          </p:cNvPr>
          <p:cNvSpPr>
            <a:spLocks xmlns:a="http://schemas.openxmlformats.org/drawingml/2006/main" noGrp="1"/>
          </p:cNvSpPr>
          <p:nvPr/>
        </p:nvSpPr>
        <p:spPr>
          <a:xfrm xmlns:a="http://schemas.openxmlformats.org/drawingml/2006/main">
            <a:off x="647700" y="2009775"/>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B78"/>
                </a:solidFill>
                <a:latin typeface="Helvetica Neue"/>
                <a:ea typeface="Helvetica Neue"/>
                <a:cs typeface="Helvetica Neue"/>
              </a:defRPr>
            </a:pPr>
            <a:r>
              <a:rPr sz="3150" b="1">
                <a:solidFill>
                  <a:srgbClr val="007B78"/>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4346C08C-965D-43DD-944A-0E681BD2D8C7}"/>
              </a:ext>
            </a:extLst>
          </p:cNvPr>
          <p:cNvSpPr>
            <a:spLocks xmlns:a="http://schemas.openxmlformats.org/drawingml/2006/main" noGrp="1"/>
          </p:cNvSpPr>
          <p:nvPr/>
        </p:nvSpPr>
        <p:spPr>
          <a:xfrm xmlns:a="http://schemas.openxmlformats.org/drawingml/2006/main">
            <a:off x="647700" y="270510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A"/>
                </a:solidFill>
                <a:latin typeface="Helvetica Neue"/>
                <a:ea typeface="Helvetica Neue"/>
                <a:cs typeface="Helvetica Neue"/>
              </a:defRPr>
            </a:pPr>
            <a:r>
              <a:rPr sz="2100" b="1">
                <a:solidFill>
                  <a:srgbClr val="142F3A"/>
                </a:solidFill>
                <a:latin typeface="Helvetica Neue"/>
                <a:ea typeface="Helvetica Neue"/>
                <a:cs typeface="Helvetica Neue"/>
              </a:rPr>
              <a:t>Mine issues and PR stacks</a:t>
            </a:r>
          </a:p>
        </p:txBody>
      </p:sp>
      <p:sp>
        <p:nvSpPr>
          <p:cNvPr id="7" name="">
            <a:extLst xmlns:a="http://schemas.openxmlformats.org/drawingml/2006/main">
              <a:ext uri="{FF2B5EF4-FFF2-40B4-BE49-F238E27FC236}">
                <a16:creationId xmlns:a16="http://schemas.microsoft.com/office/drawing/2014/main" id="{DC3382A9-9697-46AE-85A1-385E4D473911}"/>
              </a:ext>
            </a:extLst>
          </p:cNvPr>
          <p:cNvSpPr>
            <a:spLocks xmlns:a="http://schemas.openxmlformats.org/drawingml/2006/main" noGrp="1"/>
          </p:cNvSpPr>
          <p:nvPr/>
        </p:nvSpPr>
        <p:spPr>
          <a:xfrm xmlns:a="http://schemas.openxmlformats.org/drawingml/2006/main">
            <a:off x="3467100" y="2009775"/>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B78"/>
                </a:solidFill>
                <a:latin typeface="Helvetica Neue"/>
                <a:ea typeface="Helvetica Neue"/>
                <a:cs typeface="Helvetica Neue"/>
              </a:defRPr>
            </a:pPr>
            <a:r>
              <a:rPr sz="3150" b="1">
                <a:solidFill>
                  <a:srgbClr val="007B78"/>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CB5AC087-8538-44E5-80A2-6554930F059F}"/>
              </a:ext>
            </a:extLst>
          </p:cNvPr>
          <p:cNvSpPr>
            <a:spLocks xmlns:a="http://schemas.openxmlformats.org/drawingml/2006/main" noGrp="1"/>
          </p:cNvSpPr>
          <p:nvPr/>
        </p:nvSpPr>
        <p:spPr>
          <a:xfrm xmlns:a="http://schemas.openxmlformats.org/drawingml/2006/main">
            <a:off x="3467100" y="270510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A"/>
                </a:solidFill>
                <a:latin typeface="Helvetica Neue"/>
                <a:ea typeface="Helvetica Neue"/>
                <a:cs typeface="Helvetica Neue"/>
              </a:defRPr>
            </a:pPr>
            <a:r>
              <a:rPr sz="2100" b="1">
                <a:solidFill>
                  <a:srgbClr val="142F3A"/>
                </a:solidFill>
                <a:latin typeface="Helvetica Neue"/>
                <a:ea typeface="Helvetica Neue"/>
                <a:cs typeface="Helvetica Neue"/>
              </a:rPr>
              <a:t>Compose dependent changes</a:t>
            </a:r>
          </a:p>
        </p:txBody>
      </p:sp>
      <p:sp>
        <p:nvSpPr>
          <p:cNvPr id="9" name="">
            <a:extLst xmlns:a="http://schemas.openxmlformats.org/drawingml/2006/main">
              <a:ext uri="{FF2B5EF4-FFF2-40B4-BE49-F238E27FC236}">
                <a16:creationId xmlns:a16="http://schemas.microsoft.com/office/drawing/2014/main" id="{A0384F13-60D0-4862-94AA-BA62028B090F}"/>
              </a:ext>
            </a:extLst>
          </p:cNvPr>
          <p:cNvSpPr>
            <a:spLocks xmlns:a="http://schemas.openxmlformats.org/drawingml/2006/main" noGrp="1"/>
          </p:cNvSpPr>
          <p:nvPr/>
        </p:nvSpPr>
        <p:spPr>
          <a:xfrm xmlns:a="http://schemas.openxmlformats.org/drawingml/2006/main">
            <a:off x="6286500" y="2009775"/>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B78"/>
                </a:solidFill>
                <a:latin typeface="Helvetica Neue"/>
                <a:ea typeface="Helvetica Neue"/>
                <a:cs typeface="Helvetica Neue"/>
              </a:defRPr>
            </a:pPr>
            <a:r>
              <a:rPr sz="3150" b="1">
                <a:solidFill>
                  <a:srgbClr val="007B78"/>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2709F0DD-6408-4A2B-9C62-B0059BD98BF7}"/>
              </a:ext>
            </a:extLst>
          </p:cNvPr>
          <p:cNvSpPr>
            <a:spLocks xmlns:a="http://schemas.openxmlformats.org/drawingml/2006/main" noGrp="1"/>
          </p:cNvSpPr>
          <p:nvPr/>
        </p:nvSpPr>
        <p:spPr>
          <a:xfrm xmlns:a="http://schemas.openxmlformats.org/drawingml/2006/main">
            <a:off x="6286500" y="270510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A"/>
                </a:solidFill>
                <a:latin typeface="Helvetica Neue"/>
                <a:ea typeface="Helvetica Neue"/>
                <a:cs typeface="Helvetica Neue"/>
              </a:defRPr>
            </a:pPr>
            <a:r>
              <a:rPr sz="2100" b="1">
                <a:solidFill>
                  <a:srgbClr val="142F3A"/>
                </a:solidFill>
                <a:latin typeface="Helvetica Neue"/>
                <a:ea typeface="Helvetica Neue"/>
                <a:cs typeface="Helvetica Neue"/>
              </a:rPr>
              <a:t>Audit requirements and controls</a:t>
            </a:r>
          </a:p>
        </p:txBody>
      </p:sp>
      <p:sp>
        <p:nvSpPr>
          <p:cNvPr id="11" name="">
            <a:extLst xmlns:a="http://schemas.openxmlformats.org/drawingml/2006/main">
              <a:ext uri="{FF2B5EF4-FFF2-40B4-BE49-F238E27FC236}">
                <a16:creationId xmlns:a16="http://schemas.microsoft.com/office/drawing/2014/main" id="{41C9CEA4-CD33-4FC1-90D9-330EEB4206AD}"/>
              </a:ext>
            </a:extLst>
          </p:cNvPr>
          <p:cNvSpPr>
            <a:spLocks xmlns:a="http://schemas.openxmlformats.org/drawingml/2006/main" noGrp="1"/>
          </p:cNvSpPr>
          <p:nvPr/>
        </p:nvSpPr>
        <p:spPr>
          <a:xfrm xmlns:a="http://schemas.openxmlformats.org/drawingml/2006/main">
            <a:off x="9105900" y="2009775"/>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B78"/>
                </a:solidFill>
                <a:latin typeface="Helvetica Neue"/>
                <a:ea typeface="Helvetica Neue"/>
                <a:cs typeface="Helvetica Neue"/>
              </a:defRPr>
            </a:pPr>
            <a:r>
              <a:rPr sz="3150" b="1">
                <a:solidFill>
                  <a:srgbClr val="007B78"/>
                </a:solidFill>
                <a:latin typeface="Helvetica Neue"/>
                <a:ea typeface="Helvetica Neue"/>
                <a:cs typeface="Helvetica Neue"/>
              </a:rPr>
              <a:t>04</a:t>
            </a:r>
          </a:p>
        </p:txBody>
      </p:sp>
      <p:sp>
        <p:nvSpPr>
          <p:cNvPr id="12" name="">
            <a:extLst xmlns:a="http://schemas.openxmlformats.org/drawingml/2006/main">
              <a:ext uri="{FF2B5EF4-FFF2-40B4-BE49-F238E27FC236}">
                <a16:creationId xmlns:a16="http://schemas.microsoft.com/office/drawing/2014/main" id="{747C7CFB-6CD7-4027-98BE-E44E734D0707}"/>
              </a:ext>
            </a:extLst>
          </p:cNvPr>
          <p:cNvSpPr>
            <a:spLocks xmlns:a="http://schemas.openxmlformats.org/drawingml/2006/main" noGrp="1"/>
          </p:cNvSpPr>
          <p:nvPr/>
        </p:nvSpPr>
        <p:spPr>
          <a:xfrm xmlns:a="http://schemas.openxmlformats.org/drawingml/2006/main">
            <a:off x="9105900" y="270510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A"/>
                </a:solidFill>
                <a:latin typeface="Helvetica Neue"/>
                <a:ea typeface="Helvetica Neue"/>
                <a:cs typeface="Helvetica Neue"/>
              </a:defRPr>
            </a:pPr>
            <a:r>
              <a:rPr sz="2100" b="1">
                <a:solidFill>
                  <a:srgbClr val="142F3A"/>
                </a:solidFill>
                <a:latin typeface="Helvetica Neue"/>
                <a:ea typeface="Helvetica Neue"/>
                <a:cs typeface="Helvetica Neue"/>
              </a:rPr>
              <a:t>Hold out task families</a:t>
            </a:r>
          </a:p>
        </p:txBody>
      </p:sp>
      <p:sp>
        <p:nvSpPr>
          <p:cNvPr id="13" name="">
            <a:extLst xmlns:a="http://schemas.openxmlformats.org/drawingml/2006/main">
              <a:ext uri="{FF2B5EF4-FFF2-40B4-BE49-F238E27FC236}">
                <a16:creationId xmlns:a16="http://schemas.microsoft.com/office/drawing/2014/main" id="{662EBBAE-1FA8-43B6-86CE-F37201D8BA7C}"/>
              </a:ext>
            </a:extLst>
          </p:cNvPr>
          <p:cNvSpPr>
            <a:spLocks xmlns:a="http://schemas.openxmlformats.org/drawingml/2006/main" noGrp="1"/>
          </p:cNvSpPr>
          <p:nvPr/>
        </p:nvSpPr>
        <p:spPr>
          <a:xfrm xmlns:a="http://schemas.openxmlformats.org/drawingml/2006/main">
            <a:off x="647700" y="378142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C75"/>
                </a:solidFill>
                <a:latin typeface="Helvetica Neue"/>
                <a:ea typeface="Helvetica Neue"/>
                <a:cs typeface="Helvetica Neue"/>
              </a:defRPr>
            </a:pPr>
            <a:r>
              <a:rPr sz="1875" b="0">
                <a:solidFill>
                  <a:srgbClr val="536C75"/>
                </a:solidFill>
                <a:latin typeface="Helvetica Neue"/>
                <a:ea typeface="Helvetica Neue"/>
                <a:cs typeface="Helvetica Neue"/>
              </a:rPr>
              <a:t>Public sources: Rerun, Burn, Zenoh, Foxglove, Luigi and Zarr</a:t>
            </a:r>
          </a:p>
        </p:txBody>
      </p:sp>
      <p:sp>
        <p:nvSpPr>
          <p:cNvPr id="14" name="">
            <a:extLst xmlns:a="http://schemas.openxmlformats.org/drawingml/2006/main">
              <a:ext uri="{FF2B5EF4-FFF2-40B4-BE49-F238E27FC236}">
                <a16:creationId xmlns:a16="http://schemas.microsoft.com/office/drawing/2014/main" id="{54C16A75-8D71-44C3-9233-33DFCF65FC63}"/>
              </a:ext>
            </a:extLst>
          </p:cNvPr>
          <p:cNvSpPr>
            <a:spLocks xmlns:a="http://schemas.openxmlformats.org/drawingml/2006/main" noGrp="1"/>
          </p:cNvSpPr>
          <p:nvPr/>
        </p:nvSpPr>
        <p:spPr>
          <a:xfrm xmlns:a="http://schemas.openxmlformats.org/drawingml/2006/main">
            <a:off x="647700" y="42957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F3A"/>
                </a:solidFill>
                <a:latin typeface="Helvetica Neue"/>
                <a:ea typeface="Helvetica Neue"/>
                <a:cs typeface="Helvetica Neue"/>
              </a:defRPr>
            </a:pPr>
            <a:r>
              <a:rPr sz="2550" b="1">
                <a:solidFill>
                  <a:srgbClr val="142F3A"/>
                </a:solidFill>
                <a:latin typeface="Helvetica Neue"/>
                <a:ea typeface="Helvetica Neue"/>
                <a:cs typeface="Helvetica Neue"/>
              </a:rPr>
              <a:t>Pilot batches: 25, then 100, then 1,000 accepted tasks</a:t>
            </a:r>
          </a:p>
        </p:txBody>
      </p:sp>
      <p:sp>
        <p:nvSpPr>
          <p:cNvPr id="15" name="">
            <a:extLst xmlns:a="http://schemas.openxmlformats.org/drawingml/2006/main">
              <a:ext uri="{FF2B5EF4-FFF2-40B4-BE49-F238E27FC236}">
                <a16:creationId xmlns:a16="http://schemas.microsoft.com/office/drawing/2014/main" id="{6CAB8FED-7946-4818-A11C-14B98CD8DFD6}"/>
              </a:ext>
            </a:extLst>
          </p:cNvPr>
          <p:cNvSpPr>
            <a:spLocks xmlns:a="http://schemas.openxmlformats.org/drawingml/2006/main" noGrp="1"/>
          </p:cNvSpPr>
          <p:nvPr/>
        </p:nvSpPr>
        <p:spPr>
          <a:xfrm xmlns:a="http://schemas.openxmlformats.org/drawingml/2006/main">
            <a:off x="647700" y="5095875"/>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F3A"/>
                </a:solidFill>
                <a:latin typeface="Helvetica Neue"/>
                <a:ea typeface="Helvetica Neue"/>
                <a:cs typeface="Helvetica Neue"/>
              </a:defRPr>
            </a:pPr>
            <a:r>
              <a:rPr sz="2100" b="0">
                <a:solidFill>
                  <a:srgbClr val="142F3A"/>
                </a:solidFill>
                <a:latin typeface="Helvetica Neue"/>
                <a:ea typeface="Helvetica Neue"/>
                <a:cs typeface="Helvetica Neue"/>
              </a:rPr>
              <a:t>Track acceptance yield, authoring time, task validity, runtime cost and distinct failure mechanisms at each stage.</a:t>
            </a:r>
          </a:p>
        </p:txBody>
      </p:sp>
    </p:spTree>
    <p:extLst>
      <p:ext uri="{BB962C8B-B14F-4D97-AF65-F5344CB8AC3E}">
        <p14:creationId xmlns:p14="http://schemas.microsoft.com/office/powerpoint/2010/main" val="147892344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32474C0-332F-4B43-A815-CB818EC9B2E3}"/>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Task pack and next experiment</a:t>
            </a:r>
          </a:p>
        </p:txBody>
      </p:sp>
      <p:sp>
        <p:nvSpPr>
          <p:cNvPr id="2" name="">
            <a:extLst xmlns:a="http://schemas.openxmlformats.org/drawingml/2006/main">
              <a:ext uri="{FF2B5EF4-FFF2-40B4-BE49-F238E27FC236}">
                <a16:creationId xmlns:a16="http://schemas.microsoft.com/office/drawing/2014/main" id="{B0C41E2C-E0C6-418D-8B1A-750AE912BBEE}"/>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8E93C4E-BA07-4143-9186-F8AF1675897F}"/>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4" name="">
            <a:extLst xmlns:a="http://schemas.openxmlformats.org/drawingml/2006/main">
              <a:ext uri="{FF2B5EF4-FFF2-40B4-BE49-F238E27FC236}">
                <a16:creationId xmlns:a16="http://schemas.microsoft.com/office/drawing/2014/main" id="{A5FC6904-23D2-4B51-B8AC-3A5AFF12EB95}"/>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16BD1BF5-5D0C-4FB2-B53A-CB0FA322430B}"/>
              </a:ext>
            </a:extLst>
          </p:cNvPr>
          <p:cNvSpPr>
            <a:spLocks xmlns:a="http://schemas.openxmlformats.org/drawingml/2006/main" noGrp="1"/>
          </p:cNvSpPr>
          <p:nvPr/>
        </p:nvSpPr>
        <p:spPr>
          <a:xfrm xmlns:a="http://schemas.openxmlformats.org/drawingml/2006/main">
            <a:off x="647700" y="18859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Evidence for the report</a:t>
            </a:r>
          </a:p>
        </p:txBody>
      </p:sp>
      <p:sp>
        <p:nvSpPr>
          <p:cNvPr id="6" name="">
            <a:extLst xmlns:a="http://schemas.openxmlformats.org/drawingml/2006/main">
              <a:ext uri="{FF2B5EF4-FFF2-40B4-BE49-F238E27FC236}">
                <a16:creationId xmlns:a16="http://schemas.microsoft.com/office/drawing/2014/main" id="{0A489CAB-4334-4345-9400-529A86D9EBCD}"/>
              </a:ext>
            </a:extLst>
          </p:cNvPr>
          <p:cNvSpPr>
            <a:spLocks xmlns:a="http://schemas.openxmlformats.org/drawingml/2006/main" noGrp="1"/>
          </p:cNvSpPr>
          <p:nvPr/>
        </p:nvSpPr>
        <p:spPr>
          <a:xfrm xmlns:a="http://schemas.openxmlformats.org/drawingml/2006/main">
            <a:off x="647700" y="24098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We retain results for all 11 tasks, raw artifact hashes and turn counts. The three sample cases include failed attempts and successful contrasts.</a:t>
            </a:r>
          </a:p>
        </p:txBody>
      </p:sp>
      <p:sp>
        <p:nvSpPr>
          <p:cNvPr id="7" name="">
            <a:extLst xmlns:a="http://schemas.openxmlformats.org/drawingml/2006/main">
              <a:ext uri="{FF2B5EF4-FFF2-40B4-BE49-F238E27FC236}">
                <a16:creationId xmlns:a16="http://schemas.microsoft.com/office/drawing/2014/main" id="{DAA5002D-1ECF-4FF6-B9A5-68273CDCC20A}"/>
              </a:ext>
            </a:extLst>
          </p:cNvPr>
          <p:cNvSpPr>
            <a:spLocks xmlns:a="http://schemas.openxmlformats.org/drawingml/2006/main" noGrp="1"/>
          </p:cNvSpPr>
          <p:nvPr/>
        </p:nvSpPr>
        <p:spPr>
          <a:xfrm xmlns:a="http://schemas.openxmlformats.org/drawingml/2006/main">
            <a:off x="6448425" y="18859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Next experiment</a:t>
            </a:r>
          </a:p>
        </p:txBody>
      </p:sp>
      <p:sp>
        <p:nvSpPr>
          <p:cNvPr id="8" name="">
            <a:extLst xmlns:a="http://schemas.openxmlformats.org/drawingml/2006/main">
              <a:ext uri="{FF2B5EF4-FFF2-40B4-BE49-F238E27FC236}">
                <a16:creationId xmlns:a16="http://schemas.microsoft.com/office/drawing/2014/main" id="{EB949063-7399-49C5-BDF5-4208B6068773}"/>
              </a:ext>
            </a:extLst>
          </p:cNvPr>
          <p:cNvSpPr>
            <a:spLocks xmlns:a="http://schemas.openxmlformats.org/drawingml/2006/main" noGrp="1"/>
          </p:cNvSpPr>
          <p:nvPr/>
        </p:nvSpPr>
        <p:spPr>
          <a:xfrm xmlns:a="http://schemas.openxmlformats.org/drawingml/2006/main">
            <a:off x="6448425" y="240982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After provider access returns, repeat fixed task/model/effort settings. Estimate pass rates with uncertainty and review recurring failures against the requirements.</a:t>
            </a:r>
          </a:p>
        </p:txBody>
      </p:sp>
      <p:sp>
        <p:nvSpPr>
          <p:cNvPr id="9" name="">
            <a:extLst xmlns:a="http://schemas.openxmlformats.org/drawingml/2006/main">
              <a:ext uri="{FF2B5EF4-FFF2-40B4-BE49-F238E27FC236}">
                <a16:creationId xmlns:a16="http://schemas.microsoft.com/office/drawing/2014/main" id="{AD915E58-2FC2-497C-8A7D-F5690EC05B43}"/>
              </a:ext>
            </a:extLst>
          </p:cNvPr>
          <p:cNvSpPr>
            <a:spLocks xmlns:a="http://schemas.openxmlformats.org/drawingml/2006/main" noGrp="1"/>
          </p:cNvSpPr>
          <p:nvPr/>
        </p:nvSpPr>
        <p:spPr>
          <a:xfrm xmlns:a="http://schemas.openxmlformats.org/drawingml/2006/main">
            <a:off x="647700" y="52387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AD6520"/>
                </a:solidFill>
                <a:latin typeface="Helvetica Neue"/>
                <a:ea typeface="Helvetica Neue"/>
                <a:cs typeface="Helvetica Neue"/>
              </a:defRPr>
            </a:pPr>
            <a:r>
              <a:rPr sz="2100" b="1">
                <a:solidFill>
                  <a:srgbClr val="AD6520"/>
                </a:solidFill>
                <a:latin typeface="Helvetica Neue"/>
                <a:ea typeface="Helvetica Neue"/>
                <a:cs typeface="Helvetica Neue"/>
              </a:rPr>
              <a:t>We have 99 counted results. Provider usage limits interrupted the sweep.</a:t>
            </a:r>
          </a:p>
        </p:txBody>
      </p:sp>
    </p:spTree>
    <p:extLst>
      <p:ext uri="{BB962C8B-B14F-4D97-AF65-F5344CB8AC3E}">
        <p14:creationId xmlns:p14="http://schemas.microsoft.com/office/powerpoint/2010/main" val="1660142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2026-09-14T17:56:29.9210000Z</dcterms:created>
  <dcterms:modified xsi:type="dcterms:W3CDTF">2026-09-14T17:56:29.9210000Z</dcterms:modified>
</coreProperties>
</file>